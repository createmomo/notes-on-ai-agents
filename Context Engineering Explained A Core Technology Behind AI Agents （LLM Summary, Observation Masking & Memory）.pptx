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sldIdLst>
    <p:sldId id="304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9" r:id="rId15"/>
    <p:sldId id="317" r:id="rId16"/>
    <p:sldId id="32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821350-420E-41AA-9F3C-46D76400EA65}" v="103" dt="2026-04-13T08:16:40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4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anus.im/blog/Context-Engineering-for-AI-Agents-Lessons-from-Building-Manus" TargetMode="Externa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4EA4F-0BCC-0CC3-D879-5216B834A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15E1A83-1EB5-4858-1781-7F9F673F67EA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9FDBE78-E94B-9B95-EA37-0CDC19C80E85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6A4FCB-A811-C393-B525-428E552010A9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DC58EAED-DA2F-50DB-1EF6-53F69B7BB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46FFEDF4-42A1-E06D-8FFE-848E8BF80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7318190-F43E-3679-D63A-A54796B4B9C4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2A557E71-1CD4-E1F8-98EF-9CE9F203F679}"/>
              </a:ext>
            </a:extLst>
          </p:cNvPr>
          <p:cNvCxnSpPr/>
          <p:nvPr/>
        </p:nvCxnSpPr>
        <p:spPr>
          <a:xfrm>
            <a:off x="1882198" y="304555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B136424-0460-C0B8-AF3C-596B26156B6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1F99138A-A74C-D70D-79E4-8321D6A31DCC}"/>
              </a:ext>
            </a:extLst>
          </p:cNvPr>
          <p:cNvSpPr/>
          <p:nvPr/>
        </p:nvSpPr>
        <p:spPr>
          <a:xfrm>
            <a:off x="4879004" y="119031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4E57152A-FD62-2D01-7AE4-83BA4316D5A7}"/>
              </a:ext>
            </a:extLst>
          </p:cNvPr>
          <p:cNvSpPr/>
          <p:nvPr/>
        </p:nvSpPr>
        <p:spPr>
          <a:xfrm>
            <a:off x="4879004" y="456407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25A3DA3-AB66-3741-DB19-72D3D4EEC37B}"/>
              </a:ext>
            </a:extLst>
          </p:cNvPr>
          <p:cNvSpPr/>
          <p:nvPr/>
        </p:nvSpPr>
        <p:spPr>
          <a:xfrm>
            <a:off x="4648840" y="368837"/>
            <a:ext cx="1586328" cy="2658671"/>
          </a:xfrm>
          <a:prstGeom prst="roundRect">
            <a:avLst/>
          </a:prstGeom>
          <a:noFill/>
          <a:ln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28E389-2C30-8F82-EE0C-2423DA8A7CEC}"/>
              </a:ext>
            </a:extLst>
          </p:cNvPr>
          <p:cNvSpPr txBox="1"/>
          <p:nvPr/>
        </p:nvSpPr>
        <p:spPr>
          <a:xfrm>
            <a:off x="4495161" y="9972"/>
            <a:ext cx="1774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noProof="0" dirty="0"/>
              <a:t>Context Window</a:t>
            </a:r>
            <a:endParaRPr lang="de-AT" noProof="0" dirty="0">
              <a:latin typeface="Calibri"/>
            </a:endParaRP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E5355AA0-198C-E327-3E82-73BB649DA834}"/>
              </a:ext>
            </a:extLst>
          </p:cNvPr>
          <p:cNvSpPr/>
          <p:nvPr/>
        </p:nvSpPr>
        <p:spPr>
          <a:xfrm>
            <a:off x="4877535" y="253096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…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5808FC0E-C966-26F8-9725-7039746AEF91}"/>
              </a:ext>
            </a:extLst>
          </p:cNvPr>
          <p:cNvSpPr/>
          <p:nvPr/>
        </p:nvSpPr>
        <p:spPr>
          <a:xfrm>
            <a:off x="4884288" y="165682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6E548C32-2081-542F-7E1F-91CF1D07581D}"/>
              </a:ext>
            </a:extLst>
          </p:cNvPr>
          <p:cNvSpPr/>
          <p:nvPr/>
        </p:nvSpPr>
        <p:spPr>
          <a:xfrm>
            <a:off x="4884288" y="209389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A1FA84F-ABEB-C1B2-582D-9666D5C38773}"/>
              </a:ext>
            </a:extLst>
          </p:cNvPr>
          <p:cNvCxnSpPr>
            <a:cxnSpLocks/>
          </p:cNvCxnSpPr>
          <p:nvPr/>
        </p:nvCxnSpPr>
        <p:spPr>
          <a:xfrm flipH="1">
            <a:off x="3793522" y="3240208"/>
            <a:ext cx="3799264" cy="249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E662462-EDA9-001A-7FEE-D4CAD93AB0B9}"/>
              </a:ext>
            </a:extLst>
          </p:cNvPr>
          <p:cNvCxnSpPr>
            <a:cxnSpLocks/>
          </p:cNvCxnSpPr>
          <p:nvPr/>
        </p:nvCxnSpPr>
        <p:spPr>
          <a:xfrm flipH="1">
            <a:off x="1882198" y="3236268"/>
            <a:ext cx="457200" cy="39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7" name="Picture 2" descr="Earth ">
            <a:extLst>
              <a:ext uri="{FF2B5EF4-FFF2-40B4-BE49-F238E27FC236}">
                <a16:creationId xmlns:a16="http://schemas.microsoft.com/office/drawing/2014/main" id="{5B20B4E5-EA65-82CE-52B0-F658D66A8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860" y="4289953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235DC9D-B9C6-0CD2-1D55-A204E2200527}"/>
              </a:ext>
            </a:extLst>
          </p:cNvPr>
          <p:cNvCxnSpPr>
            <a:cxnSpLocks/>
          </p:cNvCxnSpPr>
          <p:nvPr/>
        </p:nvCxnSpPr>
        <p:spPr>
          <a:xfrm flipV="1">
            <a:off x="3192236" y="3444240"/>
            <a:ext cx="0" cy="7257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707F4C8-022F-9559-57E2-7AF553EE1F27}"/>
              </a:ext>
            </a:extLst>
          </p:cNvPr>
          <p:cNvCxnSpPr>
            <a:cxnSpLocks/>
          </p:cNvCxnSpPr>
          <p:nvPr/>
        </p:nvCxnSpPr>
        <p:spPr>
          <a:xfrm>
            <a:off x="2979964" y="3497844"/>
            <a:ext cx="0" cy="6721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021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E72B8-1820-D42E-1D10-F6B91F4A4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621E079-19E8-32C0-6EFF-0262C3266DD1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FF1A064-BAEE-8ADF-2C3B-5D175BC8B258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03CFEA-4EAA-0331-4531-A7AFD3EEF890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9C2ABAEE-C6AD-3CDF-25D3-041DCB47B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869F3EA5-0770-4427-56A2-0D7BFEB67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20DB29C-9110-4C76-E928-93FA2967AF40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FDFB3F70-2D86-993A-0C78-0C83C768E18C}"/>
              </a:ext>
            </a:extLst>
          </p:cNvPr>
          <p:cNvCxnSpPr/>
          <p:nvPr/>
        </p:nvCxnSpPr>
        <p:spPr>
          <a:xfrm>
            <a:off x="1882198" y="304555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3BD22AB-F70D-DF48-EF47-2358E7E2DD0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05E2804A-1574-36A8-1582-D71956B3E431}"/>
              </a:ext>
            </a:extLst>
          </p:cNvPr>
          <p:cNvSpPr/>
          <p:nvPr/>
        </p:nvSpPr>
        <p:spPr>
          <a:xfrm>
            <a:off x="4879004" y="119031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BB3C705E-C024-98B7-F305-4A78F719A137}"/>
              </a:ext>
            </a:extLst>
          </p:cNvPr>
          <p:cNvSpPr/>
          <p:nvPr/>
        </p:nvSpPr>
        <p:spPr>
          <a:xfrm>
            <a:off x="4879004" y="456407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50DD554-C951-CEFE-0A90-702C84DDAC2E}"/>
              </a:ext>
            </a:extLst>
          </p:cNvPr>
          <p:cNvSpPr/>
          <p:nvPr/>
        </p:nvSpPr>
        <p:spPr>
          <a:xfrm>
            <a:off x="4648840" y="368837"/>
            <a:ext cx="1586328" cy="2658671"/>
          </a:xfrm>
          <a:prstGeom prst="roundRect">
            <a:avLst/>
          </a:prstGeom>
          <a:noFill/>
          <a:ln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3DF228-E3F5-FF85-555A-BF7DA277F787}"/>
              </a:ext>
            </a:extLst>
          </p:cNvPr>
          <p:cNvSpPr txBox="1"/>
          <p:nvPr/>
        </p:nvSpPr>
        <p:spPr>
          <a:xfrm>
            <a:off x="4495161" y="9972"/>
            <a:ext cx="1774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noProof="0" dirty="0"/>
              <a:t>Context Window</a:t>
            </a:r>
            <a:endParaRPr lang="de-AT" noProof="0" dirty="0">
              <a:latin typeface="Calibri"/>
            </a:endParaRP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D4763D58-BBB0-A3F0-6F1D-21AA1150AC58}"/>
              </a:ext>
            </a:extLst>
          </p:cNvPr>
          <p:cNvSpPr/>
          <p:nvPr/>
        </p:nvSpPr>
        <p:spPr>
          <a:xfrm>
            <a:off x="4877535" y="253096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…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ECBAC008-6E74-885A-DB3A-F4576DA343AD}"/>
              </a:ext>
            </a:extLst>
          </p:cNvPr>
          <p:cNvSpPr/>
          <p:nvPr/>
        </p:nvSpPr>
        <p:spPr>
          <a:xfrm>
            <a:off x="4884288" y="165682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475CC3A7-1C20-C0E1-5205-F9E10717E635}"/>
              </a:ext>
            </a:extLst>
          </p:cNvPr>
          <p:cNvSpPr/>
          <p:nvPr/>
        </p:nvSpPr>
        <p:spPr>
          <a:xfrm>
            <a:off x="4884288" y="209389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5CE0EBC-1BDE-6F4B-064D-27B0A2833EC1}"/>
              </a:ext>
            </a:extLst>
          </p:cNvPr>
          <p:cNvCxnSpPr>
            <a:cxnSpLocks/>
          </p:cNvCxnSpPr>
          <p:nvPr/>
        </p:nvCxnSpPr>
        <p:spPr>
          <a:xfrm flipH="1">
            <a:off x="3793522" y="3240208"/>
            <a:ext cx="3799264" cy="249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3CFE013-BC93-DFC3-CA33-B8D4F539E526}"/>
              </a:ext>
            </a:extLst>
          </p:cNvPr>
          <p:cNvCxnSpPr>
            <a:cxnSpLocks/>
          </p:cNvCxnSpPr>
          <p:nvPr/>
        </p:nvCxnSpPr>
        <p:spPr>
          <a:xfrm flipH="1">
            <a:off x="1882198" y="3236268"/>
            <a:ext cx="457200" cy="39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7" name="Picture 2" descr="Earth ">
            <a:extLst>
              <a:ext uri="{FF2B5EF4-FFF2-40B4-BE49-F238E27FC236}">
                <a16:creationId xmlns:a16="http://schemas.microsoft.com/office/drawing/2014/main" id="{D83DF1A7-A6F9-CC76-AADD-5414ED674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860" y="4289953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94E7730-835C-E28C-9F0E-92439114E9EE}"/>
              </a:ext>
            </a:extLst>
          </p:cNvPr>
          <p:cNvCxnSpPr>
            <a:cxnSpLocks/>
          </p:cNvCxnSpPr>
          <p:nvPr/>
        </p:nvCxnSpPr>
        <p:spPr>
          <a:xfrm flipV="1">
            <a:off x="3192236" y="3444240"/>
            <a:ext cx="0" cy="7257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8A1DAA9-FB34-A779-E306-A3C73D2BA727}"/>
              </a:ext>
            </a:extLst>
          </p:cNvPr>
          <p:cNvCxnSpPr>
            <a:cxnSpLocks/>
          </p:cNvCxnSpPr>
          <p:nvPr/>
        </p:nvCxnSpPr>
        <p:spPr>
          <a:xfrm>
            <a:off x="2979964" y="3497844"/>
            <a:ext cx="0" cy="6721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B4F1D501-5AF9-547B-80B0-21B3EABDEFC7}"/>
              </a:ext>
            </a:extLst>
          </p:cNvPr>
          <p:cNvSpPr/>
          <p:nvPr/>
        </p:nvSpPr>
        <p:spPr>
          <a:xfrm>
            <a:off x="1718552" y="604157"/>
            <a:ext cx="2247007" cy="1616308"/>
          </a:xfrm>
          <a:prstGeom prst="wedgeRoundRectCallout">
            <a:avLst>
              <a:gd name="adj1" fmla="val 23810"/>
              <a:gd name="adj2" fmla="val 71828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Select </a:t>
            </a:r>
            <a:r>
              <a:rPr lang="en-US" altLang="zh-CN" b="1" dirty="0"/>
              <a:t>what to show </a:t>
            </a:r>
            <a:r>
              <a:rPr lang="en-US" altLang="zh-CN" dirty="0"/>
              <a:t>the model </a:t>
            </a:r>
          </a:p>
          <a:p>
            <a:pPr algn="ctr"/>
            <a:r>
              <a:rPr lang="en-US" altLang="zh-CN" dirty="0"/>
              <a:t>(keep it neither too long nor too short)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9645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87112-33F6-AFF3-8AD8-22A1B1D8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5D2965EC-78AD-D87E-5402-DDF68F746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63" y="1554844"/>
            <a:ext cx="3062205" cy="291282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423B7D1-F69C-AA4B-67E6-BF3B08A87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816" y="1748569"/>
            <a:ext cx="3032966" cy="2676146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021A93AC-05C6-796D-B365-905A4FF5F142}"/>
              </a:ext>
            </a:extLst>
          </p:cNvPr>
          <p:cNvSpPr/>
          <p:nvPr/>
        </p:nvSpPr>
        <p:spPr>
          <a:xfrm>
            <a:off x="5756424" y="3774201"/>
            <a:ext cx="337530" cy="159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401E376D-A3B2-3133-9462-2B9506ED0BA9}"/>
              </a:ext>
            </a:extLst>
          </p:cNvPr>
          <p:cNvSpPr/>
          <p:nvPr/>
        </p:nvSpPr>
        <p:spPr>
          <a:xfrm>
            <a:off x="2166099" y="2267906"/>
            <a:ext cx="1031234" cy="340281"/>
          </a:xfrm>
          <a:prstGeom prst="wedgeRoundRectCallout">
            <a:avLst>
              <a:gd name="adj1" fmla="val 23537"/>
              <a:gd name="adj2" fmla="val 43351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Context</a:t>
            </a:r>
            <a:endParaRPr lang="en-GB" dirty="0"/>
          </a:p>
        </p:txBody>
      </p:sp>
      <p:sp>
        <p:nvSpPr>
          <p:cNvPr id="21" name="对话气泡: 圆角矩形 20">
            <a:extLst>
              <a:ext uri="{FF2B5EF4-FFF2-40B4-BE49-F238E27FC236}">
                <a16:creationId xmlns:a16="http://schemas.microsoft.com/office/drawing/2014/main" id="{D9C2163B-AF3E-0277-59EB-279B238F1D21}"/>
              </a:ext>
            </a:extLst>
          </p:cNvPr>
          <p:cNvSpPr/>
          <p:nvPr/>
        </p:nvSpPr>
        <p:spPr>
          <a:xfrm>
            <a:off x="96937" y="3340843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Output</a:t>
            </a:r>
            <a:endParaRPr lang="en-GB" dirty="0"/>
          </a:p>
        </p:txBody>
      </p: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id="{CC1031F0-EAF7-4422-AE7A-A70E6BAA73E6}"/>
              </a:ext>
            </a:extLst>
          </p:cNvPr>
          <p:cNvSpPr/>
          <p:nvPr/>
        </p:nvSpPr>
        <p:spPr>
          <a:xfrm>
            <a:off x="249337" y="1461925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Input</a:t>
            </a:r>
            <a:endParaRPr lang="en-GB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DE30EC-3B64-360B-9484-7FB2452D7BDB}"/>
              </a:ext>
            </a:extLst>
          </p:cNvPr>
          <p:cNvSpPr/>
          <p:nvPr/>
        </p:nvSpPr>
        <p:spPr>
          <a:xfrm>
            <a:off x="6535812" y="3884666"/>
            <a:ext cx="208655" cy="319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57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91EA-8326-868D-8B29-EC88D0117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B86FC53-96BB-6C8F-4C5E-B6FD11873842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76D797E-1707-219B-2794-E2AFF818A00A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511F9A-44E4-A9CF-2221-83A1652A51BF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C4F1EF2F-6F36-607C-F91B-60699BD2B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DFF49623-F2FF-CEBC-D667-62500AFF0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6CC1500-3D0D-1D73-5B97-47C476E2DB8A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B3E98993-297F-57D1-7BB6-F82A60A00F41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602FEC6-BAB0-F31E-9F9C-AA5FBEE8947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195CA0F2-71F1-CA6C-EECB-DFC32D1ED656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message</a:t>
            </a: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0FE382FD-E589-3331-2F79-F5C6C63DAD62}"/>
              </a:ext>
            </a:extLst>
          </p:cNvPr>
          <p:cNvSpPr/>
          <p:nvPr/>
        </p:nvSpPr>
        <p:spPr>
          <a:xfrm>
            <a:off x="3786624" y="79415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81621DB3-0612-E027-AE49-4294ECC2C1AE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87501F7B-0C34-EEDE-F4A7-6A5A2B557C7D}"/>
              </a:ext>
            </a:extLst>
          </p:cNvPr>
          <p:cNvSpPr/>
          <p:nvPr/>
        </p:nvSpPr>
        <p:spPr>
          <a:xfrm>
            <a:off x="3786624" y="126065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C2B1A52A-B96B-B380-D783-DEAFC66A748C}"/>
              </a:ext>
            </a:extLst>
          </p:cNvPr>
          <p:cNvSpPr/>
          <p:nvPr/>
        </p:nvSpPr>
        <p:spPr>
          <a:xfrm>
            <a:off x="3786624" y="1727843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2E4F8C30-5024-9706-1980-39DA5DE85016}"/>
              </a:ext>
            </a:extLst>
          </p:cNvPr>
          <p:cNvSpPr/>
          <p:nvPr/>
        </p:nvSpPr>
        <p:spPr>
          <a:xfrm>
            <a:off x="3786624" y="219502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071504E6-AAF6-6ECC-BBE9-42941DC4FD77}"/>
              </a:ext>
            </a:extLst>
          </p:cNvPr>
          <p:cNvSpPr/>
          <p:nvPr/>
        </p:nvSpPr>
        <p:spPr>
          <a:xfrm>
            <a:off x="3793104" y="266151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28ADC7A9-3694-D415-B0BF-010AC2D0E609}"/>
              </a:ext>
            </a:extLst>
          </p:cNvPr>
          <p:cNvSpPr/>
          <p:nvPr/>
        </p:nvSpPr>
        <p:spPr>
          <a:xfrm rot="10800000">
            <a:off x="4977570" y="823624"/>
            <a:ext cx="128733" cy="1219179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9A71902B-0F4A-E251-81B9-81F11C537F88}"/>
              </a:ext>
            </a:extLst>
          </p:cNvPr>
          <p:cNvSpPr/>
          <p:nvPr/>
        </p:nvSpPr>
        <p:spPr>
          <a:xfrm rot="467416">
            <a:off x="5767687" y="1981427"/>
            <a:ext cx="1115432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57BD551-0E53-FDBD-1E0B-BCE473A4F5E1}"/>
              </a:ext>
            </a:extLst>
          </p:cNvPr>
          <p:cNvCxnSpPr>
            <a:cxnSpLocks/>
            <a:endCxn id="1028" idx="1"/>
          </p:cNvCxnSpPr>
          <p:nvPr/>
        </p:nvCxnSpPr>
        <p:spPr>
          <a:xfrm>
            <a:off x="5196644" y="1430759"/>
            <a:ext cx="2461478" cy="3980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0D00C24-9A90-A04D-F1FB-BFF6A98F9BA9}"/>
              </a:ext>
            </a:extLst>
          </p:cNvPr>
          <p:cNvCxnSpPr>
            <a:cxnSpLocks/>
          </p:cNvCxnSpPr>
          <p:nvPr/>
        </p:nvCxnSpPr>
        <p:spPr>
          <a:xfrm flipH="1" flipV="1">
            <a:off x="5181817" y="1629779"/>
            <a:ext cx="2476305" cy="3911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745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9E02C-4FE0-06F7-DA01-89C5C48A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1003678-F6F6-0BF9-8231-975EF846F95B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D421A2F-EC29-8F35-FF3C-1974882AFB91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B65F35-F0BA-3573-6560-1F2D6C2D570B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6149DCE2-ED25-EA33-7A3C-83291F8B2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9954F8F4-514E-72F8-9C7B-74D06AA8A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0215B3D-CDC3-FDFC-AF73-4A72B818258F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8ACA6AA0-60DE-9E9C-B9B4-7AA7D03901F6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5357E65-89E8-1A55-3F1B-3C5F7C7395F8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AA377F79-E495-CC15-247E-2BE437BAFA7F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message</a:t>
            </a: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9B63A622-DE87-4F34-F461-14CEDA5ED63A}"/>
              </a:ext>
            </a:extLst>
          </p:cNvPr>
          <p:cNvSpPr/>
          <p:nvPr/>
        </p:nvSpPr>
        <p:spPr>
          <a:xfrm>
            <a:off x="3786624" y="76341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DE64D2E0-C115-DC58-7F7E-FD6D9305F77E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24918494-1874-7005-0F29-0C001B92DC71}"/>
              </a:ext>
            </a:extLst>
          </p:cNvPr>
          <p:cNvSpPr/>
          <p:nvPr/>
        </p:nvSpPr>
        <p:spPr>
          <a:xfrm>
            <a:off x="3786624" y="1206869"/>
            <a:ext cx="1115432" cy="551709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</a:t>
            </a:r>
            <a:r>
              <a:rPr lang="de-AT" noProof="0" dirty="0"/>
              <a:t>…]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AACCC630-2CD8-9270-63E4-14D7564EDAE8}"/>
              </a:ext>
            </a:extLst>
          </p:cNvPr>
          <p:cNvSpPr/>
          <p:nvPr/>
        </p:nvSpPr>
        <p:spPr>
          <a:xfrm>
            <a:off x="3786624" y="1812367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22468548-7152-76CC-A738-E003021FAB46}"/>
              </a:ext>
            </a:extLst>
          </p:cNvPr>
          <p:cNvSpPr/>
          <p:nvPr/>
        </p:nvSpPr>
        <p:spPr>
          <a:xfrm>
            <a:off x="3786624" y="224113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2468FFBD-CAD3-4DF5-37B5-B79678BE7E94}"/>
              </a:ext>
            </a:extLst>
          </p:cNvPr>
          <p:cNvSpPr/>
          <p:nvPr/>
        </p:nvSpPr>
        <p:spPr>
          <a:xfrm>
            <a:off x="3793104" y="266151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57880F51-782A-C178-D371-E135C3C70708}"/>
              </a:ext>
            </a:extLst>
          </p:cNvPr>
          <p:cNvSpPr/>
          <p:nvPr/>
        </p:nvSpPr>
        <p:spPr>
          <a:xfrm>
            <a:off x="4908536" y="1061355"/>
            <a:ext cx="2247007" cy="623097"/>
          </a:xfrm>
          <a:prstGeom prst="wedgeRoundRectCallout">
            <a:avLst>
              <a:gd name="adj1" fmla="val -60856"/>
              <a:gd name="adj2" fmla="val 20950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“There used to be tool output here. 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6183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0381-4902-DD5B-7DA4-44A06B6E5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2C0E297A-1399-B806-B1BF-7AFE40FA7AEB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The Complexity Trap: Simple Observation Masking Is as Efficient as LLM Summarization for Agent Context Management </a:t>
            </a:r>
            <a:r>
              <a:rPr lang="en-US" altLang="zh-CN" sz="1100" dirty="0">
                <a:solidFill>
                  <a:srgbClr val="000000"/>
                </a:solidFill>
                <a:latin typeface="rival-sans"/>
              </a:rPr>
              <a:t>(2025)</a:t>
            </a:r>
            <a:endParaRPr lang="en-US" altLang="zh-CN" sz="1100" b="0" i="0" dirty="0">
              <a:solidFill>
                <a:srgbClr val="000000"/>
              </a:solidFill>
              <a:effectLst/>
              <a:latin typeface="rival-sans"/>
            </a:endParaRPr>
          </a:p>
        </p:txBody>
      </p:sp>
      <p:pic>
        <p:nvPicPr>
          <p:cNvPr id="16" name="Picture 2" descr="Refer to caption">
            <a:extLst>
              <a:ext uri="{FF2B5EF4-FFF2-40B4-BE49-F238E27FC236}">
                <a16:creationId xmlns:a16="http://schemas.microsoft.com/office/drawing/2014/main" id="{8AC912DC-5D2C-E7DE-6AA7-CCC32DC9F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4623"/>
            <a:ext cx="9038122" cy="537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BCDF0D36-8D5D-F914-D19E-6F2AA2FB3DA5}"/>
              </a:ext>
            </a:extLst>
          </p:cNvPr>
          <p:cNvSpPr/>
          <p:nvPr/>
        </p:nvSpPr>
        <p:spPr>
          <a:xfrm>
            <a:off x="876158" y="1401348"/>
            <a:ext cx="702385" cy="5525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52D4CC-9985-616A-A870-03C36E58A355}"/>
              </a:ext>
            </a:extLst>
          </p:cNvPr>
          <p:cNvSpPr/>
          <p:nvPr/>
        </p:nvSpPr>
        <p:spPr>
          <a:xfrm>
            <a:off x="3723632" y="1277458"/>
            <a:ext cx="992747" cy="67647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0738D19-C31C-D8B8-331B-5FB3084F5F15}"/>
              </a:ext>
            </a:extLst>
          </p:cNvPr>
          <p:cNvSpPr/>
          <p:nvPr/>
        </p:nvSpPr>
        <p:spPr>
          <a:xfrm>
            <a:off x="7196747" y="792254"/>
            <a:ext cx="1677746" cy="7766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B2A5B71-45CC-BCA9-AF83-09D8FD2D992A}"/>
              </a:ext>
            </a:extLst>
          </p:cNvPr>
          <p:cNvSpPr/>
          <p:nvPr/>
        </p:nvSpPr>
        <p:spPr>
          <a:xfrm>
            <a:off x="3877506" y="4127409"/>
            <a:ext cx="1677746" cy="7766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6C9ECF5-728B-17D1-ECF0-E476329941F4}"/>
              </a:ext>
            </a:extLst>
          </p:cNvPr>
          <p:cNvSpPr/>
          <p:nvPr/>
        </p:nvSpPr>
        <p:spPr>
          <a:xfrm>
            <a:off x="1294857" y="4246119"/>
            <a:ext cx="1677746" cy="7766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273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49748-4A71-B134-D62E-BBBC49EA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12195609-BA21-A9F7-AD65-C21070D54446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The Complexity Trap: Simple Observation Masking Is as Efficient as LLM Summarization for Agent Context Management </a:t>
            </a:r>
            <a:r>
              <a:rPr lang="en-US" altLang="zh-CN" sz="1100" dirty="0">
                <a:solidFill>
                  <a:srgbClr val="000000"/>
                </a:solidFill>
                <a:latin typeface="rival-sans"/>
              </a:rPr>
              <a:t>(2025)</a:t>
            </a:r>
            <a:endParaRPr lang="en-US" altLang="zh-CN" sz="1100" b="0" i="0" dirty="0">
              <a:solidFill>
                <a:srgbClr val="000000"/>
              </a:solidFill>
              <a:effectLst/>
              <a:latin typeface="rival-sans"/>
            </a:endParaRPr>
          </a:p>
        </p:txBody>
      </p:sp>
      <p:pic>
        <p:nvPicPr>
          <p:cNvPr id="16" name="Picture 2" descr="Refer to caption">
            <a:extLst>
              <a:ext uri="{FF2B5EF4-FFF2-40B4-BE49-F238E27FC236}">
                <a16:creationId xmlns:a16="http://schemas.microsoft.com/office/drawing/2014/main" id="{58111C76-E9CE-DDF2-9DAC-39B99968B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4623"/>
            <a:ext cx="9038122" cy="537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7EE5BCFD-B0D0-6235-CE45-2957540FB028}"/>
              </a:ext>
            </a:extLst>
          </p:cNvPr>
          <p:cNvSpPr/>
          <p:nvPr/>
        </p:nvSpPr>
        <p:spPr>
          <a:xfrm>
            <a:off x="808239" y="1401348"/>
            <a:ext cx="435025" cy="5525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295C1F-15BD-818B-3C70-382C9BC1A79F}"/>
              </a:ext>
            </a:extLst>
          </p:cNvPr>
          <p:cNvSpPr/>
          <p:nvPr/>
        </p:nvSpPr>
        <p:spPr>
          <a:xfrm>
            <a:off x="3723632" y="1277458"/>
            <a:ext cx="652425" cy="67647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9CE9EC-BE48-9C0F-7407-6075A73A571B}"/>
              </a:ext>
            </a:extLst>
          </p:cNvPr>
          <p:cNvSpPr/>
          <p:nvPr/>
        </p:nvSpPr>
        <p:spPr>
          <a:xfrm>
            <a:off x="7196747" y="792254"/>
            <a:ext cx="1375753" cy="7766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4FD3F4-5EDA-2817-17AD-2FC91572DBDC}"/>
              </a:ext>
            </a:extLst>
          </p:cNvPr>
          <p:cNvSpPr/>
          <p:nvPr/>
        </p:nvSpPr>
        <p:spPr>
          <a:xfrm>
            <a:off x="3877506" y="4127409"/>
            <a:ext cx="498551" cy="7766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95811E6-A667-63C3-A513-E5F5C4431EB9}"/>
              </a:ext>
            </a:extLst>
          </p:cNvPr>
          <p:cNvSpPr/>
          <p:nvPr/>
        </p:nvSpPr>
        <p:spPr>
          <a:xfrm>
            <a:off x="1294857" y="4246119"/>
            <a:ext cx="1260564" cy="7766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3181B3-0C62-1837-EC65-60A36D50ACCF}"/>
              </a:ext>
            </a:extLst>
          </p:cNvPr>
          <p:cNvSpPr/>
          <p:nvPr/>
        </p:nvSpPr>
        <p:spPr>
          <a:xfrm>
            <a:off x="4376057" y="4127409"/>
            <a:ext cx="498551" cy="4772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985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B8B61-FAB2-6110-0F37-5CED58805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0CB849DC-977A-4278-53F8-DA5A88EEA8E0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The Complexity Trap: Simple Observation Masking Is as Efficient as LLM Summarization for Agent Context Management </a:t>
            </a:r>
            <a:r>
              <a:rPr lang="en-US" altLang="zh-CN" sz="1100" dirty="0">
                <a:solidFill>
                  <a:srgbClr val="000000"/>
                </a:solidFill>
                <a:latin typeface="rival-sans"/>
              </a:rPr>
              <a:t>(2025)</a:t>
            </a:r>
            <a:endParaRPr lang="en-US" altLang="zh-CN" sz="1100" b="0" i="0" dirty="0">
              <a:solidFill>
                <a:srgbClr val="000000"/>
              </a:solidFill>
              <a:effectLst/>
              <a:latin typeface="rival-sans"/>
            </a:endParaRPr>
          </a:p>
        </p:txBody>
      </p:sp>
      <p:pic>
        <p:nvPicPr>
          <p:cNvPr id="16" name="Picture 2" descr="Refer to caption">
            <a:extLst>
              <a:ext uri="{FF2B5EF4-FFF2-40B4-BE49-F238E27FC236}">
                <a16:creationId xmlns:a16="http://schemas.microsoft.com/office/drawing/2014/main" id="{687FB5AC-55F2-A101-C6D7-69E4CC403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4623"/>
            <a:ext cx="9038122" cy="537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593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E547C-168E-ED17-7576-E0D6494F1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181FAF4-D8C0-E407-B7F1-7EFC6272FAC1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D89CC0E-BD40-7271-D6E3-C1B70A6B8917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D7991CF-5474-1EF4-4B14-192891AE8D28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2BE7D933-13B9-3037-F96C-7C0BBB066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63943F32-0037-F259-A1B9-EF33309F3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E5DB9DD-3B82-3624-20DA-C10D4637F293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F9E54561-0184-977D-7A4F-D2F87B1CA298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51D668F-0846-7C2D-2C07-310C039CD9C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31493C40-D9F7-9F22-F35E-1212C5FCD5E6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message</a:t>
            </a: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EDDEEBA9-5718-C948-2518-E9E71538E279}"/>
              </a:ext>
            </a:extLst>
          </p:cNvPr>
          <p:cNvSpPr/>
          <p:nvPr/>
        </p:nvSpPr>
        <p:spPr>
          <a:xfrm>
            <a:off x="3786624" y="76341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3C1F6BFD-69CC-8A18-0424-5BD2323597A7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E4717E57-E30D-5DB4-AD36-D93C6B6E29F8}"/>
              </a:ext>
            </a:extLst>
          </p:cNvPr>
          <p:cNvSpPr/>
          <p:nvPr/>
        </p:nvSpPr>
        <p:spPr>
          <a:xfrm>
            <a:off x="3786624" y="1206869"/>
            <a:ext cx="1115432" cy="551709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</a:t>
            </a:r>
            <a:r>
              <a:rPr lang="de-AT" noProof="0" dirty="0"/>
              <a:t>…]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B2985C9F-C154-D462-C9E9-3DE155EAEDAB}"/>
              </a:ext>
            </a:extLst>
          </p:cNvPr>
          <p:cNvSpPr/>
          <p:nvPr/>
        </p:nvSpPr>
        <p:spPr>
          <a:xfrm>
            <a:off x="3786624" y="1812367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21071159-14A3-9543-350C-10E7E7635675}"/>
              </a:ext>
            </a:extLst>
          </p:cNvPr>
          <p:cNvSpPr/>
          <p:nvPr/>
        </p:nvSpPr>
        <p:spPr>
          <a:xfrm>
            <a:off x="3786624" y="224113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516FE5C3-186C-59B9-31A8-39D2666FC23B}"/>
              </a:ext>
            </a:extLst>
          </p:cNvPr>
          <p:cNvSpPr/>
          <p:nvPr/>
        </p:nvSpPr>
        <p:spPr>
          <a:xfrm>
            <a:off x="3793104" y="266151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600ED522-EDC7-1093-774F-8586F4F419BD}"/>
              </a:ext>
            </a:extLst>
          </p:cNvPr>
          <p:cNvSpPr/>
          <p:nvPr/>
        </p:nvSpPr>
        <p:spPr>
          <a:xfrm>
            <a:off x="1308596" y="771580"/>
            <a:ext cx="2247007" cy="623097"/>
          </a:xfrm>
          <a:prstGeom prst="wedgeRoundRectCallout">
            <a:avLst>
              <a:gd name="adj1" fmla="val 55776"/>
              <a:gd name="adj2" fmla="val 26191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“There used to be tool output here. ”</a:t>
            </a:r>
            <a:endParaRPr lang="en-GB" dirty="0"/>
          </a:p>
        </p:txBody>
      </p: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DB6803A5-5269-C752-91E8-84CAC477803E}"/>
              </a:ext>
            </a:extLst>
          </p:cNvPr>
          <p:cNvSpPr/>
          <p:nvPr/>
        </p:nvSpPr>
        <p:spPr>
          <a:xfrm rot="10800000">
            <a:off x="4977569" y="823623"/>
            <a:ext cx="128733" cy="1739959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8703F5C9-0A09-5658-5047-A95D43654345}"/>
              </a:ext>
            </a:extLst>
          </p:cNvPr>
          <p:cNvSpPr/>
          <p:nvPr/>
        </p:nvSpPr>
        <p:spPr>
          <a:xfrm rot="467416">
            <a:off x="5786219" y="2013029"/>
            <a:ext cx="1115432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4F94C7B-E16B-DB17-AFE2-99B8ABA152EF}"/>
              </a:ext>
            </a:extLst>
          </p:cNvPr>
          <p:cNvCxnSpPr>
            <a:cxnSpLocks/>
          </p:cNvCxnSpPr>
          <p:nvPr/>
        </p:nvCxnSpPr>
        <p:spPr>
          <a:xfrm>
            <a:off x="5215176" y="1462361"/>
            <a:ext cx="2461478" cy="3980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E786020-6822-E8AD-A69A-8C32775CF630}"/>
              </a:ext>
            </a:extLst>
          </p:cNvPr>
          <p:cNvCxnSpPr>
            <a:cxnSpLocks/>
          </p:cNvCxnSpPr>
          <p:nvPr/>
        </p:nvCxnSpPr>
        <p:spPr>
          <a:xfrm flipH="1" flipV="1">
            <a:off x="5200349" y="1661381"/>
            <a:ext cx="2476305" cy="3911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963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D1AF5-9FD1-DFA5-D6F8-00AAEC2C9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1AB8BFF-D5F8-F38A-1A5B-29A85B1C4C87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D4A7719-8C67-1BD6-015D-C88C3DCF650E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989FA57-6100-EED4-F7BC-F93565DF22B3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3CAADF63-15BE-8F9C-D15E-AB0035341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2877EC67-508D-B1E2-6093-48827976B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D89354C-D269-351E-2EB9-2FA51BE13723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C42CDB7D-38A9-7763-7D39-C6E376FE7629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2E47CD9-7CE6-1D65-E8FE-9FBF8B60DE1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39D9AAA0-EAE7-0208-BC8B-F96BDA63789F}"/>
              </a:ext>
            </a:extLst>
          </p:cNvPr>
          <p:cNvSpPr/>
          <p:nvPr/>
        </p:nvSpPr>
        <p:spPr>
          <a:xfrm>
            <a:off x="3786624" y="76341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22503916-5325-CB03-E098-3D7C1BB12351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05282E4-6F35-557D-A5B4-C2D8A7225BA7}"/>
              </a:ext>
            </a:extLst>
          </p:cNvPr>
          <p:cNvSpPr/>
          <p:nvPr/>
        </p:nvSpPr>
        <p:spPr>
          <a:xfrm>
            <a:off x="3786624" y="1206869"/>
            <a:ext cx="1115432" cy="551709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</a:t>
            </a:r>
            <a:r>
              <a:rPr lang="de-AT" noProof="0" dirty="0"/>
              <a:t>…]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9EAE327B-D050-DB9E-DCF5-47C16546EE41}"/>
              </a:ext>
            </a:extLst>
          </p:cNvPr>
          <p:cNvSpPr/>
          <p:nvPr/>
        </p:nvSpPr>
        <p:spPr>
          <a:xfrm>
            <a:off x="3786624" y="1812367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0099236F-046A-A065-8138-7AC7F48083F7}"/>
              </a:ext>
            </a:extLst>
          </p:cNvPr>
          <p:cNvSpPr/>
          <p:nvPr/>
        </p:nvSpPr>
        <p:spPr>
          <a:xfrm>
            <a:off x="1308596" y="60246"/>
            <a:ext cx="2247007" cy="1334432"/>
          </a:xfrm>
          <a:prstGeom prst="wedgeRoundRectCallout">
            <a:avLst>
              <a:gd name="adj1" fmla="val 56866"/>
              <a:gd name="adj2" fmla="val 49440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“There used to be tool output here. </a:t>
            </a:r>
          </a:p>
          <a:p>
            <a:pPr algn="ctr"/>
            <a:r>
              <a:rPr lang="en-US" altLang="zh-CN" dirty="0"/>
              <a:t>See details in </a:t>
            </a:r>
            <a:r>
              <a:rPr lang="en-US" altLang="zh-CN" b="1" dirty="0"/>
              <a:t>log1.txt</a:t>
            </a:r>
            <a:r>
              <a:rPr lang="en-US" altLang="zh-CN" dirty="0"/>
              <a:t>.”</a:t>
            </a:r>
            <a:endParaRPr lang="en-GB" dirty="0"/>
          </a:p>
        </p:txBody>
      </p:sp>
      <p:pic>
        <p:nvPicPr>
          <p:cNvPr id="19" name="Picture 4" descr="Hard drive ">
            <a:extLst>
              <a:ext uri="{FF2B5EF4-FFF2-40B4-BE49-F238E27FC236}">
                <a16:creationId xmlns:a16="http://schemas.microsoft.com/office/drawing/2014/main" id="{127A90AC-3357-91D1-8243-652D41734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943" y="1482723"/>
            <a:ext cx="6095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19D4294-9729-5EB0-9BCB-8229B2646B37}"/>
              </a:ext>
            </a:extLst>
          </p:cNvPr>
          <p:cNvCxnSpPr>
            <a:cxnSpLocks/>
          </p:cNvCxnSpPr>
          <p:nvPr/>
        </p:nvCxnSpPr>
        <p:spPr>
          <a:xfrm>
            <a:off x="5099721" y="1730070"/>
            <a:ext cx="2461478" cy="3980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F9D3446-FA82-64B8-1176-7EA00A5D2735}"/>
              </a:ext>
            </a:extLst>
          </p:cNvPr>
          <p:cNvCxnSpPr>
            <a:cxnSpLocks/>
          </p:cNvCxnSpPr>
          <p:nvPr/>
        </p:nvCxnSpPr>
        <p:spPr>
          <a:xfrm flipH="1" flipV="1">
            <a:off x="5084894" y="1929090"/>
            <a:ext cx="2476305" cy="3911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E1527F54-35FE-8A5F-AAAA-04DA9B8AD98B}"/>
              </a:ext>
            </a:extLst>
          </p:cNvPr>
          <p:cNvSpPr/>
          <p:nvPr/>
        </p:nvSpPr>
        <p:spPr>
          <a:xfrm>
            <a:off x="3786623" y="2252357"/>
            <a:ext cx="2589683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[tool_use] Read(log1.txt)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AC56F12-019E-EDC8-9E05-090E420EB247}"/>
              </a:ext>
            </a:extLst>
          </p:cNvPr>
          <p:cNvSpPr txBox="1"/>
          <p:nvPr/>
        </p:nvSpPr>
        <p:spPr>
          <a:xfrm>
            <a:off x="0" y="6431061"/>
            <a:ext cx="95385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dirty="0">
                <a:solidFill>
                  <a:srgbClr val="000000"/>
                </a:solidFill>
                <a:latin typeface="rival-sans"/>
                <a:hlinkClick r:id="rId5"/>
              </a:rPr>
              <a:t>https://manus.im/blog/Context-Engineering-for-AI-Agents-Lessons-from-Building-Manus</a:t>
            </a:r>
            <a:endParaRPr lang="en-US" altLang="zh-CN" sz="1100" dirty="0">
              <a:solidFill>
                <a:srgbClr val="000000"/>
              </a:solidFill>
              <a:latin typeface="rival-sans"/>
            </a:endParaRPr>
          </a:p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Solving Context Window Overflow in AI Agents (2025)</a:t>
            </a:r>
          </a:p>
        </p:txBody>
      </p:sp>
    </p:spTree>
    <p:extLst>
      <p:ext uri="{BB962C8B-B14F-4D97-AF65-F5344CB8AC3E}">
        <p14:creationId xmlns:p14="http://schemas.microsoft.com/office/powerpoint/2010/main" val="3081899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7BC4E-24DB-10EB-3BBE-4FF8F522D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FB7BB98-193F-75F2-B40E-4BD90AAD9D4E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0BB834C-F532-334A-F0A1-8E7E1DD82A65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7C8B76-163C-B8DA-54B8-5DE621397EB7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43A9D203-303D-EA50-900A-A4694A2F6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982AB33B-01FE-F827-F92E-520A946A2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B2E90EA-54D5-D8FA-24FF-22568166AE6C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5280F254-6EBD-A29E-E64B-6E80D3CD33F7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1A59BEF-C10F-8BD5-543C-E96852D34614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84B1C899-EDCA-DA62-66C1-4DCB31A47140}"/>
              </a:ext>
            </a:extLst>
          </p:cNvPr>
          <p:cNvSpPr/>
          <p:nvPr/>
        </p:nvSpPr>
        <p:spPr>
          <a:xfrm>
            <a:off x="3786624" y="76341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E2B820F5-0C9A-AF9B-3269-B20E6FE9074E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CA50BBB7-FD12-D027-30D0-9DCC61552E22}"/>
              </a:ext>
            </a:extLst>
          </p:cNvPr>
          <p:cNvSpPr/>
          <p:nvPr/>
        </p:nvSpPr>
        <p:spPr>
          <a:xfrm>
            <a:off x="3786624" y="119918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pic>
        <p:nvPicPr>
          <p:cNvPr id="19" name="Picture 4" descr="Hard drive ">
            <a:extLst>
              <a:ext uri="{FF2B5EF4-FFF2-40B4-BE49-F238E27FC236}">
                <a16:creationId xmlns:a16="http://schemas.microsoft.com/office/drawing/2014/main" id="{A68E28FD-CAA5-5197-D4A4-02CB371C1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154" y="159422"/>
            <a:ext cx="6095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B9386323-B5F0-C170-4761-AB69AD2DFAD0}"/>
              </a:ext>
            </a:extLst>
          </p:cNvPr>
          <p:cNvSpPr txBox="1"/>
          <p:nvPr/>
        </p:nvSpPr>
        <p:spPr>
          <a:xfrm>
            <a:off x="0" y="6241819"/>
            <a:ext cx="953856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dirty="0">
                <a:solidFill>
                  <a:srgbClr val="000000"/>
                </a:solidFill>
                <a:latin typeface="rival-sans"/>
              </a:rPr>
              <a:t>A-MEM: Agentic Memory for LLM Agents (2025)</a:t>
            </a:r>
          </a:p>
          <a:p>
            <a:pPr>
              <a:buNone/>
            </a:pPr>
            <a:r>
              <a:rPr lang="en-US" altLang="zh-CN" sz="1100" dirty="0">
                <a:solidFill>
                  <a:srgbClr val="000000"/>
                </a:solidFill>
                <a:latin typeface="rival-sans"/>
              </a:rPr>
              <a:t>Mem0: Building Production-Ready AI Agents with Scalable Long-Term Memory (2025)</a:t>
            </a:r>
          </a:p>
          <a:p>
            <a:pPr>
              <a:buNone/>
            </a:pPr>
            <a:r>
              <a:rPr lang="en-US" altLang="zh-CN" sz="1100" dirty="0">
                <a:solidFill>
                  <a:srgbClr val="000000"/>
                </a:solidFill>
                <a:latin typeface="rival-sans"/>
              </a:rPr>
              <a:t>Memory OS of AI Agent (2025)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DF240D3C-CE5E-B303-C040-91279709BAB5}"/>
              </a:ext>
            </a:extLst>
          </p:cNvPr>
          <p:cNvSpPr/>
          <p:nvPr/>
        </p:nvSpPr>
        <p:spPr>
          <a:xfrm>
            <a:off x="3786624" y="1772503"/>
            <a:ext cx="1487505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 memory …</a:t>
            </a:r>
            <a:endParaRPr lang="de-AT" noProof="0" dirty="0"/>
          </a:p>
        </p:txBody>
      </p:sp>
      <p:pic>
        <p:nvPicPr>
          <p:cNvPr id="12" name="Picture 4" descr="Hard drive ">
            <a:extLst>
              <a:ext uri="{FF2B5EF4-FFF2-40B4-BE49-F238E27FC236}">
                <a16:creationId xmlns:a16="http://schemas.microsoft.com/office/drawing/2014/main" id="{3D4B6E77-8B1D-A5AD-6682-C28B4169B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154" y="1534680"/>
            <a:ext cx="6095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Hard drive ">
            <a:extLst>
              <a:ext uri="{FF2B5EF4-FFF2-40B4-BE49-F238E27FC236}">
                <a16:creationId xmlns:a16="http://schemas.microsoft.com/office/drawing/2014/main" id="{2DEE280D-6D8F-16AD-CDB5-7089E0E8C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154" y="855068"/>
            <a:ext cx="6095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EFF8C10-6B2C-19DD-306D-F0BE307F3410}"/>
              </a:ext>
            </a:extLst>
          </p:cNvPr>
          <p:cNvSpPr/>
          <p:nvPr/>
        </p:nvSpPr>
        <p:spPr>
          <a:xfrm>
            <a:off x="3657860" y="32655"/>
            <a:ext cx="1371340" cy="1645395"/>
          </a:xfrm>
          <a:prstGeom prst="roundRect">
            <a:avLst/>
          </a:prstGeom>
          <a:noFill/>
          <a:ln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85DF25-DB30-3E7E-8019-8884D519B8C6}"/>
              </a:ext>
            </a:extLst>
          </p:cNvPr>
          <p:cNvSpPr txBox="1"/>
          <p:nvPr/>
        </p:nvSpPr>
        <p:spPr>
          <a:xfrm>
            <a:off x="5029200" y="52385"/>
            <a:ext cx="103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noProof="0" dirty="0"/>
              <a:t>Context</a:t>
            </a:r>
            <a:endParaRPr lang="de-AT" noProof="0" dirty="0">
              <a:latin typeface="Calibri"/>
            </a:endParaRPr>
          </a:p>
        </p:txBody>
      </p:sp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6E452C06-8203-66A0-B759-FD13D1E2C8D4}"/>
              </a:ext>
            </a:extLst>
          </p:cNvPr>
          <p:cNvSpPr/>
          <p:nvPr/>
        </p:nvSpPr>
        <p:spPr>
          <a:xfrm>
            <a:off x="4942237" y="393322"/>
            <a:ext cx="2247007" cy="359509"/>
          </a:xfrm>
          <a:prstGeom prst="wedgeRoundRectCallout">
            <a:avLst>
              <a:gd name="adj1" fmla="val -25612"/>
              <a:gd name="adj2" fmla="val -52734"/>
              <a:gd name="adj3" fmla="val 16667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when/how to </a:t>
            </a:r>
            <a:r>
              <a:rPr lang="en-US" altLang="zh-CN" b="1" dirty="0"/>
              <a:t>save</a:t>
            </a:r>
            <a:endParaRPr lang="en-GB" b="1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F63E530-D615-ACBB-5078-DAB70195C24C}"/>
              </a:ext>
            </a:extLst>
          </p:cNvPr>
          <p:cNvCxnSpPr>
            <a:cxnSpLocks/>
          </p:cNvCxnSpPr>
          <p:nvPr/>
        </p:nvCxnSpPr>
        <p:spPr>
          <a:xfrm flipH="1" flipV="1">
            <a:off x="3105377" y="1209655"/>
            <a:ext cx="605389" cy="6881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790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3D92C-57E5-15F3-B603-F460BCCBC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9D56DD8-0415-5430-9D9A-BAEFBEF07F11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BA2B74-0C2F-24AE-9179-D3256FF1FA3D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D0291E-C587-3AE6-6E06-DC284AFC8057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EE5FD3EF-D441-5C9A-324C-82E3EF68E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8A3484BA-F685-5D32-2625-F71C2D92D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BAFAC66-9F57-9C1A-2B0C-8CFF1CD12CCA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CD3B0930-F986-029B-A26B-0EA5F6434510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5005E78-8870-AD37-7666-13A869D2CF2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B6E3B197-BFC4-35BA-DDA7-C917039582BC}"/>
              </a:ext>
            </a:extLst>
          </p:cNvPr>
          <p:cNvSpPr/>
          <p:nvPr/>
        </p:nvSpPr>
        <p:spPr>
          <a:xfrm>
            <a:off x="3786624" y="76341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5DB6EDD3-21C4-479A-17F2-D445F9411F3F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05836EE1-76C1-B2ED-E967-E737E76CC3A6}"/>
              </a:ext>
            </a:extLst>
          </p:cNvPr>
          <p:cNvSpPr/>
          <p:nvPr/>
        </p:nvSpPr>
        <p:spPr>
          <a:xfrm>
            <a:off x="3786624" y="119918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pic>
        <p:nvPicPr>
          <p:cNvPr id="19" name="Picture 4" descr="Hard drive ">
            <a:extLst>
              <a:ext uri="{FF2B5EF4-FFF2-40B4-BE49-F238E27FC236}">
                <a16:creationId xmlns:a16="http://schemas.microsoft.com/office/drawing/2014/main" id="{D18284AE-3FFE-0842-0AA6-852ED9505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154" y="159422"/>
            <a:ext cx="6095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28A2EAA5-DAF0-B5AF-5DCB-A03CCAC0B459}"/>
              </a:ext>
            </a:extLst>
          </p:cNvPr>
          <p:cNvSpPr/>
          <p:nvPr/>
        </p:nvSpPr>
        <p:spPr>
          <a:xfrm>
            <a:off x="3786624" y="1772503"/>
            <a:ext cx="1487505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 memory …</a:t>
            </a:r>
            <a:endParaRPr lang="de-AT" noProof="0" dirty="0"/>
          </a:p>
        </p:txBody>
      </p:sp>
      <p:pic>
        <p:nvPicPr>
          <p:cNvPr id="12" name="Picture 4" descr="Hard drive ">
            <a:extLst>
              <a:ext uri="{FF2B5EF4-FFF2-40B4-BE49-F238E27FC236}">
                <a16:creationId xmlns:a16="http://schemas.microsoft.com/office/drawing/2014/main" id="{BEE6D154-55A4-1630-1B0D-5723B6BC9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154" y="1534680"/>
            <a:ext cx="6095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Hard drive ">
            <a:extLst>
              <a:ext uri="{FF2B5EF4-FFF2-40B4-BE49-F238E27FC236}">
                <a16:creationId xmlns:a16="http://schemas.microsoft.com/office/drawing/2014/main" id="{11A4B8FE-864B-1E40-2D6F-43E0DD746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154" y="855068"/>
            <a:ext cx="6095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759AD40-F02C-59F5-78FE-B1017385E428}"/>
              </a:ext>
            </a:extLst>
          </p:cNvPr>
          <p:cNvSpPr/>
          <p:nvPr/>
        </p:nvSpPr>
        <p:spPr>
          <a:xfrm>
            <a:off x="3657860" y="32655"/>
            <a:ext cx="1656450" cy="2669721"/>
          </a:xfrm>
          <a:prstGeom prst="roundRect">
            <a:avLst/>
          </a:prstGeom>
          <a:noFill/>
          <a:ln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BE4EC99-29DD-6775-8BDA-E22B5B68F776}"/>
              </a:ext>
            </a:extLst>
          </p:cNvPr>
          <p:cNvSpPr txBox="1"/>
          <p:nvPr/>
        </p:nvSpPr>
        <p:spPr>
          <a:xfrm>
            <a:off x="5314310" y="42624"/>
            <a:ext cx="103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noProof="0" dirty="0"/>
              <a:t>Context</a:t>
            </a:r>
            <a:endParaRPr lang="de-AT" noProof="0" dirty="0">
              <a:latin typeface="Calibri"/>
            </a:endParaRPr>
          </a:p>
        </p:txBody>
      </p:sp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AFDECEA1-6749-9C5B-B299-0E42F2CFD34D}"/>
              </a:ext>
            </a:extLst>
          </p:cNvPr>
          <p:cNvSpPr/>
          <p:nvPr/>
        </p:nvSpPr>
        <p:spPr>
          <a:xfrm>
            <a:off x="5450915" y="442517"/>
            <a:ext cx="2247007" cy="359509"/>
          </a:xfrm>
          <a:prstGeom prst="wedgeRoundRectCallout">
            <a:avLst>
              <a:gd name="adj1" fmla="val -25612"/>
              <a:gd name="adj2" fmla="val -52734"/>
              <a:gd name="adj3" fmla="val 16667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when/how to </a:t>
            </a:r>
            <a:r>
              <a:rPr lang="en-US" altLang="zh-CN" b="1" dirty="0"/>
              <a:t>load</a:t>
            </a:r>
            <a:endParaRPr lang="en-GB" b="1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1CF2159-B1FE-4187-A6E5-5AA04397C322}"/>
              </a:ext>
            </a:extLst>
          </p:cNvPr>
          <p:cNvCxnSpPr>
            <a:cxnSpLocks/>
          </p:cNvCxnSpPr>
          <p:nvPr/>
        </p:nvCxnSpPr>
        <p:spPr>
          <a:xfrm flipH="1" flipV="1">
            <a:off x="3105377" y="1209655"/>
            <a:ext cx="605389" cy="6881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0BC969D-4C4E-F1F0-D4ED-C95FF9AF491A}"/>
              </a:ext>
            </a:extLst>
          </p:cNvPr>
          <p:cNvSpPr/>
          <p:nvPr/>
        </p:nvSpPr>
        <p:spPr>
          <a:xfrm>
            <a:off x="3793522" y="2637014"/>
            <a:ext cx="1847999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from memory …</a:t>
            </a:r>
            <a:endParaRPr lang="de-AT" noProof="0"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E2C3EE9A-BF7D-D820-6D90-56B350F6599A}"/>
              </a:ext>
            </a:extLst>
          </p:cNvPr>
          <p:cNvSpPr/>
          <p:nvPr/>
        </p:nvSpPr>
        <p:spPr>
          <a:xfrm>
            <a:off x="3787425" y="2200735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4DB2257-2423-AA58-5437-143F24338CED}"/>
              </a:ext>
            </a:extLst>
          </p:cNvPr>
          <p:cNvCxnSpPr>
            <a:cxnSpLocks/>
          </p:cNvCxnSpPr>
          <p:nvPr/>
        </p:nvCxnSpPr>
        <p:spPr>
          <a:xfrm>
            <a:off x="3066460" y="2099252"/>
            <a:ext cx="606006" cy="6147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AC17CC5C-E714-05E6-E421-D7EB2F9BA78C}"/>
              </a:ext>
            </a:extLst>
          </p:cNvPr>
          <p:cNvSpPr txBox="1"/>
          <p:nvPr/>
        </p:nvSpPr>
        <p:spPr>
          <a:xfrm>
            <a:off x="0" y="6241819"/>
            <a:ext cx="953856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dirty="0">
                <a:solidFill>
                  <a:srgbClr val="000000"/>
                </a:solidFill>
                <a:latin typeface="rival-sans"/>
              </a:rPr>
              <a:t>A-MEM: Agentic Memory for LLM Agents (2025)</a:t>
            </a:r>
          </a:p>
          <a:p>
            <a:pPr>
              <a:buNone/>
            </a:pPr>
            <a:r>
              <a:rPr lang="en-US" altLang="zh-CN" sz="1100" dirty="0">
                <a:solidFill>
                  <a:srgbClr val="000000"/>
                </a:solidFill>
                <a:latin typeface="rival-sans"/>
              </a:rPr>
              <a:t>Mem0: Building Production-Ready AI Agents with Scalable Long-Term Memory (2025)</a:t>
            </a:r>
          </a:p>
          <a:p>
            <a:pPr>
              <a:buNone/>
            </a:pPr>
            <a:r>
              <a:rPr lang="en-US" altLang="zh-CN" sz="1100" dirty="0">
                <a:solidFill>
                  <a:srgbClr val="000000"/>
                </a:solidFill>
                <a:latin typeface="rival-sans"/>
              </a:rPr>
              <a:t>Memory OS of AI Agent (2025)</a:t>
            </a:r>
          </a:p>
        </p:txBody>
      </p:sp>
    </p:spTree>
    <p:extLst>
      <p:ext uri="{BB962C8B-B14F-4D97-AF65-F5344CB8AC3E}">
        <p14:creationId xmlns:p14="http://schemas.microsoft.com/office/powerpoint/2010/main" val="1308362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C71DD-6A2D-8CE1-C349-58FE588F2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85B0860-E2D2-264C-A117-F79C6DFCE22F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BAC6E43-254C-F3C2-BF5F-0B624F4B885E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D3BFBA-6785-6366-45C3-CB33A45CA6E7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5C1370BB-BAE8-8D19-2E5F-489511D4E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3ECE1EF4-7F78-1757-5FC9-D48F5AC62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CECD407-ACC5-E6DD-53C7-C83807892B62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4309A83A-EB16-B241-473B-5CAE90379994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43AC522-2A03-5A6E-187D-556276A2FB1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5628108F-EE2F-5038-2D9D-B7B8D54FFDAB}"/>
              </a:ext>
            </a:extLst>
          </p:cNvPr>
          <p:cNvSpPr/>
          <p:nvPr/>
        </p:nvSpPr>
        <p:spPr>
          <a:xfrm>
            <a:off x="3786624" y="76341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E63E0207-1AD1-6BA5-D9B4-3F6A7A1542B8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EF9E93D3-D3DA-83D7-AA11-0A50DF424B41}"/>
              </a:ext>
            </a:extLst>
          </p:cNvPr>
          <p:cNvSpPr/>
          <p:nvPr/>
        </p:nvSpPr>
        <p:spPr>
          <a:xfrm>
            <a:off x="3786624" y="119918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pic>
        <p:nvPicPr>
          <p:cNvPr id="19" name="Picture 4" descr="Hard drive ">
            <a:extLst>
              <a:ext uri="{FF2B5EF4-FFF2-40B4-BE49-F238E27FC236}">
                <a16:creationId xmlns:a16="http://schemas.microsoft.com/office/drawing/2014/main" id="{5FD970F6-B55F-B16A-C84D-3E61544F5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154" y="159422"/>
            <a:ext cx="6095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A01B95B9-423D-C559-1BE4-7ECA044C0B1C}"/>
              </a:ext>
            </a:extLst>
          </p:cNvPr>
          <p:cNvSpPr/>
          <p:nvPr/>
        </p:nvSpPr>
        <p:spPr>
          <a:xfrm>
            <a:off x="3786624" y="1772503"/>
            <a:ext cx="1487505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 memory …</a:t>
            </a:r>
            <a:endParaRPr lang="de-AT" noProof="0" dirty="0"/>
          </a:p>
        </p:txBody>
      </p:sp>
      <p:pic>
        <p:nvPicPr>
          <p:cNvPr id="12" name="Picture 4" descr="Hard drive ">
            <a:extLst>
              <a:ext uri="{FF2B5EF4-FFF2-40B4-BE49-F238E27FC236}">
                <a16:creationId xmlns:a16="http://schemas.microsoft.com/office/drawing/2014/main" id="{79FB1BAF-646E-6DBD-8662-8546642AC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154" y="1534680"/>
            <a:ext cx="6095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Hard drive ">
            <a:extLst>
              <a:ext uri="{FF2B5EF4-FFF2-40B4-BE49-F238E27FC236}">
                <a16:creationId xmlns:a16="http://schemas.microsoft.com/office/drawing/2014/main" id="{F841D3FB-370A-0D07-0413-650AE1EB0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154" y="855068"/>
            <a:ext cx="6095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7087F81-E39C-C3C0-2513-CF4D027D2017}"/>
              </a:ext>
            </a:extLst>
          </p:cNvPr>
          <p:cNvSpPr/>
          <p:nvPr/>
        </p:nvSpPr>
        <p:spPr>
          <a:xfrm>
            <a:off x="3657860" y="32655"/>
            <a:ext cx="1656450" cy="2669721"/>
          </a:xfrm>
          <a:prstGeom prst="roundRect">
            <a:avLst/>
          </a:prstGeom>
          <a:noFill/>
          <a:ln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3BB0D8-52F8-B62C-974D-A3651ED75A97}"/>
              </a:ext>
            </a:extLst>
          </p:cNvPr>
          <p:cNvSpPr txBox="1"/>
          <p:nvPr/>
        </p:nvSpPr>
        <p:spPr>
          <a:xfrm>
            <a:off x="5314310" y="42624"/>
            <a:ext cx="103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noProof="0" dirty="0"/>
              <a:t>Context</a:t>
            </a:r>
            <a:endParaRPr lang="de-AT" noProof="0" dirty="0">
              <a:latin typeface="Calibri"/>
            </a:endParaRPr>
          </a:p>
        </p:txBody>
      </p:sp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DD0E6249-E978-A772-2AED-AE613FB1239F}"/>
              </a:ext>
            </a:extLst>
          </p:cNvPr>
          <p:cNvSpPr/>
          <p:nvPr/>
        </p:nvSpPr>
        <p:spPr>
          <a:xfrm>
            <a:off x="5450915" y="442517"/>
            <a:ext cx="2247007" cy="359509"/>
          </a:xfrm>
          <a:prstGeom prst="wedgeRoundRectCallout">
            <a:avLst>
              <a:gd name="adj1" fmla="val -25612"/>
              <a:gd name="adj2" fmla="val -52734"/>
              <a:gd name="adj3" fmla="val 16667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when/how to </a:t>
            </a:r>
            <a:r>
              <a:rPr lang="en-US" altLang="zh-CN" b="1" dirty="0"/>
              <a:t>load</a:t>
            </a:r>
            <a:endParaRPr lang="en-GB" b="1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B62AC40-AAF2-993B-ECA2-0E06BA0EE144}"/>
              </a:ext>
            </a:extLst>
          </p:cNvPr>
          <p:cNvCxnSpPr>
            <a:cxnSpLocks/>
          </p:cNvCxnSpPr>
          <p:nvPr/>
        </p:nvCxnSpPr>
        <p:spPr>
          <a:xfrm flipH="1" flipV="1">
            <a:off x="3105377" y="1209655"/>
            <a:ext cx="605389" cy="6881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060EF01F-F428-F701-C668-7DBAE1CE32FB}"/>
              </a:ext>
            </a:extLst>
          </p:cNvPr>
          <p:cNvSpPr/>
          <p:nvPr/>
        </p:nvSpPr>
        <p:spPr>
          <a:xfrm>
            <a:off x="3793522" y="2637014"/>
            <a:ext cx="1847999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from memory …</a:t>
            </a:r>
            <a:endParaRPr lang="de-AT" noProof="0"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D0374F4B-2E56-6B2A-260C-500DE87C4768}"/>
              </a:ext>
            </a:extLst>
          </p:cNvPr>
          <p:cNvSpPr/>
          <p:nvPr/>
        </p:nvSpPr>
        <p:spPr>
          <a:xfrm>
            <a:off x="3787425" y="2200735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06E0F0F-9E6A-933B-1919-C01A8C7E9945}"/>
              </a:ext>
            </a:extLst>
          </p:cNvPr>
          <p:cNvCxnSpPr>
            <a:cxnSpLocks/>
          </p:cNvCxnSpPr>
          <p:nvPr/>
        </p:nvCxnSpPr>
        <p:spPr>
          <a:xfrm>
            <a:off x="3066460" y="2099252"/>
            <a:ext cx="606006" cy="6147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8808614E-D4E8-0341-7459-CCB7868F1D2D}"/>
              </a:ext>
            </a:extLst>
          </p:cNvPr>
          <p:cNvSpPr txBox="1"/>
          <p:nvPr/>
        </p:nvSpPr>
        <p:spPr>
          <a:xfrm>
            <a:off x="0" y="6241819"/>
            <a:ext cx="953856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dirty="0">
                <a:solidFill>
                  <a:srgbClr val="000000"/>
                </a:solidFill>
                <a:latin typeface="rival-sans"/>
              </a:rPr>
              <a:t>A-MEM: Agentic Memory for LLM Agents (2025)</a:t>
            </a:r>
          </a:p>
          <a:p>
            <a:pPr>
              <a:buNone/>
            </a:pPr>
            <a:r>
              <a:rPr lang="en-US" altLang="zh-CN" sz="1100" dirty="0">
                <a:solidFill>
                  <a:srgbClr val="000000"/>
                </a:solidFill>
                <a:latin typeface="rival-sans"/>
              </a:rPr>
              <a:t>Mem0: Building Production-Ready AI Agents with Scalable Long-Term Memory (2025)</a:t>
            </a:r>
          </a:p>
          <a:p>
            <a:pPr>
              <a:buNone/>
            </a:pPr>
            <a:r>
              <a:rPr lang="en-US" altLang="zh-CN" sz="1100" dirty="0">
                <a:solidFill>
                  <a:srgbClr val="000000"/>
                </a:solidFill>
                <a:latin typeface="rival-sans"/>
              </a:rPr>
              <a:t>Memory OS of AI Agent (2025)</a:t>
            </a:r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5872FBF0-A8FF-350D-F3E0-26EFA0D84CBB}"/>
              </a:ext>
            </a:extLst>
          </p:cNvPr>
          <p:cNvSpPr/>
          <p:nvPr/>
        </p:nvSpPr>
        <p:spPr>
          <a:xfrm>
            <a:off x="68240" y="160840"/>
            <a:ext cx="2247007" cy="620373"/>
          </a:xfrm>
          <a:prstGeom prst="wedgeRoundRectCallout">
            <a:avLst>
              <a:gd name="adj1" fmla="val -21938"/>
              <a:gd name="adj2" fmla="val -26121"/>
              <a:gd name="adj3" fmla="val 16667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File System</a:t>
            </a:r>
          </a:p>
          <a:p>
            <a:pPr algn="ctr"/>
            <a:r>
              <a:rPr lang="en-US" dirty="0"/>
              <a:t>(Add graph, time …)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3624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8BD08-DE1B-7ABA-ECD6-1C2D63547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DF8DED07-DFB7-C335-AE37-61159B87C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3" y="292154"/>
            <a:ext cx="3062205" cy="291282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55270B8-351F-EECF-5CCD-173BE5253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316" y="7424"/>
            <a:ext cx="3032966" cy="2676146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3F8F3D7E-6BA6-9034-CFDC-940458597EB9}"/>
              </a:ext>
            </a:extLst>
          </p:cNvPr>
          <p:cNvSpPr/>
          <p:nvPr/>
        </p:nvSpPr>
        <p:spPr>
          <a:xfrm>
            <a:off x="5565924" y="2033056"/>
            <a:ext cx="337530" cy="159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A2EECA1B-C630-56D7-FD1F-C2AEDEFCBDE2}"/>
              </a:ext>
            </a:extLst>
          </p:cNvPr>
          <p:cNvSpPr/>
          <p:nvPr/>
        </p:nvSpPr>
        <p:spPr>
          <a:xfrm>
            <a:off x="2318499" y="1005216"/>
            <a:ext cx="1031234" cy="340281"/>
          </a:xfrm>
          <a:prstGeom prst="wedgeRoundRectCallout">
            <a:avLst>
              <a:gd name="adj1" fmla="val 23537"/>
              <a:gd name="adj2" fmla="val 43351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Context</a:t>
            </a:r>
            <a:endParaRPr lang="en-GB" dirty="0"/>
          </a:p>
        </p:txBody>
      </p:sp>
      <p:sp>
        <p:nvSpPr>
          <p:cNvPr id="21" name="对话气泡: 圆角矩形 20">
            <a:extLst>
              <a:ext uri="{FF2B5EF4-FFF2-40B4-BE49-F238E27FC236}">
                <a16:creationId xmlns:a16="http://schemas.microsoft.com/office/drawing/2014/main" id="{04C73C57-8D7F-48E9-F804-2B6E3FE856DB}"/>
              </a:ext>
            </a:extLst>
          </p:cNvPr>
          <p:cNvSpPr/>
          <p:nvPr/>
        </p:nvSpPr>
        <p:spPr>
          <a:xfrm>
            <a:off x="249337" y="2078153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Output</a:t>
            </a:r>
            <a:endParaRPr lang="en-GB" dirty="0"/>
          </a:p>
        </p:txBody>
      </p: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id="{E950C5EB-722C-3787-8F79-B9BA4D86ACB7}"/>
              </a:ext>
            </a:extLst>
          </p:cNvPr>
          <p:cNvSpPr/>
          <p:nvPr/>
        </p:nvSpPr>
        <p:spPr>
          <a:xfrm>
            <a:off x="401737" y="199235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Input</a:t>
            </a:r>
            <a:endParaRPr lang="en-GB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7AA8203-1B08-0565-7CFF-6C9623C0D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270" y="3462571"/>
            <a:ext cx="4243460" cy="2802168"/>
          </a:xfrm>
          <a:prstGeom prst="rect">
            <a:avLst/>
          </a:prstGeom>
        </p:spPr>
      </p:pic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2C089EEE-5C0E-D0C8-2966-BFD1E6C299B9}"/>
              </a:ext>
            </a:extLst>
          </p:cNvPr>
          <p:cNvSpPr/>
          <p:nvPr/>
        </p:nvSpPr>
        <p:spPr>
          <a:xfrm>
            <a:off x="4490198" y="4393618"/>
            <a:ext cx="2158251" cy="603832"/>
          </a:xfrm>
          <a:prstGeom prst="wedgeRoundRectCallout">
            <a:avLst>
              <a:gd name="adj1" fmla="val 23537"/>
              <a:gd name="adj2" fmla="val 43351"/>
              <a:gd name="adj3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Context</a:t>
            </a:r>
            <a:endParaRPr lang="en-GB" dirty="0"/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A7EDCF31-2D01-7AB0-3E10-B0F762E62CBF}"/>
              </a:ext>
            </a:extLst>
          </p:cNvPr>
          <p:cNvSpPr/>
          <p:nvPr/>
        </p:nvSpPr>
        <p:spPr>
          <a:xfrm>
            <a:off x="2571442" y="5928497"/>
            <a:ext cx="2730808" cy="542153"/>
          </a:xfrm>
          <a:prstGeom prst="wedgeRoundRectCallout">
            <a:avLst>
              <a:gd name="adj1" fmla="val 23537"/>
              <a:gd name="adj2" fmla="val 43351"/>
              <a:gd name="adj3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Context</a:t>
            </a:r>
            <a:endParaRPr lang="en-GB" dirty="0"/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F4BB3CBC-D698-7B00-EB7A-0D310C7E6F2A}"/>
              </a:ext>
            </a:extLst>
          </p:cNvPr>
          <p:cNvSpPr/>
          <p:nvPr/>
        </p:nvSpPr>
        <p:spPr>
          <a:xfrm>
            <a:off x="5903454" y="3587813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Memory</a:t>
            </a:r>
            <a:endParaRPr lang="en-GB" dirty="0"/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309AFB86-533B-83C7-3021-1E025E3B2088}"/>
              </a:ext>
            </a:extLst>
          </p:cNvPr>
          <p:cNvSpPr/>
          <p:nvPr/>
        </p:nvSpPr>
        <p:spPr>
          <a:xfrm>
            <a:off x="4807783" y="3579018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Prompt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9605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4B028-7D02-D46E-D4C3-2E4545446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3AF05BCF-AE34-D8F6-9DFA-B4389E151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3" y="292154"/>
            <a:ext cx="3062205" cy="291282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E80F508-2746-96ED-EA9D-535F64418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316" y="7424"/>
            <a:ext cx="3032966" cy="2676146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F6230C2E-0589-0FAE-9176-955B05BBD34C}"/>
              </a:ext>
            </a:extLst>
          </p:cNvPr>
          <p:cNvSpPr/>
          <p:nvPr/>
        </p:nvSpPr>
        <p:spPr>
          <a:xfrm>
            <a:off x="5565924" y="2033056"/>
            <a:ext cx="337530" cy="159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16B92BBD-FFF5-EBAE-D047-08C497FCA28D}"/>
              </a:ext>
            </a:extLst>
          </p:cNvPr>
          <p:cNvSpPr/>
          <p:nvPr/>
        </p:nvSpPr>
        <p:spPr>
          <a:xfrm>
            <a:off x="2318499" y="1005216"/>
            <a:ext cx="1031234" cy="340281"/>
          </a:xfrm>
          <a:prstGeom prst="wedgeRoundRectCallout">
            <a:avLst>
              <a:gd name="adj1" fmla="val 23537"/>
              <a:gd name="adj2" fmla="val 43351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Context</a:t>
            </a:r>
            <a:endParaRPr lang="en-GB" dirty="0"/>
          </a:p>
        </p:txBody>
      </p:sp>
      <p:sp>
        <p:nvSpPr>
          <p:cNvPr id="21" name="对话气泡: 圆角矩形 20">
            <a:extLst>
              <a:ext uri="{FF2B5EF4-FFF2-40B4-BE49-F238E27FC236}">
                <a16:creationId xmlns:a16="http://schemas.microsoft.com/office/drawing/2014/main" id="{CE9372DB-84B2-DDAC-6634-6B9B5FCD33F5}"/>
              </a:ext>
            </a:extLst>
          </p:cNvPr>
          <p:cNvSpPr/>
          <p:nvPr/>
        </p:nvSpPr>
        <p:spPr>
          <a:xfrm>
            <a:off x="249337" y="2078153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Output</a:t>
            </a:r>
            <a:endParaRPr lang="en-GB" dirty="0"/>
          </a:p>
        </p:txBody>
      </p: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id="{1FF60FEF-853E-C3EE-B663-20B347EBA915}"/>
              </a:ext>
            </a:extLst>
          </p:cNvPr>
          <p:cNvSpPr/>
          <p:nvPr/>
        </p:nvSpPr>
        <p:spPr>
          <a:xfrm>
            <a:off x="401737" y="199235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Input</a:t>
            </a:r>
            <a:endParaRPr lang="en-GB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8DF707A-9EBC-051A-352C-1E5C3A536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270" y="3462571"/>
            <a:ext cx="4243460" cy="2802168"/>
          </a:xfrm>
          <a:prstGeom prst="rect">
            <a:avLst/>
          </a:prstGeom>
        </p:spPr>
      </p:pic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E08B8A3F-6359-F100-8002-76F437E9ADC6}"/>
              </a:ext>
            </a:extLst>
          </p:cNvPr>
          <p:cNvSpPr/>
          <p:nvPr/>
        </p:nvSpPr>
        <p:spPr>
          <a:xfrm>
            <a:off x="4490198" y="4393618"/>
            <a:ext cx="2158251" cy="603832"/>
          </a:xfrm>
          <a:prstGeom prst="wedgeRoundRectCallout">
            <a:avLst>
              <a:gd name="adj1" fmla="val 23537"/>
              <a:gd name="adj2" fmla="val 43351"/>
              <a:gd name="adj3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Context</a:t>
            </a:r>
            <a:endParaRPr lang="en-GB" dirty="0"/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BB44170D-F499-9DD6-F19A-FE09591439A1}"/>
              </a:ext>
            </a:extLst>
          </p:cNvPr>
          <p:cNvSpPr/>
          <p:nvPr/>
        </p:nvSpPr>
        <p:spPr>
          <a:xfrm>
            <a:off x="2571442" y="5928497"/>
            <a:ext cx="2730808" cy="542153"/>
          </a:xfrm>
          <a:prstGeom prst="wedgeRoundRectCallout">
            <a:avLst>
              <a:gd name="adj1" fmla="val 23537"/>
              <a:gd name="adj2" fmla="val 43351"/>
              <a:gd name="adj3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Context</a:t>
            </a:r>
            <a:endParaRPr lang="en-GB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EFF709-67C4-8618-53E9-1F23FD9486D7}"/>
              </a:ext>
            </a:extLst>
          </p:cNvPr>
          <p:cNvSpPr/>
          <p:nvPr/>
        </p:nvSpPr>
        <p:spPr>
          <a:xfrm>
            <a:off x="5565924" y="3937229"/>
            <a:ext cx="208655" cy="319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C4F83E0F-234E-AA6D-ADE6-A58C7A641D54}"/>
              </a:ext>
            </a:extLst>
          </p:cNvPr>
          <p:cNvSpPr/>
          <p:nvPr/>
        </p:nvSpPr>
        <p:spPr>
          <a:xfrm>
            <a:off x="5903454" y="3587813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Memory</a:t>
            </a:r>
            <a:endParaRPr lang="en-GB" dirty="0"/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D6C44A3C-C4C3-0C63-775D-E8283D0525DD}"/>
              </a:ext>
            </a:extLst>
          </p:cNvPr>
          <p:cNvSpPr/>
          <p:nvPr/>
        </p:nvSpPr>
        <p:spPr>
          <a:xfrm>
            <a:off x="4807783" y="3579018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Prompt</a:t>
            </a:r>
            <a:endParaRPr lang="en-GB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B748DA9-C0BE-DEF5-A6D2-16AD7006EA58}"/>
              </a:ext>
            </a:extLst>
          </p:cNvPr>
          <p:cNvCxnSpPr>
            <a:cxnSpLocks/>
          </p:cNvCxnSpPr>
          <p:nvPr/>
        </p:nvCxnSpPr>
        <p:spPr>
          <a:xfrm flipH="1">
            <a:off x="4647901" y="4287991"/>
            <a:ext cx="1022350" cy="741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FA88363-B956-379A-9606-A0EF9D948A08}"/>
              </a:ext>
            </a:extLst>
          </p:cNvPr>
          <p:cNvSpPr txBox="1"/>
          <p:nvPr/>
        </p:nvSpPr>
        <p:spPr>
          <a:xfrm>
            <a:off x="5302250" y="4485717"/>
            <a:ext cx="2454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Content in C</a:t>
            </a:r>
            <a:r>
              <a:rPr lang="en-US" altLang="zh-CN" sz="1200" dirty="0">
                <a:solidFill>
                  <a:srgbClr val="FF0000"/>
                </a:solidFill>
              </a:rPr>
              <a:t>t</a:t>
            </a:r>
            <a:r>
              <a:rPr lang="en-US" altLang="zh-CN" dirty="0">
                <a:solidFill>
                  <a:srgbClr val="FF0000"/>
                </a:solidFill>
              </a:rPr>
              <a:t> that 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can be fed into the LLM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908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797BE-0F98-A151-6C73-2382C3E20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97C503F4-90C4-EF91-DF5A-376C2BB5C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3" y="292154"/>
            <a:ext cx="3062205" cy="291282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058649E-69F5-45C3-6C7C-527914B29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316" y="7424"/>
            <a:ext cx="3032966" cy="2676146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EE5D7D9-0E90-6C2C-2D9D-A446CA46FF18}"/>
              </a:ext>
            </a:extLst>
          </p:cNvPr>
          <p:cNvSpPr/>
          <p:nvPr/>
        </p:nvSpPr>
        <p:spPr>
          <a:xfrm>
            <a:off x="5565924" y="2033056"/>
            <a:ext cx="337530" cy="159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11713CA2-DBB2-AD2E-1744-522AA2B3FA34}"/>
              </a:ext>
            </a:extLst>
          </p:cNvPr>
          <p:cNvSpPr/>
          <p:nvPr/>
        </p:nvSpPr>
        <p:spPr>
          <a:xfrm>
            <a:off x="2318499" y="1005216"/>
            <a:ext cx="1031234" cy="340281"/>
          </a:xfrm>
          <a:prstGeom prst="wedgeRoundRectCallout">
            <a:avLst>
              <a:gd name="adj1" fmla="val 23537"/>
              <a:gd name="adj2" fmla="val 43351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Context</a:t>
            </a:r>
            <a:endParaRPr lang="en-GB" dirty="0"/>
          </a:p>
        </p:txBody>
      </p:sp>
      <p:sp>
        <p:nvSpPr>
          <p:cNvPr id="21" name="对话气泡: 圆角矩形 20">
            <a:extLst>
              <a:ext uri="{FF2B5EF4-FFF2-40B4-BE49-F238E27FC236}">
                <a16:creationId xmlns:a16="http://schemas.microsoft.com/office/drawing/2014/main" id="{8B451436-702B-5A7E-5A52-01925D03B18C}"/>
              </a:ext>
            </a:extLst>
          </p:cNvPr>
          <p:cNvSpPr/>
          <p:nvPr/>
        </p:nvSpPr>
        <p:spPr>
          <a:xfrm>
            <a:off x="249337" y="2078153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Output</a:t>
            </a:r>
            <a:endParaRPr lang="en-GB" dirty="0"/>
          </a:p>
        </p:txBody>
      </p: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id="{BF68C862-B375-6086-1540-7CFDFE93BBEB}"/>
              </a:ext>
            </a:extLst>
          </p:cNvPr>
          <p:cNvSpPr/>
          <p:nvPr/>
        </p:nvSpPr>
        <p:spPr>
          <a:xfrm>
            <a:off x="401737" y="199235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Input</a:t>
            </a:r>
            <a:endParaRPr lang="en-GB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4EBE239-1510-A300-0CE3-CC37420F2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270" y="3462571"/>
            <a:ext cx="4243460" cy="2802168"/>
          </a:xfrm>
          <a:prstGeom prst="rect">
            <a:avLst/>
          </a:prstGeom>
        </p:spPr>
      </p:pic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0A27E056-9DD7-9D6C-7888-2DF76B4F9253}"/>
              </a:ext>
            </a:extLst>
          </p:cNvPr>
          <p:cNvSpPr/>
          <p:nvPr/>
        </p:nvSpPr>
        <p:spPr>
          <a:xfrm>
            <a:off x="4490198" y="4393618"/>
            <a:ext cx="2158251" cy="603832"/>
          </a:xfrm>
          <a:prstGeom prst="wedgeRoundRectCallout">
            <a:avLst>
              <a:gd name="adj1" fmla="val 23537"/>
              <a:gd name="adj2" fmla="val 43351"/>
              <a:gd name="adj3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Context</a:t>
            </a:r>
            <a:endParaRPr lang="en-GB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3555D3-5485-DDEF-5082-45AF4203433D}"/>
              </a:ext>
            </a:extLst>
          </p:cNvPr>
          <p:cNvSpPr/>
          <p:nvPr/>
        </p:nvSpPr>
        <p:spPr>
          <a:xfrm>
            <a:off x="5565924" y="3937229"/>
            <a:ext cx="208655" cy="319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E0A45619-6EEA-01DA-200C-8A637E38DC50}"/>
              </a:ext>
            </a:extLst>
          </p:cNvPr>
          <p:cNvSpPr/>
          <p:nvPr/>
        </p:nvSpPr>
        <p:spPr>
          <a:xfrm>
            <a:off x="5903454" y="3587813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Memory</a:t>
            </a:r>
            <a:endParaRPr lang="en-GB" dirty="0"/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E71ABC56-1E1A-EE59-0FD8-69A6D818706F}"/>
              </a:ext>
            </a:extLst>
          </p:cNvPr>
          <p:cNvSpPr/>
          <p:nvPr/>
        </p:nvSpPr>
        <p:spPr>
          <a:xfrm>
            <a:off x="4807783" y="3579018"/>
            <a:ext cx="1031234" cy="340281"/>
          </a:xfrm>
          <a:prstGeom prst="wedgeRoundRectCallout">
            <a:avLst>
              <a:gd name="adj1" fmla="val 25917"/>
              <a:gd name="adj2" fmla="val -43216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Prompt</a:t>
            </a:r>
            <a:endParaRPr lang="en-GB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599A783-211D-5CD3-2ED3-FFB58A677D26}"/>
              </a:ext>
            </a:extLst>
          </p:cNvPr>
          <p:cNvCxnSpPr>
            <a:cxnSpLocks/>
          </p:cNvCxnSpPr>
          <p:nvPr/>
        </p:nvCxnSpPr>
        <p:spPr>
          <a:xfrm flipH="1">
            <a:off x="4647901" y="4287991"/>
            <a:ext cx="1022350" cy="741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C661438-774E-9372-0281-66899AA3D93A}"/>
              </a:ext>
            </a:extLst>
          </p:cNvPr>
          <p:cNvSpPr txBox="1"/>
          <p:nvPr/>
        </p:nvSpPr>
        <p:spPr>
          <a:xfrm>
            <a:off x="5302250" y="4485717"/>
            <a:ext cx="2454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Content in C</a:t>
            </a:r>
            <a:r>
              <a:rPr lang="en-US" altLang="zh-CN" sz="1200" dirty="0">
                <a:solidFill>
                  <a:srgbClr val="FF0000"/>
                </a:solidFill>
              </a:rPr>
              <a:t>t</a:t>
            </a:r>
            <a:r>
              <a:rPr lang="en-US" altLang="zh-CN" dirty="0">
                <a:solidFill>
                  <a:srgbClr val="FF0000"/>
                </a:solidFill>
              </a:rPr>
              <a:t> that 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can be fed into the LLM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692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</Words>
  <Application>Microsoft Office PowerPoint</Application>
  <PresentationFormat>全屏显示(4:3)</PresentationFormat>
  <Paragraphs>197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rival-sans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2026-03-31T22:19:29Z</dcterms:created>
  <dcterms:modified xsi:type="dcterms:W3CDTF">2026-04-14T19:34:05Z</dcterms:modified>
  <cp:category/>
</cp:coreProperties>
</file>