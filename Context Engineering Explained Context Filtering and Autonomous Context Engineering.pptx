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notesMasterIdLst>
    <p:notesMasterId r:id="rId35"/>
  </p:notesMasterIdLst>
  <p:sldIdLst>
    <p:sldId id="344" r:id="rId2"/>
    <p:sldId id="345" r:id="rId3"/>
    <p:sldId id="346" r:id="rId4"/>
    <p:sldId id="347" r:id="rId5"/>
    <p:sldId id="348" r:id="rId6"/>
    <p:sldId id="349" r:id="rId7"/>
    <p:sldId id="350" r:id="rId8"/>
    <p:sldId id="351" r:id="rId9"/>
    <p:sldId id="352" r:id="rId10"/>
    <p:sldId id="353" r:id="rId11"/>
    <p:sldId id="354" r:id="rId12"/>
    <p:sldId id="355" r:id="rId13"/>
    <p:sldId id="356" r:id="rId14"/>
    <p:sldId id="357" r:id="rId15"/>
    <p:sldId id="358" r:id="rId16"/>
    <p:sldId id="359" r:id="rId17"/>
    <p:sldId id="261" r:id="rId18"/>
    <p:sldId id="320" r:id="rId19"/>
    <p:sldId id="360" r:id="rId20"/>
    <p:sldId id="361" r:id="rId21"/>
    <p:sldId id="362" r:id="rId22"/>
    <p:sldId id="363" r:id="rId23"/>
    <p:sldId id="364" r:id="rId24"/>
    <p:sldId id="365" r:id="rId25"/>
    <p:sldId id="366" r:id="rId26"/>
    <p:sldId id="367" r:id="rId27"/>
    <p:sldId id="368" r:id="rId28"/>
    <p:sldId id="369" r:id="rId29"/>
    <p:sldId id="370" r:id="rId30"/>
    <p:sldId id="371" r:id="rId31"/>
    <p:sldId id="372" r:id="rId32"/>
    <p:sldId id="374" r:id="rId33"/>
    <p:sldId id="373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886756-6DBF-44B7-AA5C-ABBA08F9CFAF}" v="3" dt="2026-05-14T14:11:54.4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64" y="1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77FDF6-4CAC-47B4-B661-025D4863187C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B0DD67-F2CB-4DF1-B2B4-C2B5335491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999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0DD67-F2CB-4DF1-B2B4-C2B533549107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0029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312C8-67E5-2982-D77A-62BBAA0D3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1D8E38B-1E04-E066-D96C-8B42B18D69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AFFF1E5-0659-FFD6-9C91-22B517529F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B4C6A4-0CFE-DB13-BFF0-377F805774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0DD67-F2CB-4DF1-B2B4-C2B533549107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88135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A65D8-5B2A-4227-7E29-1450A8D01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7B2BB27-F388-04FC-AC53-32CA9E46BB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BFBBAFE-47A9-5279-1F08-BA4CA3C7A9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05AA8E9-9137-7425-49B3-3284E54424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0DD67-F2CB-4DF1-B2B4-C2B533549107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33595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E2114-9D97-67E4-7E77-74DEEFEB4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72A3319-C22E-6263-72BE-524D87530D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EC97320-FD4A-06F4-F7CB-424B8DAC16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95F6731-920C-6749-6342-8CF7385306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0DD67-F2CB-4DF1-B2B4-C2B533549107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86547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AAED7-6847-0230-6AB4-DF0BBA168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E5CC637-4AB2-1AB9-049B-D1E8D403B9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2406622-597A-AE2C-4575-21E0EF9FDE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8D2FA8-5BEC-CC8A-5B07-BF141564C4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0DD67-F2CB-4DF1-B2B4-C2B533549107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45556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A301BFA-C969-EF29-FD2A-719385ECB3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14" y="1522036"/>
            <a:ext cx="3566886" cy="2958894"/>
          </a:xfrm>
          <a:prstGeom prst="rect">
            <a:avLst/>
          </a:prstGeom>
        </p:spPr>
      </p:pic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33726143-716B-0FAF-19C1-47C14649A125}"/>
              </a:ext>
            </a:extLst>
          </p:cNvPr>
          <p:cNvSpPr/>
          <p:nvPr/>
        </p:nvSpPr>
        <p:spPr>
          <a:xfrm>
            <a:off x="813938" y="1354096"/>
            <a:ext cx="1115432" cy="389672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DD956EF9-45B3-52C4-62E8-19DD30DC13EF}"/>
              </a:ext>
            </a:extLst>
          </p:cNvPr>
          <p:cNvSpPr/>
          <p:nvPr/>
        </p:nvSpPr>
        <p:spPr>
          <a:xfrm>
            <a:off x="256222" y="1828229"/>
            <a:ext cx="1115432" cy="389672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687D4544-FAA5-7E51-263F-0A456B236CF8}"/>
              </a:ext>
            </a:extLst>
          </p:cNvPr>
          <p:cNvSpPr/>
          <p:nvPr/>
        </p:nvSpPr>
        <p:spPr>
          <a:xfrm>
            <a:off x="2762356" y="4091258"/>
            <a:ext cx="1115432" cy="389672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00B98CE-13E6-309A-5FD1-9B6D92C9B599}"/>
              </a:ext>
            </a:extLst>
          </p:cNvPr>
          <p:cNvSpPr txBox="1"/>
          <p:nvPr/>
        </p:nvSpPr>
        <p:spPr>
          <a:xfrm>
            <a:off x="256222" y="4714793"/>
            <a:ext cx="4572000" cy="59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99"/>
              </a:lnSpc>
              <a:spcAft>
                <a:spcPts val="900"/>
              </a:spcAft>
              <a:buNone/>
            </a:pPr>
            <a:r>
              <a:rPr lang="en-GB" sz="1200" i="0" noProof="0" dirty="0">
                <a:solidFill>
                  <a:srgbClr val="000000"/>
                </a:solidFill>
                <a:effectLst/>
                <a:latin typeface="Lucida Grande"/>
              </a:rPr>
              <a:t>The Complexity Trap: Simple Observation Masking Is as Efficient as LLM Summarization for Agent Context Management </a:t>
            </a:r>
            <a:r>
              <a:rPr lang="en-GB" sz="1200" noProof="0" dirty="0">
                <a:solidFill>
                  <a:srgbClr val="000000"/>
                </a:solidFill>
                <a:latin typeface="Lucida Grande"/>
              </a:rPr>
              <a:t>(2025)</a:t>
            </a:r>
            <a:endParaRPr lang="en-GB" sz="1200" i="0" noProof="0" dirty="0">
              <a:solidFill>
                <a:srgbClr val="000000"/>
              </a:solidFill>
              <a:effectLst/>
              <a:latin typeface="Lucida Grande"/>
            </a:endParaRPr>
          </a:p>
        </p:txBody>
      </p:sp>
    </p:spTree>
    <p:extLst>
      <p:ext uri="{BB962C8B-B14F-4D97-AF65-F5344CB8AC3E}">
        <p14:creationId xmlns:p14="http://schemas.microsoft.com/office/powerpoint/2010/main" val="2545993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A52EC-F728-A119-734E-4AFAEAE91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2232A3A-1F26-BEA8-B2D6-4E7CAFC229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14" y="1522036"/>
            <a:ext cx="3566886" cy="2958894"/>
          </a:xfrm>
          <a:prstGeom prst="rect">
            <a:avLst/>
          </a:prstGeom>
        </p:spPr>
      </p:pic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BB91F2C3-3E85-BBEC-8DBD-208CB66C38C9}"/>
              </a:ext>
            </a:extLst>
          </p:cNvPr>
          <p:cNvSpPr/>
          <p:nvPr/>
        </p:nvSpPr>
        <p:spPr>
          <a:xfrm>
            <a:off x="2762356" y="4091258"/>
            <a:ext cx="1115432" cy="389672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C15C042-9C1C-6938-F356-AAC59B1053C1}"/>
              </a:ext>
            </a:extLst>
          </p:cNvPr>
          <p:cNvSpPr txBox="1"/>
          <p:nvPr/>
        </p:nvSpPr>
        <p:spPr>
          <a:xfrm>
            <a:off x="256222" y="4714793"/>
            <a:ext cx="4572000" cy="59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99"/>
              </a:lnSpc>
              <a:spcAft>
                <a:spcPts val="900"/>
              </a:spcAft>
              <a:buNone/>
            </a:pPr>
            <a:r>
              <a:rPr lang="en-GB" sz="1200" i="0" noProof="0" dirty="0">
                <a:solidFill>
                  <a:srgbClr val="000000"/>
                </a:solidFill>
                <a:effectLst/>
                <a:latin typeface="Lucida Grande"/>
              </a:rPr>
              <a:t>The Complexity Trap: Simple Observation Masking Is as Efficient as LLM Summarization for Agent Context Management </a:t>
            </a:r>
            <a:r>
              <a:rPr lang="en-GB" sz="1200" noProof="0" dirty="0">
                <a:solidFill>
                  <a:srgbClr val="000000"/>
                </a:solidFill>
                <a:latin typeface="Lucida Grande"/>
              </a:rPr>
              <a:t>(2025)</a:t>
            </a:r>
            <a:endParaRPr lang="en-GB" sz="1200" i="0" noProof="0" dirty="0">
              <a:solidFill>
                <a:srgbClr val="000000"/>
              </a:solidFill>
              <a:effectLst/>
              <a:latin typeface="Lucida Grande"/>
            </a:endParaRPr>
          </a:p>
        </p:txBody>
      </p:sp>
    </p:spTree>
    <p:extLst>
      <p:ext uri="{BB962C8B-B14F-4D97-AF65-F5344CB8AC3E}">
        <p14:creationId xmlns:p14="http://schemas.microsoft.com/office/powerpoint/2010/main" val="1780638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350C0-199F-4D58-4DC7-4301B673D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90A49C5-3714-EEDC-BF65-0312DAB452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14" y="1522036"/>
            <a:ext cx="3566886" cy="2958894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A3A44443-335C-E305-BE36-F06C347A6024}"/>
              </a:ext>
            </a:extLst>
          </p:cNvPr>
          <p:cNvSpPr txBox="1"/>
          <p:nvPr/>
        </p:nvSpPr>
        <p:spPr>
          <a:xfrm>
            <a:off x="256222" y="4714793"/>
            <a:ext cx="4572000" cy="59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99"/>
              </a:lnSpc>
              <a:spcAft>
                <a:spcPts val="900"/>
              </a:spcAft>
              <a:buNone/>
            </a:pPr>
            <a:r>
              <a:rPr lang="en-GB" sz="1200" i="0" noProof="0" dirty="0">
                <a:solidFill>
                  <a:srgbClr val="000000"/>
                </a:solidFill>
                <a:effectLst/>
                <a:latin typeface="Lucida Grande"/>
              </a:rPr>
              <a:t>The Complexity Trap: Simple Observation Masking Is as Efficient as LLM Summarization for Agent Context Management </a:t>
            </a:r>
            <a:r>
              <a:rPr lang="en-GB" sz="1200" noProof="0" dirty="0">
                <a:solidFill>
                  <a:srgbClr val="000000"/>
                </a:solidFill>
                <a:latin typeface="Lucida Grande"/>
              </a:rPr>
              <a:t>(2025)</a:t>
            </a:r>
            <a:endParaRPr lang="en-GB" sz="1200" i="0" noProof="0" dirty="0">
              <a:solidFill>
                <a:srgbClr val="000000"/>
              </a:solidFill>
              <a:effectLst/>
              <a:latin typeface="Lucida Grande"/>
            </a:endParaRPr>
          </a:p>
        </p:txBody>
      </p:sp>
    </p:spTree>
    <p:extLst>
      <p:ext uri="{BB962C8B-B14F-4D97-AF65-F5344CB8AC3E}">
        <p14:creationId xmlns:p14="http://schemas.microsoft.com/office/powerpoint/2010/main" val="4054397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98F72-F250-4420-D52A-EF11340D8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8A5ABAF-FEF9-E90F-2C18-41978AE053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14" y="1522036"/>
            <a:ext cx="3566886" cy="2958894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4E5054B6-8D4C-5B2E-4DC9-9EAB7604A383}"/>
              </a:ext>
            </a:extLst>
          </p:cNvPr>
          <p:cNvSpPr txBox="1"/>
          <p:nvPr/>
        </p:nvSpPr>
        <p:spPr>
          <a:xfrm>
            <a:off x="256222" y="4714793"/>
            <a:ext cx="4572000" cy="59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99"/>
              </a:lnSpc>
              <a:spcAft>
                <a:spcPts val="900"/>
              </a:spcAft>
              <a:buNone/>
            </a:pPr>
            <a:r>
              <a:rPr lang="en-GB" sz="1200" i="0" noProof="0" dirty="0">
                <a:solidFill>
                  <a:srgbClr val="000000"/>
                </a:solidFill>
                <a:effectLst/>
                <a:latin typeface="Lucida Grande"/>
              </a:rPr>
              <a:t>The Complexity Trap: Simple Observation Masking Is as Efficient as LLM Summarization for Agent Context Management </a:t>
            </a:r>
            <a:r>
              <a:rPr lang="en-GB" sz="1200" noProof="0" dirty="0">
                <a:solidFill>
                  <a:srgbClr val="000000"/>
                </a:solidFill>
                <a:latin typeface="Lucida Grande"/>
              </a:rPr>
              <a:t>(2025)</a:t>
            </a:r>
            <a:endParaRPr lang="en-GB" sz="1200" i="0" noProof="0" dirty="0">
              <a:solidFill>
                <a:srgbClr val="000000"/>
              </a:solidFill>
              <a:effectLst/>
              <a:latin typeface="Lucida Grande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107C89A-5BCB-E26B-8E42-BA25FD9A1F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000" y="1071563"/>
            <a:ext cx="4865000" cy="364323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D297BA6-8D08-8BB4-C301-8737928372EB}"/>
              </a:ext>
            </a:extLst>
          </p:cNvPr>
          <p:cNvSpPr txBox="1"/>
          <p:nvPr/>
        </p:nvSpPr>
        <p:spPr>
          <a:xfrm>
            <a:off x="4886378" y="4724499"/>
            <a:ext cx="3650244" cy="59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99"/>
              </a:lnSpc>
              <a:spcAft>
                <a:spcPts val="900"/>
              </a:spcAft>
              <a:buNone/>
            </a:pPr>
            <a:r>
              <a:rPr lang="en-GB" sz="1200" noProof="0" dirty="0">
                <a:solidFill>
                  <a:srgbClr val="000000"/>
                </a:solidFill>
                <a:latin typeface="Lucida Grande"/>
              </a:rPr>
              <a:t>SWE-Pruner: Self-Adaptive Context Pruning for Coding Agents (2026)</a:t>
            </a:r>
            <a:endParaRPr lang="en-GB" sz="1200" i="0" noProof="0" dirty="0">
              <a:solidFill>
                <a:srgbClr val="000000"/>
              </a:solidFill>
              <a:effectLst/>
              <a:latin typeface="Lucida Grande"/>
            </a:endParaRPr>
          </a:p>
        </p:txBody>
      </p:sp>
    </p:spTree>
    <p:extLst>
      <p:ext uri="{BB962C8B-B14F-4D97-AF65-F5344CB8AC3E}">
        <p14:creationId xmlns:p14="http://schemas.microsoft.com/office/powerpoint/2010/main" val="3962880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E2E21-BC0E-0502-DF4D-874C2B294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C44209B5-53EF-7562-5901-4DE5A8BB74B7}"/>
              </a:ext>
            </a:extLst>
          </p:cNvPr>
          <p:cNvSpPr/>
          <p:nvPr/>
        </p:nvSpPr>
        <p:spPr>
          <a:xfrm>
            <a:off x="361086" y="1159260"/>
            <a:ext cx="1289050" cy="3499952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pic>
        <p:nvPicPr>
          <p:cNvPr id="6" name="Picture 4" descr="Big data ">
            <a:extLst>
              <a:ext uri="{FF2B5EF4-FFF2-40B4-BE49-F238E27FC236}">
                <a16:creationId xmlns:a16="http://schemas.microsoft.com/office/drawing/2014/main" id="{D57949CC-6DEA-0B52-E34C-F517C0EEFF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011" y="2299636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50C85F67-9472-E757-328A-385D73B37DBF}"/>
              </a:ext>
            </a:extLst>
          </p:cNvPr>
          <p:cNvSpPr/>
          <p:nvPr/>
        </p:nvSpPr>
        <p:spPr>
          <a:xfrm>
            <a:off x="2033138" y="1159260"/>
            <a:ext cx="1115432" cy="38967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Read(log)</a:t>
            </a: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9DBC6839-3549-CAA5-3155-6838BE7BBBB7}"/>
              </a:ext>
            </a:extLst>
          </p:cNvPr>
          <p:cNvSpPr/>
          <p:nvPr/>
        </p:nvSpPr>
        <p:spPr>
          <a:xfrm>
            <a:off x="2033138" y="1596331"/>
            <a:ext cx="1115432" cy="774335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All Content in log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06439D07-ED0D-F5F0-5821-61F88F5C538D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1733550" y="1354096"/>
            <a:ext cx="2995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319CCD8B-C457-1E20-2005-0526F14E79C7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1733550" y="1983498"/>
            <a:ext cx="29958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Settings ">
            <a:extLst>
              <a:ext uri="{FF2B5EF4-FFF2-40B4-BE49-F238E27FC236}">
                <a16:creationId xmlns:a16="http://schemas.microsoft.com/office/drawing/2014/main" id="{D5FA3324-A5A1-48B4-B29F-78B442C058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1533" y="1354096"/>
            <a:ext cx="699436" cy="699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older ">
            <a:extLst>
              <a:ext uri="{FF2B5EF4-FFF2-40B4-BE49-F238E27FC236}">
                <a16:creationId xmlns:a16="http://schemas.microsoft.com/office/drawing/2014/main" id="{6669BBBE-DB07-B6AE-A3F4-736D7789AC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9967" y="1080436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5F1F6A0D-388B-74B8-8E90-7FE1B74F081B}"/>
              </a:ext>
            </a:extLst>
          </p:cNvPr>
          <p:cNvCxnSpPr>
            <a:cxnSpLocks/>
            <a:endCxn id="1026" idx="1"/>
          </p:cNvCxnSpPr>
          <p:nvPr/>
        </p:nvCxnSpPr>
        <p:spPr>
          <a:xfrm>
            <a:off x="3148570" y="1354096"/>
            <a:ext cx="652963" cy="3497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E043D826-A44A-432D-1E4D-E001893278C2}"/>
              </a:ext>
            </a:extLst>
          </p:cNvPr>
          <p:cNvCxnSpPr>
            <a:cxnSpLocks/>
            <a:endCxn id="1028" idx="1"/>
          </p:cNvCxnSpPr>
          <p:nvPr/>
        </p:nvCxnSpPr>
        <p:spPr>
          <a:xfrm flipV="1">
            <a:off x="4643033" y="1690036"/>
            <a:ext cx="656934" cy="137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71080271-6252-9A1B-70CC-BB6CC016ABA3}"/>
              </a:ext>
            </a:extLst>
          </p:cNvPr>
          <p:cNvSpPr txBox="1"/>
          <p:nvPr/>
        </p:nvSpPr>
        <p:spPr>
          <a:xfrm>
            <a:off x="0" y="6401275"/>
            <a:ext cx="5419711" cy="329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99"/>
              </a:lnSpc>
              <a:spcAft>
                <a:spcPts val="900"/>
              </a:spcAft>
              <a:buNone/>
            </a:pPr>
            <a:r>
              <a:rPr lang="en-GB" sz="1200" noProof="0" dirty="0">
                <a:solidFill>
                  <a:srgbClr val="000000"/>
                </a:solidFill>
                <a:latin typeface="Lucida Grande"/>
              </a:rPr>
              <a:t>SWE-Pruner: Self-Adaptive Context Pruning for Coding Agents (2026)</a:t>
            </a:r>
            <a:endParaRPr lang="en-GB" sz="1200" i="0" noProof="0" dirty="0">
              <a:solidFill>
                <a:srgbClr val="000000"/>
              </a:solidFill>
              <a:effectLst/>
              <a:latin typeface="Lucida Grande"/>
            </a:endParaRPr>
          </a:p>
        </p:txBody>
      </p:sp>
    </p:spTree>
    <p:extLst>
      <p:ext uri="{BB962C8B-B14F-4D97-AF65-F5344CB8AC3E}">
        <p14:creationId xmlns:p14="http://schemas.microsoft.com/office/powerpoint/2010/main" val="1569437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3E6DB-E95D-D929-165E-3414B9B26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D328565A-B1E6-C675-DB00-79E1F9FA3D72}"/>
              </a:ext>
            </a:extLst>
          </p:cNvPr>
          <p:cNvSpPr/>
          <p:nvPr/>
        </p:nvSpPr>
        <p:spPr>
          <a:xfrm>
            <a:off x="361086" y="1159260"/>
            <a:ext cx="1289050" cy="3499952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pic>
        <p:nvPicPr>
          <p:cNvPr id="6" name="Picture 4" descr="Big data ">
            <a:extLst>
              <a:ext uri="{FF2B5EF4-FFF2-40B4-BE49-F238E27FC236}">
                <a16:creationId xmlns:a16="http://schemas.microsoft.com/office/drawing/2014/main" id="{60CBE186-3E07-69D3-1064-A8EDFD6B1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011" y="2299636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E9B2F850-5B5E-36D6-7E77-8C94B66D901C}"/>
              </a:ext>
            </a:extLst>
          </p:cNvPr>
          <p:cNvSpPr/>
          <p:nvPr/>
        </p:nvSpPr>
        <p:spPr>
          <a:xfrm>
            <a:off x="2033138" y="1159260"/>
            <a:ext cx="1115432" cy="38967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Read(log)</a:t>
            </a: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C216690C-AE65-ED3B-EFCF-D812A529F7C8}"/>
              </a:ext>
            </a:extLst>
          </p:cNvPr>
          <p:cNvSpPr/>
          <p:nvPr/>
        </p:nvSpPr>
        <p:spPr>
          <a:xfrm>
            <a:off x="2033138" y="1596331"/>
            <a:ext cx="1115432" cy="774335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All Content in log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8B51DD23-F83F-1C4B-69B1-D38614D3BA89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1733550" y="1354096"/>
            <a:ext cx="2995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6C6705C9-693A-3214-2E5B-1B11A54ADF9A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1733550" y="1983498"/>
            <a:ext cx="29958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Settings ">
            <a:extLst>
              <a:ext uri="{FF2B5EF4-FFF2-40B4-BE49-F238E27FC236}">
                <a16:creationId xmlns:a16="http://schemas.microsoft.com/office/drawing/2014/main" id="{7E22D6E4-3FC2-D29C-A6E1-83EA3663BE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1533" y="1354096"/>
            <a:ext cx="699436" cy="699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older ">
            <a:extLst>
              <a:ext uri="{FF2B5EF4-FFF2-40B4-BE49-F238E27FC236}">
                <a16:creationId xmlns:a16="http://schemas.microsoft.com/office/drawing/2014/main" id="{B4C00038-3DAC-81A8-3484-E5D1FDFBAB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9967" y="1080436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650A3FDC-E04B-4E06-11A6-1D18E92342DA}"/>
              </a:ext>
            </a:extLst>
          </p:cNvPr>
          <p:cNvCxnSpPr>
            <a:cxnSpLocks/>
            <a:endCxn id="1026" idx="1"/>
          </p:cNvCxnSpPr>
          <p:nvPr/>
        </p:nvCxnSpPr>
        <p:spPr>
          <a:xfrm>
            <a:off x="3148570" y="1354096"/>
            <a:ext cx="652963" cy="3497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52345297-BAE1-3428-B931-7D1FD1A75AF4}"/>
              </a:ext>
            </a:extLst>
          </p:cNvPr>
          <p:cNvCxnSpPr>
            <a:cxnSpLocks/>
            <a:endCxn id="1028" idx="1"/>
          </p:cNvCxnSpPr>
          <p:nvPr/>
        </p:nvCxnSpPr>
        <p:spPr>
          <a:xfrm flipV="1">
            <a:off x="4643033" y="1690036"/>
            <a:ext cx="656934" cy="137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30E34908-0C47-C2C0-D22C-8ADCDF82BDBC}"/>
              </a:ext>
            </a:extLst>
          </p:cNvPr>
          <p:cNvCxnSpPr>
            <a:cxnSpLocks/>
          </p:cNvCxnSpPr>
          <p:nvPr/>
        </p:nvCxnSpPr>
        <p:spPr>
          <a:xfrm flipV="1">
            <a:off x="4643033" y="1969720"/>
            <a:ext cx="656934" cy="13778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CDE6D4DF-DE9B-1EF3-389C-AEFD35873268}"/>
              </a:ext>
            </a:extLst>
          </p:cNvPr>
          <p:cNvCxnSpPr>
            <a:cxnSpLocks/>
            <a:endCxn id="10" idx="3"/>
          </p:cNvCxnSpPr>
          <p:nvPr/>
        </p:nvCxnSpPr>
        <p:spPr>
          <a:xfrm flipH="1">
            <a:off x="3148570" y="1828800"/>
            <a:ext cx="534430" cy="1546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D86DC3F5-5671-EECD-035B-ACA5FC6BB95D}"/>
              </a:ext>
            </a:extLst>
          </p:cNvPr>
          <p:cNvSpPr txBox="1"/>
          <p:nvPr/>
        </p:nvSpPr>
        <p:spPr>
          <a:xfrm>
            <a:off x="0" y="6401275"/>
            <a:ext cx="5419711" cy="329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99"/>
              </a:lnSpc>
              <a:spcAft>
                <a:spcPts val="900"/>
              </a:spcAft>
              <a:buNone/>
            </a:pPr>
            <a:r>
              <a:rPr lang="en-GB" sz="1200" noProof="0" dirty="0">
                <a:solidFill>
                  <a:srgbClr val="000000"/>
                </a:solidFill>
                <a:latin typeface="Lucida Grande"/>
              </a:rPr>
              <a:t>SWE-Pruner: Self-Adaptive Context Pruning for Coding Agents (2026)</a:t>
            </a:r>
            <a:endParaRPr lang="en-GB" sz="1200" i="0" noProof="0" dirty="0">
              <a:solidFill>
                <a:srgbClr val="000000"/>
              </a:solidFill>
              <a:effectLst/>
              <a:latin typeface="Lucida Grande"/>
            </a:endParaRPr>
          </a:p>
        </p:txBody>
      </p:sp>
    </p:spTree>
    <p:extLst>
      <p:ext uri="{BB962C8B-B14F-4D97-AF65-F5344CB8AC3E}">
        <p14:creationId xmlns:p14="http://schemas.microsoft.com/office/powerpoint/2010/main" val="3362520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6E789-4B01-E40D-F88B-A40B6C3EC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A79481ED-55FA-4A28-A5E8-6FABEB23920F}"/>
              </a:ext>
            </a:extLst>
          </p:cNvPr>
          <p:cNvSpPr/>
          <p:nvPr/>
        </p:nvSpPr>
        <p:spPr>
          <a:xfrm>
            <a:off x="361086" y="1159260"/>
            <a:ext cx="1289050" cy="3499952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pic>
        <p:nvPicPr>
          <p:cNvPr id="6" name="Picture 4" descr="Big data ">
            <a:extLst>
              <a:ext uri="{FF2B5EF4-FFF2-40B4-BE49-F238E27FC236}">
                <a16:creationId xmlns:a16="http://schemas.microsoft.com/office/drawing/2014/main" id="{9615905F-629B-9A34-D84F-057FD5B0DE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011" y="2299636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0759E15B-54C0-E017-8C8D-A2EDE96B9E30}"/>
              </a:ext>
            </a:extLst>
          </p:cNvPr>
          <p:cNvSpPr/>
          <p:nvPr/>
        </p:nvSpPr>
        <p:spPr>
          <a:xfrm>
            <a:off x="2033138" y="711200"/>
            <a:ext cx="1219200" cy="83773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Read(log</a:t>
            </a:r>
            <a:r>
              <a:rPr lang="en-US" sz="1400" dirty="0"/>
              <a:t>,</a:t>
            </a:r>
            <a:r>
              <a:rPr lang="zh-CN" altLang="en-US" sz="1400" dirty="0"/>
              <a:t> </a:t>
            </a:r>
            <a:r>
              <a:rPr lang="en-US" altLang="zh-CN" sz="1400" dirty="0"/>
              <a:t>“</a:t>
            </a:r>
            <a:r>
              <a:rPr lang="en-US" altLang="zh-CN" sz="1400" b="1" dirty="0"/>
              <a:t>Bug</a:t>
            </a:r>
            <a:r>
              <a:rPr lang="en-US" altLang="zh-CN" sz="1400" dirty="0"/>
              <a:t> </a:t>
            </a:r>
            <a:r>
              <a:rPr lang="en-US" altLang="zh-CN" sz="1400" b="1" dirty="0"/>
              <a:t>fixing</a:t>
            </a:r>
            <a:r>
              <a:rPr lang="en-US" altLang="zh-CN" sz="1400" dirty="0"/>
              <a:t>”</a:t>
            </a:r>
            <a:r>
              <a:rPr lang="en-GB" sz="1400" noProof="0" dirty="0"/>
              <a:t>)</a:t>
            </a: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EBEDA368-01E6-7BCA-DBA3-5395DDD534AE}"/>
              </a:ext>
            </a:extLst>
          </p:cNvPr>
          <p:cNvSpPr/>
          <p:nvPr/>
        </p:nvSpPr>
        <p:spPr>
          <a:xfrm>
            <a:off x="2033138" y="1596331"/>
            <a:ext cx="1115432" cy="774335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Content </a:t>
            </a:r>
            <a:r>
              <a:rPr lang="en-GB" sz="1400" dirty="0"/>
              <a:t>about </a:t>
            </a:r>
            <a:r>
              <a:rPr lang="en-GB" sz="1400" b="1" dirty="0"/>
              <a:t>bug</a:t>
            </a:r>
            <a:endParaRPr lang="en-GB" sz="1400" b="1" noProof="0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F11FF911-A48A-699F-D003-E5C05674D3C0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1733550" y="1130066"/>
            <a:ext cx="299588" cy="2240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ED7FD18C-BC7C-1779-2D0D-97EBE4AE1920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1733550" y="1983498"/>
            <a:ext cx="29958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Settings ">
            <a:extLst>
              <a:ext uri="{FF2B5EF4-FFF2-40B4-BE49-F238E27FC236}">
                <a16:creationId xmlns:a16="http://schemas.microsoft.com/office/drawing/2014/main" id="{F1E1B1BF-76BD-CE32-7387-41DB177229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1533" y="1354096"/>
            <a:ext cx="699436" cy="699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older ">
            <a:extLst>
              <a:ext uri="{FF2B5EF4-FFF2-40B4-BE49-F238E27FC236}">
                <a16:creationId xmlns:a16="http://schemas.microsoft.com/office/drawing/2014/main" id="{4F58EE8E-2A88-E09E-24B1-E65D018C67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9967" y="1080436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60FA734A-BDA0-764D-8A9F-A5321DEFA18C}"/>
              </a:ext>
            </a:extLst>
          </p:cNvPr>
          <p:cNvCxnSpPr>
            <a:cxnSpLocks/>
            <a:stCxn id="9" idx="3"/>
            <a:endCxn id="1026" idx="1"/>
          </p:cNvCxnSpPr>
          <p:nvPr/>
        </p:nvCxnSpPr>
        <p:spPr>
          <a:xfrm>
            <a:off x="3252338" y="1130066"/>
            <a:ext cx="549195" cy="5737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3DA5218E-E57E-A87A-F5FB-129579F92875}"/>
              </a:ext>
            </a:extLst>
          </p:cNvPr>
          <p:cNvCxnSpPr>
            <a:cxnSpLocks/>
            <a:endCxn id="1028" idx="1"/>
          </p:cNvCxnSpPr>
          <p:nvPr/>
        </p:nvCxnSpPr>
        <p:spPr>
          <a:xfrm flipV="1">
            <a:off x="4643033" y="1690036"/>
            <a:ext cx="656934" cy="137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25CDF8BC-2E3B-4070-632B-051139F14979}"/>
              </a:ext>
            </a:extLst>
          </p:cNvPr>
          <p:cNvCxnSpPr>
            <a:cxnSpLocks/>
          </p:cNvCxnSpPr>
          <p:nvPr/>
        </p:nvCxnSpPr>
        <p:spPr>
          <a:xfrm flipV="1">
            <a:off x="4643033" y="1969720"/>
            <a:ext cx="656934" cy="13778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CCA3B78C-A54E-BBF6-B523-692D89B67D64}"/>
              </a:ext>
            </a:extLst>
          </p:cNvPr>
          <p:cNvCxnSpPr>
            <a:cxnSpLocks/>
            <a:endCxn id="10" idx="3"/>
          </p:cNvCxnSpPr>
          <p:nvPr/>
        </p:nvCxnSpPr>
        <p:spPr>
          <a:xfrm flipH="1">
            <a:off x="3148570" y="1828800"/>
            <a:ext cx="534430" cy="1546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8C1AB2A5-B8ED-69BA-4980-F878F434E348}"/>
              </a:ext>
            </a:extLst>
          </p:cNvPr>
          <p:cNvSpPr txBox="1"/>
          <p:nvPr/>
        </p:nvSpPr>
        <p:spPr>
          <a:xfrm>
            <a:off x="0" y="6401275"/>
            <a:ext cx="5419711" cy="329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99"/>
              </a:lnSpc>
              <a:spcAft>
                <a:spcPts val="900"/>
              </a:spcAft>
              <a:buNone/>
            </a:pPr>
            <a:r>
              <a:rPr lang="en-GB" sz="1200" noProof="0" dirty="0">
                <a:solidFill>
                  <a:srgbClr val="000000"/>
                </a:solidFill>
                <a:latin typeface="Lucida Grande"/>
              </a:rPr>
              <a:t>SWE-Pruner: Self-Adaptive Context Pruning for Coding Agents (2026)</a:t>
            </a:r>
            <a:endParaRPr lang="en-GB" sz="1200" i="0" noProof="0" dirty="0">
              <a:solidFill>
                <a:srgbClr val="000000"/>
              </a:solidFill>
              <a:effectLst/>
              <a:latin typeface="Lucida Grande"/>
            </a:endParaRPr>
          </a:p>
        </p:txBody>
      </p:sp>
    </p:spTree>
    <p:extLst>
      <p:ext uri="{BB962C8B-B14F-4D97-AF65-F5344CB8AC3E}">
        <p14:creationId xmlns:p14="http://schemas.microsoft.com/office/powerpoint/2010/main" val="2595110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264EA-1C95-EC45-4614-96713CD1D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6ED3269D-FEA0-8986-1762-27455AEF9410}"/>
              </a:ext>
            </a:extLst>
          </p:cNvPr>
          <p:cNvSpPr/>
          <p:nvPr/>
        </p:nvSpPr>
        <p:spPr>
          <a:xfrm>
            <a:off x="361086" y="1159260"/>
            <a:ext cx="1289050" cy="3499952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pic>
        <p:nvPicPr>
          <p:cNvPr id="6" name="Picture 4" descr="Big data ">
            <a:extLst>
              <a:ext uri="{FF2B5EF4-FFF2-40B4-BE49-F238E27FC236}">
                <a16:creationId xmlns:a16="http://schemas.microsoft.com/office/drawing/2014/main" id="{93388BF2-A9B7-24B1-E18C-5281752CFE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011" y="2299636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D7770B1D-DAB7-94F7-642C-2CE66576F4A7}"/>
              </a:ext>
            </a:extLst>
          </p:cNvPr>
          <p:cNvSpPr/>
          <p:nvPr/>
        </p:nvSpPr>
        <p:spPr>
          <a:xfrm>
            <a:off x="2033138" y="711200"/>
            <a:ext cx="1219200" cy="83773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Read(log</a:t>
            </a:r>
            <a:r>
              <a:rPr lang="en-US" sz="1400" dirty="0"/>
              <a:t>,</a:t>
            </a:r>
            <a:r>
              <a:rPr lang="zh-CN" altLang="en-US" sz="1400" dirty="0"/>
              <a:t> </a:t>
            </a:r>
            <a:r>
              <a:rPr lang="en-US" altLang="zh-CN" sz="1400" dirty="0"/>
              <a:t>“</a:t>
            </a:r>
            <a:r>
              <a:rPr lang="en-US" altLang="zh-CN" sz="1400" b="1" dirty="0"/>
              <a:t>Bug</a:t>
            </a:r>
            <a:r>
              <a:rPr lang="en-US" altLang="zh-CN" sz="1400" dirty="0"/>
              <a:t> </a:t>
            </a:r>
            <a:r>
              <a:rPr lang="en-US" altLang="zh-CN" sz="1400" b="1" dirty="0"/>
              <a:t>fixing</a:t>
            </a:r>
            <a:r>
              <a:rPr lang="en-US" altLang="zh-CN" sz="1400" dirty="0"/>
              <a:t>”</a:t>
            </a:r>
            <a:r>
              <a:rPr lang="en-GB" sz="1400" noProof="0" dirty="0"/>
              <a:t>)</a:t>
            </a: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494FC2F5-F029-45FE-4E15-5DF47E3E727C}"/>
              </a:ext>
            </a:extLst>
          </p:cNvPr>
          <p:cNvSpPr/>
          <p:nvPr/>
        </p:nvSpPr>
        <p:spPr>
          <a:xfrm>
            <a:off x="2033138" y="1596331"/>
            <a:ext cx="1115432" cy="774335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Content </a:t>
            </a:r>
            <a:r>
              <a:rPr lang="en-GB" sz="1400" dirty="0"/>
              <a:t>about </a:t>
            </a:r>
            <a:r>
              <a:rPr lang="en-GB" sz="1400" b="1" dirty="0"/>
              <a:t>bug</a:t>
            </a:r>
            <a:endParaRPr lang="en-GB" sz="1400" b="1" noProof="0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E335FC2E-010D-00DF-C72E-38569EE71867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1733550" y="1130066"/>
            <a:ext cx="299588" cy="2240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7BB6CBE8-D607-A684-BBDA-CB8874008CF8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1733550" y="1983498"/>
            <a:ext cx="29958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Settings ">
            <a:extLst>
              <a:ext uri="{FF2B5EF4-FFF2-40B4-BE49-F238E27FC236}">
                <a16:creationId xmlns:a16="http://schemas.microsoft.com/office/drawing/2014/main" id="{EBAD8387-C8E6-C8AD-88BE-03DD2DFBF0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1533" y="1354096"/>
            <a:ext cx="699436" cy="699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older ">
            <a:extLst>
              <a:ext uri="{FF2B5EF4-FFF2-40B4-BE49-F238E27FC236}">
                <a16:creationId xmlns:a16="http://schemas.microsoft.com/office/drawing/2014/main" id="{93CBFB45-A3E2-671B-44A3-4E3B842CBC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9967" y="1080436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F4BD8C66-3BD9-09F4-E0AA-E3257B8716A2}"/>
              </a:ext>
            </a:extLst>
          </p:cNvPr>
          <p:cNvCxnSpPr>
            <a:cxnSpLocks/>
            <a:stCxn id="9" idx="3"/>
            <a:endCxn id="1026" idx="1"/>
          </p:cNvCxnSpPr>
          <p:nvPr/>
        </p:nvCxnSpPr>
        <p:spPr>
          <a:xfrm>
            <a:off x="3252338" y="1130066"/>
            <a:ext cx="549195" cy="5737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2306BA66-3948-9AA4-752E-33F88D9213EF}"/>
              </a:ext>
            </a:extLst>
          </p:cNvPr>
          <p:cNvCxnSpPr>
            <a:cxnSpLocks/>
            <a:endCxn id="1028" idx="1"/>
          </p:cNvCxnSpPr>
          <p:nvPr/>
        </p:nvCxnSpPr>
        <p:spPr>
          <a:xfrm flipV="1">
            <a:off x="4643033" y="1690036"/>
            <a:ext cx="656934" cy="137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317C7820-5594-CB31-BF1F-8BC237563621}"/>
              </a:ext>
            </a:extLst>
          </p:cNvPr>
          <p:cNvCxnSpPr>
            <a:cxnSpLocks/>
          </p:cNvCxnSpPr>
          <p:nvPr/>
        </p:nvCxnSpPr>
        <p:spPr>
          <a:xfrm flipV="1">
            <a:off x="4643033" y="1969720"/>
            <a:ext cx="656934" cy="13778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B71C07B4-0AAF-7821-7B0D-DCF774181002}"/>
              </a:ext>
            </a:extLst>
          </p:cNvPr>
          <p:cNvCxnSpPr>
            <a:cxnSpLocks/>
            <a:endCxn id="10" idx="3"/>
          </p:cNvCxnSpPr>
          <p:nvPr/>
        </p:nvCxnSpPr>
        <p:spPr>
          <a:xfrm flipH="1">
            <a:off x="3148570" y="1828800"/>
            <a:ext cx="534430" cy="1546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61E415AA-1AE0-317F-7FFF-B36F6F5A000C}"/>
              </a:ext>
            </a:extLst>
          </p:cNvPr>
          <p:cNvSpPr txBox="1"/>
          <p:nvPr/>
        </p:nvSpPr>
        <p:spPr>
          <a:xfrm>
            <a:off x="0" y="6401275"/>
            <a:ext cx="5419711" cy="329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99"/>
              </a:lnSpc>
              <a:spcAft>
                <a:spcPts val="900"/>
              </a:spcAft>
              <a:buNone/>
            </a:pPr>
            <a:r>
              <a:rPr lang="en-GB" sz="1200" noProof="0" dirty="0">
                <a:solidFill>
                  <a:srgbClr val="000000"/>
                </a:solidFill>
                <a:latin typeface="Lucida Grande"/>
              </a:rPr>
              <a:t>SWE-Pruner: Self-Adaptive Context Pruning for Coding Agents (2026)</a:t>
            </a:r>
            <a:endParaRPr lang="en-GB" sz="1200" i="0" noProof="0" dirty="0">
              <a:solidFill>
                <a:srgbClr val="000000"/>
              </a:solidFill>
              <a:effectLst/>
              <a:latin typeface="Lucida Grande"/>
            </a:endParaRPr>
          </a:p>
        </p:txBody>
      </p:sp>
      <p:sp>
        <p:nvSpPr>
          <p:cNvPr id="3" name="对话气泡: 圆角矩形 2">
            <a:extLst>
              <a:ext uri="{FF2B5EF4-FFF2-40B4-BE49-F238E27FC236}">
                <a16:creationId xmlns:a16="http://schemas.microsoft.com/office/drawing/2014/main" id="{45F4AF6C-388A-1752-4F60-B5B30E0BCC77}"/>
              </a:ext>
            </a:extLst>
          </p:cNvPr>
          <p:cNvSpPr/>
          <p:nvPr/>
        </p:nvSpPr>
        <p:spPr>
          <a:xfrm>
            <a:off x="3383369" y="2427246"/>
            <a:ext cx="1219200" cy="699436"/>
          </a:xfrm>
          <a:prstGeom prst="wedgeRoundRectCallout">
            <a:avLst>
              <a:gd name="adj1" fmla="val 22223"/>
              <a:gd name="adj2" fmla="val -91765"/>
              <a:gd name="adj3" fmla="val 16667"/>
            </a:avLst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noProof="0" dirty="0"/>
              <a:t>Filter content not </a:t>
            </a:r>
            <a:r>
              <a:rPr lang="en-GB" sz="1100" dirty="0"/>
              <a:t> related “Bug fixing”</a:t>
            </a:r>
            <a:endParaRPr lang="en-GB" sz="1100" noProof="0" dirty="0"/>
          </a:p>
        </p:txBody>
      </p:sp>
    </p:spTree>
    <p:extLst>
      <p:ext uri="{BB962C8B-B14F-4D97-AF65-F5344CB8AC3E}">
        <p14:creationId xmlns:p14="http://schemas.microsoft.com/office/powerpoint/2010/main" val="2124813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98C9E-AAAC-2CC6-59AA-3B1984759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A77A76FC-0DFF-DCA4-DCA4-4B6709F37296}"/>
              </a:ext>
            </a:extLst>
          </p:cNvPr>
          <p:cNvSpPr/>
          <p:nvPr/>
        </p:nvSpPr>
        <p:spPr>
          <a:xfrm>
            <a:off x="361086" y="1159260"/>
            <a:ext cx="1289050" cy="3499952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pic>
        <p:nvPicPr>
          <p:cNvPr id="6" name="Picture 4" descr="Big data ">
            <a:extLst>
              <a:ext uri="{FF2B5EF4-FFF2-40B4-BE49-F238E27FC236}">
                <a16:creationId xmlns:a16="http://schemas.microsoft.com/office/drawing/2014/main" id="{FA22C7E1-A767-89A7-6C60-F1003F876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011" y="2299636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5AFDC102-B9E7-05AA-282C-330831A7D4A9}"/>
              </a:ext>
            </a:extLst>
          </p:cNvPr>
          <p:cNvSpPr/>
          <p:nvPr/>
        </p:nvSpPr>
        <p:spPr>
          <a:xfrm>
            <a:off x="2033138" y="711200"/>
            <a:ext cx="1219200" cy="83773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Read(log</a:t>
            </a:r>
            <a:r>
              <a:rPr lang="en-US" sz="1400" dirty="0"/>
              <a:t>,</a:t>
            </a:r>
            <a:r>
              <a:rPr lang="zh-CN" altLang="en-US" sz="1400" dirty="0"/>
              <a:t> </a:t>
            </a:r>
            <a:r>
              <a:rPr lang="en-US" altLang="zh-CN" sz="1400" dirty="0"/>
              <a:t>“</a:t>
            </a:r>
            <a:r>
              <a:rPr lang="en-US" altLang="zh-CN" sz="1400" b="1" dirty="0"/>
              <a:t>Bug</a:t>
            </a:r>
            <a:r>
              <a:rPr lang="en-US" altLang="zh-CN" sz="1400" dirty="0"/>
              <a:t> </a:t>
            </a:r>
            <a:r>
              <a:rPr lang="en-US" altLang="zh-CN" sz="1400" b="1" dirty="0"/>
              <a:t>fixing</a:t>
            </a:r>
            <a:r>
              <a:rPr lang="en-US" altLang="zh-CN" sz="1400" dirty="0"/>
              <a:t>”</a:t>
            </a:r>
            <a:r>
              <a:rPr lang="en-GB" sz="1400" noProof="0" dirty="0"/>
              <a:t>)</a:t>
            </a: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A46C0818-8701-4E0C-01DE-E6B551C0AF3D}"/>
              </a:ext>
            </a:extLst>
          </p:cNvPr>
          <p:cNvSpPr/>
          <p:nvPr/>
        </p:nvSpPr>
        <p:spPr>
          <a:xfrm>
            <a:off x="2033138" y="1596331"/>
            <a:ext cx="1115432" cy="774335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Content </a:t>
            </a:r>
            <a:r>
              <a:rPr lang="en-GB" sz="1400" dirty="0"/>
              <a:t>about </a:t>
            </a:r>
            <a:r>
              <a:rPr lang="en-GB" sz="1400" b="1" dirty="0"/>
              <a:t>bug</a:t>
            </a:r>
            <a:endParaRPr lang="en-GB" sz="1400" b="1" noProof="0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15967349-931B-377D-1EB4-1C09948D3D06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1733550" y="1130066"/>
            <a:ext cx="299588" cy="2240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34648EAF-D408-A969-857B-79461C078E82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1733550" y="1983498"/>
            <a:ext cx="29958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Settings ">
            <a:extLst>
              <a:ext uri="{FF2B5EF4-FFF2-40B4-BE49-F238E27FC236}">
                <a16:creationId xmlns:a16="http://schemas.microsoft.com/office/drawing/2014/main" id="{A8C9FC23-7F2C-E525-7CFC-B8DFBD2BEA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1533" y="1354096"/>
            <a:ext cx="699436" cy="699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older ">
            <a:extLst>
              <a:ext uri="{FF2B5EF4-FFF2-40B4-BE49-F238E27FC236}">
                <a16:creationId xmlns:a16="http://schemas.microsoft.com/office/drawing/2014/main" id="{A538AC0D-5932-94C8-50F0-E4A4C08F85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9967" y="1080436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7EDCC64F-D67B-654A-BBEB-61A5FE707CDD}"/>
              </a:ext>
            </a:extLst>
          </p:cNvPr>
          <p:cNvCxnSpPr>
            <a:cxnSpLocks/>
            <a:stCxn id="9" idx="3"/>
            <a:endCxn id="1026" idx="1"/>
          </p:cNvCxnSpPr>
          <p:nvPr/>
        </p:nvCxnSpPr>
        <p:spPr>
          <a:xfrm>
            <a:off x="3252338" y="1130066"/>
            <a:ext cx="549195" cy="5737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B1FAF85D-2DA8-E8B8-FAFF-6C0AC67B745E}"/>
              </a:ext>
            </a:extLst>
          </p:cNvPr>
          <p:cNvCxnSpPr>
            <a:cxnSpLocks/>
            <a:endCxn id="1028" idx="1"/>
          </p:cNvCxnSpPr>
          <p:nvPr/>
        </p:nvCxnSpPr>
        <p:spPr>
          <a:xfrm flipV="1">
            <a:off x="4643033" y="1690036"/>
            <a:ext cx="656934" cy="137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8E4E9CB5-218C-AB7A-80A6-E3BC93D67180}"/>
              </a:ext>
            </a:extLst>
          </p:cNvPr>
          <p:cNvCxnSpPr>
            <a:cxnSpLocks/>
          </p:cNvCxnSpPr>
          <p:nvPr/>
        </p:nvCxnSpPr>
        <p:spPr>
          <a:xfrm flipV="1">
            <a:off x="4643033" y="1969720"/>
            <a:ext cx="656934" cy="13778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DC7909C3-583B-B3D3-CF0C-0959C6914320}"/>
              </a:ext>
            </a:extLst>
          </p:cNvPr>
          <p:cNvCxnSpPr>
            <a:cxnSpLocks/>
            <a:endCxn id="10" idx="3"/>
          </p:cNvCxnSpPr>
          <p:nvPr/>
        </p:nvCxnSpPr>
        <p:spPr>
          <a:xfrm flipH="1">
            <a:off x="3148570" y="1828800"/>
            <a:ext cx="534430" cy="1546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D4EE5DB6-559F-945D-278A-A084DC459496}"/>
              </a:ext>
            </a:extLst>
          </p:cNvPr>
          <p:cNvSpPr txBox="1"/>
          <p:nvPr/>
        </p:nvSpPr>
        <p:spPr>
          <a:xfrm>
            <a:off x="0" y="6401275"/>
            <a:ext cx="5419711" cy="329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99"/>
              </a:lnSpc>
              <a:spcAft>
                <a:spcPts val="900"/>
              </a:spcAft>
              <a:buNone/>
            </a:pPr>
            <a:r>
              <a:rPr lang="en-GB" sz="1200" noProof="0" dirty="0">
                <a:solidFill>
                  <a:srgbClr val="000000"/>
                </a:solidFill>
                <a:latin typeface="Lucida Grande"/>
              </a:rPr>
              <a:t>SWE-Pruner: Self-Adaptive Context Pruning for Coding Agents (2026)</a:t>
            </a:r>
            <a:endParaRPr lang="en-GB" sz="1200" i="0" noProof="0" dirty="0">
              <a:solidFill>
                <a:srgbClr val="000000"/>
              </a:solidFill>
              <a:effectLst/>
              <a:latin typeface="Lucida Grande"/>
            </a:endParaRPr>
          </a:p>
        </p:txBody>
      </p:sp>
      <p:sp>
        <p:nvSpPr>
          <p:cNvPr id="3" name="对话气泡: 圆角矩形 2">
            <a:extLst>
              <a:ext uri="{FF2B5EF4-FFF2-40B4-BE49-F238E27FC236}">
                <a16:creationId xmlns:a16="http://schemas.microsoft.com/office/drawing/2014/main" id="{93337D21-4D2C-CFF5-E68B-A98BA2F6C32C}"/>
              </a:ext>
            </a:extLst>
          </p:cNvPr>
          <p:cNvSpPr/>
          <p:nvPr/>
        </p:nvSpPr>
        <p:spPr>
          <a:xfrm>
            <a:off x="3383369" y="2427246"/>
            <a:ext cx="1219200" cy="699436"/>
          </a:xfrm>
          <a:prstGeom prst="wedgeRoundRectCallout">
            <a:avLst>
              <a:gd name="adj1" fmla="val 22223"/>
              <a:gd name="adj2" fmla="val -91765"/>
              <a:gd name="adj3" fmla="val 16667"/>
            </a:avLst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noProof="0" dirty="0"/>
              <a:t>Filter content not </a:t>
            </a:r>
            <a:r>
              <a:rPr lang="en-GB" sz="1100" dirty="0"/>
              <a:t> related “Bug fixing”</a:t>
            </a:r>
            <a:endParaRPr lang="en-GB" sz="1100" noProof="0" dirty="0"/>
          </a:p>
        </p:txBody>
      </p:sp>
      <p:sp>
        <p:nvSpPr>
          <p:cNvPr id="8" name="对话气泡: 圆角矩形 7">
            <a:extLst>
              <a:ext uri="{FF2B5EF4-FFF2-40B4-BE49-F238E27FC236}">
                <a16:creationId xmlns:a16="http://schemas.microsoft.com/office/drawing/2014/main" id="{C16BACE7-DDBD-DE7A-C3C2-A4E90C7ABA4C}"/>
              </a:ext>
            </a:extLst>
          </p:cNvPr>
          <p:cNvSpPr/>
          <p:nvPr/>
        </p:nvSpPr>
        <p:spPr>
          <a:xfrm>
            <a:off x="3551926" y="447967"/>
            <a:ext cx="1383364" cy="521256"/>
          </a:xfrm>
          <a:prstGeom prst="wedgeRoundRectCallout">
            <a:avLst>
              <a:gd name="adj1" fmla="val -19395"/>
              <a:gd name="adj2" fmla="val 98284"/>
              <a:gd name="adj3" fmla="val 16667"/>
            </a:avLst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099"/>
              </a:lnSpc>
              <a:spcAft>
                <a:spcPts val="900"/>
              </a:spcAft>
            </a:pPr>
            <a:r>
              <a:rPr lang="en-GB" altLang="zh-CN" sz="1100" dirty="0">
                <a:solidFill>
                  <a:schemeClr val="bg1"/>
                </a:solidFill>
                <a:latin typeface="Lucida Grande"/>
              </a:rPr>
              <a:t>Small LM (</a:t>
            </a:r>
            <a:r>
              <a:rPr lang="en-GB" altLang="zh-CN" sz="1100" b="1" dirty="0">
                <a:solidFill>
                  <a:schemeClr val="bg1"/>
                </a:solidFill>
                <a:latin typeface="Lucida Grande"/>
              </a:rPr>
              <a:t>trained</a:t>
            </a:r>
            <a:r>
              <a:rPr lang="en-GB" altLang="zh-CN" sz="1100" dirty="0">
                <a:solidFill>
                  <a:schemeClr val="bg1"/>
                </a:solidFill>
                <a:latin typeface="Lucida Grande"/>
              </a:rPr>
              <a:t> for this task?)</a:t>
            </a:r>
          </a:p>
        </p:txBody>
      </p:sp>
    </p:spTree>
    <p:extLst>
      <p:ext uri="{BB962C8B-B14F-4D97-AF65-F5344CB8AC3E}">
        <p14:creationId xmlns:p14="http://schemas.microsoft.com/office/powerpoint/2010/main" val="2042395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62C45-F572-CE81-A1A1-4AE667982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A46BB862-A8A2-FBAC-ADFF-AFE59E1213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609" y="1247247"/>
            <a:ext cx="7937957" cy="1233488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C1294544-CC48-5B6B-64BA-1322639139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3745" y="2770716"/>
            <a:ext cx="6657975" cy="1028700"/>
          </a:xfrm>
          <a:prstGeom prst="rect">
            <a:avLst/>
          </a:prstGeom>
        </p:spPr>
      </p:pic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18AB9874-12B2-C2FA-B633-9B1E6170B6EE}"/>
              </a:ext>
            </a:extLst>
          </p:cNvPr>
          <p:cNvSpPr/>
          <p:nvPr/>
        </p:nvSpPr>
        <p:spPr>
          <a:xfrm>
            <a:off x="1303338" y="2207683"/>
            <a:ext cx="1414462" cy="273051"/>
          </a:xfrm>
          <a:prstGeom prst="round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BDB93730-124B-8600-61DB-0B00B22BBDE8}"/>
              </a:ext>
            </a:extLst>
          </p:cNvPr>
          <p:cNvCxnSpPr>
            <a:stCxn id="26" idx="2"/>
          </p:cNvCxnSpPr>
          <p:nvPr/>
        </p:nvCxnSpPr>
        <p:spPr>
          <a:xfrm flipH="1">
            <a:off x="1998133" y="2480734"/>
            <a:ext cx="12436" cy="57573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67246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7919F-95FF-6D91-3A3A-148B3001C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0B09F938-54A2-A67A-7438-E5359A70AEB5}"/>
              </a:ext>
            </a:extLst>
          </p:cNvPr>
          <p:cNvSpPr txBox="1"/>
          <p:nvPr/>
        </p:nvSpPr>
        <p:spPr>
          <a:xfrm>
            <a:off x="-1" y="6415529"/>
            <a:ext cx="4919133" cy="3291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2099"/>
              </a:lnSpc>
              <a:spcAft>
                <a:spcPts val="900"/>
              </a:spcAft>
              <a:buNone/>
              <a:defRPr sz="1200">
                <a:solidFill>
                  <a:srgbClr val="000000"/>
                </a:solidFill>
                <a:latin typeface="Lucida Grande"/>
              </a:defRPr>
            </a:lvl1pPr>
          </a:lstStyle>
          <a:p>
            <a:r>
              <a:rPr lang="en-US" altLang="zh-CN" dirty="0"/>
              <a:t>MCP-Zero: Active Tool Discovery for Autonomous LLM Agents (2025)</a:t>
            </a:r>
          </a:p>
        </p:txBody>
      </p:sp>
      <p:sp>
        <p:nvSpPr>
          <p:cNvPr id="3" name="Rounded Rectangle 3">
            <a:extLst>
              <a:ext uri="{FF2B5EF4-FFF2-40B4-BE49-F238E27FC236}">
                <a16:creationId xmlns:a16="http://schemas.microsoft.com/office/drawing/2014/main" id="{54512E2B-3905-519E-9888-A63F50675D5C}"/>
              </a:ext>
            </a:extLst>
          </p:cNvPr>
          <p:cNvSpPr/>
          <p:nvPr/>
        </p:nvSpPr>
        <p:spPr>
          <a:xfrm>
            <a:off x="356738" y="2323040"/>
            <a:ext cx="1488994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A088E89-9476-9626-48D6-51006E569605}"/>
              </a:ext>
            </a:extLst>
          </p:cNvPr>
          <p:cNvSpPr/>
          <p:nvPr/>
        </p:nvSpPr>
        <p:spPr>
          <a:xfrm>
            <a:off x="356737" y="329868"/>
            <a:ext cx="1488995" cy="150605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400" noProof="0" dirty="0"/>
              <a:t>System Prompt</a:t>
            </a:r>
          </a:p>
        </p:txBody>
      </p:sp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7000E29C-40B2-D938-1017-66CF28F2C7D2}"/>
              </a:ext>
            </a:extLst>
          </p:cNvPr>
          <p:cNvSpPr/>
          <p:nvPr/>
        </p:nvSpPr>
        <p:spPr>
          <a:xfrm>
            <a:off x="363490" y="1885968"/>
            <a:ext cx="1482241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4780DD9D-7066-CD43-1444-610740BBE79D}"/>
              </a:ext>
            </a:extLst>
          </p:cNvPr>
          <p:cNvSpPr/>
          <p:nvPr/>
        </p:nvSpPr>
        <p:spPr>
          <a:xfrm>
            <a:off x="363491" y="2760112"/>
            <a:ext cx="1482240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575DF4C0-FC09-2B02-1E41-C591EC4A73B6}"/>
              </a:ext>
            </a:extLst>
          </p:cNvPr>
          <p:cNvSpPr/>
          <p:nvPr/>
        </p:nvSpPr>
        <p:spPr>
          <a:xfrm>
            <a:off x="363490" y="3199832"/>
            <a:ext cx="1482241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…</a:t>
            </a:r>
          </a:p>
        </p:txBody>
      </p:sp>
      <p:sp>
        <p:nvSpPr>
          <p:cNvPr id="13" name="Rounded Rectangle 3">
            <a:extLst>
              <a:ext uri="{FF2B5EF4-FFF2-40B4-BE49-F238E27FC236}">
                <a16:creationId xmlns:a16="http://schemas.microsoft.com/office/drawing/2014/main" id="{FC3486B7-D1B4-F8ED-FA63-89C022C80E4A}"/>
              </a:ext>
            </a:extLst>
          </p:cNvPr>
          <p:cNvSpPr/>
          <p:nvPr/>
        </p:nvSpPr>
        <p:spPr>
          <a:xfrm>
            <a:off x="448158" y="740073"/>
            <a:ext cx="1304442" cy="658776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/>
              <a:t>All Tools</a:t>
            </a:r>
            <a:endParaRPr lang="en-GB" sz="1400" b="1" noProof="0" dirty="0"/>
          </a:p>
        </p:txBody>
      </p:sp>
    </p:spTree>
    <p:extLst>
      <p:ext uri="{BB962C8B-B14F-4D97-AF65-F5344CB8AC3E}">
        <p14:creationId xmlns:p14="http://schemas.microsoft.com/office/powerpoint/2010/main" val="12635396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2A088-4F25-CAB3-3E5D-5EFB25987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968AA0E8-E218-9966-B4B3-D32AC77F4BDF}"/>
              </a:ext>
            </a:extLst>
          </p:cNvPr>
          <p:cNvSpPr txBox="1"/>
          <p:nvPr/>
        </p:nvSpPr>
        <p:spPr>
          <a:xfrm>
            <a:off x="-1" y="6415529"/>
            <a:ext cx="4919133" cy="3291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2099"/>
              </a:lnSpc>
              <a:spcAft>
                <a:spcPts val="900"/>
              </a:spcAft>
              <a:buNone/>
              <a:defRPr sz="1200">
                <a:solidFill>
                  <a:srgbClr val="000000"/>
                </a:solidFill>
                <a:latin typeface="Lucida Grande"/>
              </a:defRPr>
            </a:lvl1pPr>
          </a:lstStyle>
          <a:p>
            <a:r>
              <a:rPr lang="en-US" altLang="zh-CN" dirty="0"/>
              <a:t>MCP-Zero: Active Tool Discovery for Autonomous LLM Agents (2025)</a:t>
            </a:r>
          </a:p>
        </p:txBody>
      </p:sp>
      <p:sp>
        <p:nvSpPr>
          <p:cNvPr id="3" name="Rounded Rectangle 3">
            <a:extLst>
              <a:ext uri="{FF2B5EF4-FFF2-40B4-BE49-F238E27FC236}">
                <a16:creationId xmlns:a16="http://schemas.microsoft.com/office/drawing/2014/main" id="{C9C615C5-5051-B74C-D88F-C48254F48CF4}"/>
              </a:ext>
            </a:extLst>
          </p:cNvPr>
          <p:cNvSpPr/>
          <p:nvPr/>
        </p:nvSpPr>
        <p:spPr>
          <a:xfrm>
            <a:off x="356738" y="2323040"/>
            <a:ext cx="1488994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7B70B3D-E3E4-3404-7AB5-8C15A5B12C5B}"/>
              </a:ext>
            </a:extLst>
          </p:cNvPr>
          <p:cNvSpPr/>
          <p:nvPr/>
        </p:nvSpPr>
        <p:spPr>
          <a:xfrm>
            <a:off x="356737" y="329868"/>
            <a:ext cx="1488995" cy="150605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400" noProof="0" dirty="0"/>
              <a:t>System Prompt</a:t>
            </a:r>
          </a:p>
        </p:txBody>
      </p:sp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81DC8A52-9D99-1055-E8CC-ECCBB5C73DF0}"/>
              </a:ext>
            </a:extLst>
          </p:cNvPr>
          <p:cNvSpPr/>
          <p:nvPr/>
        </p:nvSpPr>
        <p:spPr>
          <a:xfrm>
            <a:off x="363490" y="1885968"/>
            <a:ext cx="1482241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AC8FFEB8-7676-E4A3-A656-BED74F60D156}"/>
              </a:ext>
            </a:extLst>
          </p:cNvPr>
          <p:cNvSpPr/>
          <p:nvPr/>
        </p:nvSpPr>
        <p:spPr>
          <a:xfrm>
            <a:off x="363491" y="2760112"/>
            <a:ext cx="1482240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12DB83F6-8629-ACDB-91F5-C03E0C256DD0}"/>
              </a:ext>
            </a:extLst>
          </p:cNvPr>
          <p:cNvSpPr/>
          <p:nvPr/>
        </p:nvSpPr>
        <p:spPr>
          <a:xfrm>
            <a:off x="363490" y="3199832"/>
            <a:ext cx="1482241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…</a:t>
            </a:r>
          </a:p>
        </p:txBody>
      </p:sp>
      <p:sp>
        <p:nvSpPr>
          <p:cNvPr id="13" name="Rounded Rectangle 3">
            <a:extLst>
              <a:ext uri="{FF2B5EF4-FFF2-40B4-BE49-F238E27FC236}">
                <a16:creationId xmlns:a16="http://schemas.microsoft.com/office/drawing/2014/main" id="{98E8DEA1-F51F-AAFC-3375-AC1016A07606}"/>
              </a:ext>
            </a:extLst>
          </p:cNvPr>
          <p:cNvSpPr/>
          <p:nvPr/>
        </p:nvSpPr>
        <p:spPr>
          <a:xfrm>
            <a:off x="448158" y="740073"/>
            <a:ext cx="1304442" cy="658776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/>
              <a:t>All Tools</a:t>
            </a:r>
            <a:endParaRPr lang="en-GB" sz="1400" b="1" noProof="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C9501F9-3B7C-D67C-0378-E97264C3DA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7394" y="113342"/>
            <a:ext cx="4943475" cy="2667000"/>
          </a:xfrm>
          <a:prstGeom prst="rect">
            <a:avLst/>
          </a:prstGeom>
        </p:spPr>
      </p:pic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80B3E3C9-C2D9-7807-9851-45DE84FDA2B6}"/>
              </a:ext>
            </a:extLst>
          </p:cNvPr>
          <p:cNvCxnSpPr>
            <a:stCxn id="4" idx="3"/>
            <a:endCxn id="8" idx="1"/>
          </p:cNvCxnSpPr>
          <p:nvPr/>
        </p:nvCxnSpPr>
        <p:spPr>
          <a:xfrm>
            <a:off x="1845732" y="1082894"/>
            <a:ext cx="601662" cy="3639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738A0655-CD8A-6DC6-E559-F7B63ABF9E21}"/>
              </a:ext>
            </a:extLst>
          </p:cNvPr>
          <p:cNvSpPr txBox="1"/>
          <p:nvPr/>
        </p:nvSpPr>
        <p:spPr>
          <a:xfrm>
            <a:off x="2471736" y="2718974"/>
            <a:ext cx="4919133" cy="3291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2099"/>
              </a:lnSpc>
              <a:spcAft>
                <a:spcPts val="900"/>
              </a:spcAft>
              <a:buNone/>
              <a:defRPr sz="1200">
                <a:solidFill>
                  <a:srgbClr val="000000"/>
                </a:solidFill>
                <a:latin typeface="Lucida Grande"/>
              </a:defRPr>
            </a:lvl1pPr>
          </a:lstStyle>
          <a:p>
            <a:r>
              <a:rPr lang="en-US" altLang="zh-CN" b="1" dirty="0"/>
              <a:t>The </a:t>
            </a:r>
            <a:r>
              <a:rPr lang="en-US" altLang="zh-CN" b="1" dirty="0" err="1"/>
              <a:t>Github</a:t>
            </a:r>
            <a:r>
              <a:rPr lang="en-US" altLang="zh-CN" b="1" dirty="0"/>
              <a:t> tools require more than 4,600 tokens.</a:t>
            </a:r>
          </a:p>
        </p:txBody>
      </p:sp>
    </p:spTree>
    <p:extLst>
      <p:ext uri="{BB962C8B-B14F-4D97-AF65-F5344CB8AC3E}">
        <p14:creationId xmlns:p14="http://schemas.microsoft.com/office/powerpoint/2010/main" val="32839943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09205-91F6-95A1-3922-A0AA89011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DB534311-64BD-4E5C-A4CE-5245337F29C3}"/>
              </a:ext>
            </a:extLst>
          </p:cNvPr>
          <p:cNvSpPr txBox="1"/>
          <p:nvPr/>
        </p:nvSpPr>
        <p:spPr>
          <a:xfrm>
            <a:off x="-1" y="6415529"/>
            <a:ext cx="4919133" cy="3291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2099"/>
              </a:lnSpc>
              <a:spcAft>
                <a:spcPts val="900"/>
              </a:spcAft>
              <a:buNone/>
              <a:defRPr sz="1200">
                <a:solidFill>
                  <a:srgbClr val="000000"/>
                </a:solidFill>
                <a:latin typeface="Lucida Grande"/>
              </a:defRPr>
            </a:lvl1pPr>
          </a:lstStyle>
          <a:p>
            <a:r>
              <a:rPr lang="en-US" altLang="zh-CN" dirty="0"/>
              <a:t>MCP-Zero: Active Tool Discovery for Autonomous LLM Agents (2025)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3C7F387-EEC4-FB94-4F94-9D7B88C7CB2C}"/>
              </a:ext>
            </a:extLst>
          </p:cNvPr>
          <p:cNvSpPr/>
          <p:nvPr/>
        </p:nvSpPr>
        <p:spPr>
          <a:xfrm>
            <a:off x="356737" y="1446246"/>
            <a:ext cx="1488995" cy="389673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400" noProof="0" dirty="0"/>
              <a:t>System Prompt</a:t>
            </a:r>
          </a:p>
        </p:txBody>
      </p:sp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4FCB84F3-4B0A-7FC1-DC75-9333A6B07273}"/>
              </a:ext>
            </a:extLst>
          </p:cNvPr>
          <p:cNvSpPr/>
          <p:nvPr/>
        </p:nvSpPr>
        <p:spPr>
          <a:xfrm>
            <a:off x="363490" y="1885968"/>
            <a:ext cx="1482241" cy="389672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Task</a:t>
            </a:r>
          </a:p>
        </p:txBody>
      </p:sp>
      <p:sp>
        <p:nvSpPr>
          <p:cNvPr id="2" name="Rounded Rectangle 3">
            <a:extLst>
              <a:ext uri="{FF2B5EF4-FFF2-40B4-BE49-F238E27FC236}">
                <a16:creationId xmlns:a16="http://schemas.microsoft.com/office/drawing/2014/main" id="{4380D91F-AD32-8625-3839-825A5D6211AC}"/>
              </a:ext>
            </a:extLst>
          </p:cNvPr>
          <p:cNvSpPr/>
          <p:nvPr/>
        </p:nvSpPr>
        <p:spPr>
          <a:xfrm>
            <a:off x="6298625" y="1751416"/>
            <a:ext cx="1304442" cy="658776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/>
              <a:t>All Tools</a:t>
            </a:r>
            <a:endParaRPr lang="en-GB" sz="1400" b="1" noProof="0" dirty="0"/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E88AFD8E-3D9C-4829-0CA2-6678C6306111}"/>
              </a:ext>
            </a:extLst>
          </p:cNvPr>
          <p:cNvSpPr/>
          <p:nvPr/>
        </p:nvSpPr>
        <p:spPr>
          <a:xfrm>
            <a:off x="3106692" y="1751416"/>
            <a:ext cx="1304442" cy="658776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/>
              <a:t>Search Engine</a:t>
            </a:r>
            <a:endParaRPr lang="en-GB" sz="1400" b="1" noProof="0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817E6395-CCDF-C058-F681-AED38CAEB621}"/>
              </a:ext>
            </a:extLst>
          </p:cNvPr>
          <p:cNvCxnSpPr>
            <a:stCxn id="5" idx="3"/>
            <a:endCxn id="9" idx="1"/>
          </p:cNvCxnSpPr>
          <p:nvPr/>
        </p:nvCxnSpPr>
        <p:spPr>
          <a:xfrm>
            <a:off x="1845731" y="2080804"/>
            <a:ext cx="126096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1E3DDE16-EB00-C3C0-CC50-6214B375C27D}"/>
              </a:ext>
            </a:extLst>
          </p:cNvPr>
          <p:cNvCxnSpPr>
            <a:cxnSpLocks/>
          </p:cNvCxnSpPr>
          <p:nvPr/>
        </p:nvCxnSpPr>
        <p:spPr>
          <a:xfrm>
            <a:off x="4572000" y="1885968"/>
            <a:ext cx="16425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4A9231B7-4F68-2387-55D5-81DF85799BEE}"/>
              </a:ext>
            </a:extLst>
          </p:cNvPr>
          <p:cNvCxnSpPr>
            <a:cxnSpLocks/>
          </p:cNvCxnSpPr>
          <p:nvPr/>
        </p:nvCxnSpPr>
        <p:spPr>
          <a:xfrm>
            <a:off x="4572000" y="2231208"/>
            <a:ext cx="1642533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10928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F76B1-CF5D-282D-38C4-AE52F4916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5CD03D0C-E6B2-969D-39D8-7AB6934F22BC}"/>
              </a:ext>
            </a:extLst>
          </p:cNvPr>
          <p:cNvSpPr txBox="1"/>
          <p:nvPr/>
        </p:nvSpPr>
        <p:spPr>
          <a:xfrm>
            <a:off x="-1" y="6415529"/>
            <a:ext cx="4919133" cy="3291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2099"/>
              </a:lnSpc>
              <a:spcAft>
                <a:spcPts val="900"/>
              </a:spcAft>
              <a:buNone/>
              <a:defRPr sz="1200">
                <a:solidFill>
                  <a:srgbClr val="000000"/>
                </a:solidFill>
                <a:latin typeface="Lucida Grande"/>
              </a:defRPr>
            </a:lvl1pPr>
          </a:lstStyle>
          <a:p>
            <a:r>
              <a:rPr lang="en-US" altLang="zh-CN" dirty="0"/>
              <a:t>MCP-Zero: Active Tool Discovery for Autonomous LLM Agents (2025)</a:t>
            </a:r>
          </a:p>
        </p:txBody>
      </p:sp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34C20E3C-34BE-31FC-FFD1-97B1CDAAA9BA}"/>
              </a:ext>
            </a:extLst>
          </p:cNvPr>
          <p:cNvSpPr/>
          <p:nvPr/>
        </p:nvSpPr>
        <p:spPr>
          <a:xfrm>
            <a:off x="363490" y="1885968"/>
            <a:ext cx="1482241" cy="389672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Task</a:t>
            </a:r>
          </a:p>
        </p:txBody>
      </p:sp>
      <p:sp>
        <p:nvSpPr>
          <p:cNvPr id="2" name="Rounded Rectangle 3">
            <a:extLst>
              <a:ext uri="{FF2B5EF4-FFF2-40B4-BE49-F238E27FC236}">
                <a16:creationId xmlns:a16="http://schemas.microsoft.com/office/drawing/2014/main" id="{1CCEE356-155A-BA8E-6928-5704C454E44B}"/>
              </a:ext>
            </a:extLst>
          </p:cNvPr>
          <p:cNvSpPr/>
          <p:nvPr/>
        </p:nvSpPr>
        <p:spPr>
          <a:xfrm>
            <a:off x="6298625" y="1751416"/>
            <a:ext cx="1304442" cy="658776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/>
              <a:t>All Tools</a:t>
            </a:r>
            <a:endParaRPr lang="en-GB" sz="1400" b="1" noProof="0" dirty="0"/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A4E0D01F-F934-5F87-E2F9-DCD46DE26851}"/>
              </a:ext>
            </a:extLst>
          </p:cNvPr>
          <p:cNvSpPr/>
          <p:nvPr/>
        </p:nvSpPr>
        <p:spPr>
          <a:xfrm>
            <a:off x="3106692" y="1751416"/>
            <a:ext cx="1304442" cy="658776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/>
              <a:t>Search Engine</a:t>
            </a:r>
            <a:endParaRPr lang="en-GB" sz="1400" b="1" noProof="0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E0A421CE-FA33-06BA-E907-D8FA39019A46}"/>
              </a:ext>
            </a:extLst>
          </p:cNvPr>
          <p:cNvCxnSpPr>
            <a:stCxn id="5" idx="3"/>
            <a:endCxn id="9" idx="1"/>
          </p:cNvCxnSpPr>
          <p:nvPr/>
        </p:nvCxnSpPr>
        <p:spPr>
          <a:xfrm>
            <a:off x="1845731" y="2080804"/>
            <a:ext cx="126096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377841FD-951B-80F7-6483-DFE9DF00FC3A}"/>
              </a:ext>
            </a:extLst>
          </p:cNvPr>
          <p:cNvCxnSpPr>
            <a:cxnSpLocks/>
          </p:cNvCxnSpPr>
          <p:nvPr/>
        </p:nvCxnSpPr>
        <p:spPr>
          <a:xfrm>
            <a:off x="4572000" y="1885968"/>
            <a:ext cx="16425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578E0680-0DE9-97AB-ED3D-A0F364F69A4B}"/>
              </a:ext>
            </a:extLst>
          </p:cNvPr>
          <p:cNvCxnSpPr>
            <a:cxnSpLocks/>
          </p:cNvCxnSpPr>
          <p:nvPr/>
        </p:nvCxnSpPr>
        <p:spPr>
          <a:xfrm>
            <a:off x="4572000" y="2231208"/>
            <a:ext cx="1642533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对话气泡: 圆角矩形 2">
            <a:extLst>
              <a:ext uri="{FF2B5EF4-FFF2-40B4-BE49-F238E27FC236}">
                <a16:creationId xmlns:a16="http://schemas.microsoft.com/office/drawing/2014/main" id="{CC436A12-5540-B5CC-3DF3-AB4E11F3C81A}"/>
              </a:ext>
            </a:extLst>
          </p:cNvPr>
          <p:cNvSpPr/>
          <p:nvPr/>
        </p:nvSpPr>
        <p:spPr>
          <a:xfrm>
            <a:off x="363490" y="2592243"/>
            <a:ext cx="1219200" cy="504703"/>
          </a:xfrm>
          <a:prstGeom prst="wedgeRoundRectCallout">
            <a:avLst>
              <a:gd name="adj1" fmla="val 22223"/>
              <a:gd name="adj2" fmla="val -91765"/>
              <a:gd name="adj3" fmla="val 16667"/>
            </a:avLst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noProof="0" dirty="0"/>
              <a:t>User Query is unclear.</a:t>
            </a: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DEF296E7-6534-C0AA-DB71-3500FB53A707}"/>
              </a:ext>
            </a:extLst>
          </p:cNvPr>
          <p:cNvSpPr/>
          <p:nvPr/>
        </p:nvSpPr>
        <p:spPr>
          <a:xfrm>
            <a:off x="356737" y="1446246"/>
            <a:ext cx="1488995" cy="389673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400" noProof="0" dirty="0"/>
              <a:t>System Prompt</a:t>
            </a:r>
          </a:p>
        </p:txBody>
      </p:sp>
    </p:spTree>
    <p:extLst>
      <p:ext uri="{BB962C8B-B14F-4D97-AF65-F5344CB8AC3E}">
        <p14:creationId xmlns:p14="http://schemas.microsoft.com/office/powerpoint/2010/main" val="11824900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A305A-085C-FFA3-9348-6C284E56E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DE91652D-0615-1A4D-EFEE-823E6F1187DB}"/>
              </a:ext>
            </a:extLst>
          </p:cNvPr>
          <p:cNvSpPr txBox="1"/>
          <p:nvPr/>
        </p:nvSpPr>
        <p:spPr>
          <a:xfrm>
            <a:off x="-1" y="6415529"/>
            <a:ext cx="4919133" cy="3291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2099"/>
              </a:lnSpc>
              <a:spcAft>
                <a:spcPts val="900"/>
              </a:spcAft>
              <a:buNone/>
              <a:defRPr sz="1200">
                <a:solidFill>
                  <a:srgbClr val="000000"/>
                </a:solidFill>
                <a:latin typeface="Lucida Grande"/>
              </a:defRPr>
            </a:lvl1pPr>
          </a:lstStyle>
          <a:p>
            <a:r>
              <a:rPr lang="en-US" altLang="zh-CN" dirty="0"/>
              <a:t>MCP-Zero: Active Tool Discovery for Autonomous LLM Agents (2025)</a:t>
            </a:r>
          </a:p>
        </p:txBody>
      </p:sp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E5ED9114-56D6-7D9F-566B-9B3CD0C7F179}"/>
              </a:ext>
            </a:extLst>
          </p:cNvPr>
          <p:cNvSpPr/>
          <p:nvPr/>
        </p:nvSpPr>
        <p:spPr>
          <a:xfrm>
            <a:off x="363490" y="1885968"/>
            <a:ext cx="1482241" cy="389672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Task</a:t>
            </a:r>
          </a:p>
        </p:txBody>
      </p:sp>
      <p:sp>
        <p:nvSpPr>
          <p:cNvPr id="2" name="Rounded Rectangle 3">
            <a:extLst>
              <a:ext uri="{FF2B5EF4-FFF2-40B4-BE49-F238E27FC236}">
                <a16:creationId xmlns:a16="http://schemas.microsoft.com/office/drawing/2014/main" id="{A9038A8C-7231-5B63-D6BC-5BD099C21D08}"/>
              </a:ext>
            </a:extLst>
          </p:cNvPr>
          <p:cNvSpPr/>
          <p:nvPr/>
        </p:nvSpPr>
        <p:spPr>
          <a:xfrm>
            <a:off x="6298625" y="2180776"/>
            <a:ext cx="1304442" cy="658776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/>
              <a:t>All Tools</a:t>
            </a:r>
            <a:endParaRPr lang="en-GB" sz="1400" b="1" noProof="0" dirty="0"/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7ACC20E1-0F2C-D4E3-D707-2BD924B4F694}"/>
              </a:ext>
            </a:extLst>
          </p:cNvPr>
          <p:cNvSpPr/>
          <p:nvPr/>
        </p:nvSpPr>
        <p:spPr>
          <a:xfrm>
            <a:off x="3106692" y="2180776"/>
            <a:ext cx="1304442" cy="658776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/>
              <a:t>Search Engine</a:t>
            </a:r>
            <a:endParaRPr lang="en-GB" sz="1400" b="1" noProof="0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70B1D60A-8F61-BDA3-E087-B4A892824193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1845732" y="2510164"/>
            <a:ext cx="12609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F3F769EA-E2E7-B946-B980-53290BE965AE}"/>
              </a:ext>
            </a:extLst>
          </p:cNvPr>
          <p:cNvCxnSpPr>
            <a:cxnSpLocks/>
          </p:cNvCxnSpPr>
          <p:nvPr/>
        </p:nvCxnSpPr>
        <p:spPr>
          <a:xfrm>
            <a:off x="4572000" y="2315328"/>
            <a:ext cx="16425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D9E3E532-D9F6-67A9-CE16-17A1C0395B67}"/>
              </a:ext>
            </a:extLst>
          </p:cNvPr>
          <p:cNvCxnSpPr>
            <a:cxnSpLocks/>
          </p:cNvCxnSpPr>
          <p:nvPr/>
        </p:nvCxnSpPr>
        <p:spPr>
          <a:xfrm>
            <a:off x="4572000" y="2660568"/>
            <a:ext cx="1642533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FFF8BD5C-B571-BC63-353B-51580B874CC8}"/>
              </a:ext>
            </a:extLst>
          </p:cNvPr>
          <p:cNvSpPr/>
          <p:nvPr/>
        </p:nvSpPr>
        <p:spPr>
          <a:xfrm>
            <a:off x="363491" y="2315328"/>
            <a:ext cx="1482241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i="1" dirty="0"/>
              <a:t>I need …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003DD03-A078-59E5-327C-F29BA69E5224}"/>
              </a:ext>
            </a:extLst>
          </p:cNvPr>
          <p:cNvSpPr txBox="1"/>
          <p:nvPr/>
        </p:nvSpPr>
        <p:spPr>
          <a:xfrm>
            <a:off x="1815811" y="1891978"/>
            <a:ext cx="1320801" cy="59843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2099"/>
              </a:lnSpc>
              <a:spcAft>
                <a:spcPts val="900"/>
              </a:spcAft>
              <a:buNone/>
              <a:defRPr sz="1200">
                <a:solidFill>
                  <a:srgbClr val="000000"/>
                </a:solidFill>
                <a:latin typeface="Lucida Grande"/>
              </a:defRPr>
            </a:lvl1pPr>
          </a:lstStyle>
          <a:p>
            <a:r>
              <a:rPr lang="en-US" altLang="zh-CN" dirty="0"/>
              <a:t>Description of the required tool</a:t>
            </a:r>
          </a:p>
        </p:txBody>
      </p:sp>
      <p:sp>
        <p:nvSpPr>
          <p:cNvPr id="11" name="对话气泡: 圆角矩形 10">
            <a:extLst>
              <a:ext uri="{FF2B5EF4-FFF2-40B4-BE49-F238E27FC236}">
                <a16:creationId xmlns:a16="http://schemas.microsoft.com/office/drawing/2014/main" id="{372509C6-C628-C6CC-6B77-4B11F60F144C}"/>
              </a:ext>
            </a:extLst>
          </p:cNvPr>
          <p:cNvSpPr/>
          <p:nvPr/>
        </p:nvSpPr>
        <p:spPr>
          <a:xfrm>
            <a:off x="448158" y="3001762"/>
            <a:ext cx="1219200" cy="504703"/>
          </a:xfrm>
          <a:prstGeom prst="wedgeRoundRectCallout">
            <a:avLst>
              <a:gd name="adj1" fmla="val 22223"/>
              <a:gd name="adj2" fmla="val -91765"/>
              <a:gd name="adj3" fmla="val 16667"/>
            </a:avLst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/>
              <a:t>Let </a:t>
            </a:r>
            <a:r>
              <a:rPr lang="en-US" altLang="zh-CN" sz="1100" b="1" dirty="0"/>
              <a:t>AI</a:t>
            </a:r>
            <a:r>
              <a:rPr lang="en-US" altLang="zh-CN" sz="1100" dirty="0"/>
              <a:t> explain what it needs.</a:t>
            </a:r>
            <a:endParaRPr lang="en-GB" sz="1100" noProof="0" dirty="0"/>
          </a:p>
        </p:txBody>
      </p:sp>
      <p:sp>
        <p:nvSpPr>
          <p:cNvPr id="3" name="Rounded Rectangle 3">
            <a:extLst>
              <a:ext uri="{FF2B5EF4-FFF2-40B4-BE49-F238E27FC236}">
                <a16:creationId xmlns:a16="http://schemas.microsoft.com/office/drawing/2014/main" id="{91E36B4D-A5DF-9B98-CC21-3E19D480CBCF}"/>
              </a:ext>
            </a:extLst>
          </p:cNvPr>
          <p:cNvSpPr/>
          <p:nvPr/>
        </p:nvSpPr>
        <p:spPr>
          <a:xfrm>
            <a:off x="356737" y="1446246"/>
            <a:ext cx="1488995" cy="389673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400" noProof="0" dirty="0"/>
              <a:t>System Prompt</a:t>
            </a:r>
          </a:p>
        </p:txBody>
      </p:sp>
    </p:spTree>
    <p:extLst>
      <p:ext uri="{BB962C8B-B14F-4D97-AF65-F5344CB8AC3E}">
        <p14:creationId xmlns:p14="http://schemas.microsoft.com/office/powerpoint/2010/main" val="27401111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48FC9-36D0-C961-79AF-DA1067571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3AA09E09-2786-5E78-0642-A579799BD122}"/>
              </a:ext>
            </a:extLst>
          </p:cNvPr>
          <p:cNvSpPr txBox="1"/>
          <p:nvPr/>
        </p:nvSpPr>
        <p:spPr>
          <a:xfrm>
            <a:off x="-1" y="6415529"/>
            <a:ext cx="4919133" cy="3291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2099"/>
              </a:lnSpc>
              <a:spcAft>
                <a:spcPts val="900"/>
              </a:spcAft>
              <a:buNone/>
              <a:defRPr sz="1200">
                <a:solidFill>
                  <a:srgbClr val="000000"/>
                </a:solidFill>
                <a:latin typeface="Lucida Grande"/>
              </a:defRPr>
            </a:lvl1pPr>
          </a:lstStyle>
          <a:p>
            <a:r>
              <a:rPr lang="en-US" altLang="zh-CN" dirty="0"/>
              <a:t>MCP-Zero: Active Tool Discovery for Autonomous LLM Agents (2025)</a:t>
            </a:r>
          </a:p>
        </p:txBody>
      </p:sp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88391A3B-CC65-88C1-2548-1017D06A81E7}"/>
              </a:ext>
            </a:extLst>
          </p:cNvPr>
          <p:cNvSpPr/>
          <p:nvPr/>
        </p:nvSpPr>
        <p:spPr>
          <a:xfrm>
            <a:off x="363490" y="1885968"/>
            <a:ext cx="1482241" cy="389672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Task</a:t>
            </a:r>
          </a:p>
        </p:txBody>
      </p:sp>
      <p:sp>
        <p:nvSpPr>
          <p:cNvPr id="2" name="Rounded Rectangle 3">
            <a:extLst>
              <a:ext uri="{FF2B5EF4-FFF2-40B4-BE49-F238E27FC236}">
                <a16:creationId xmlns:a16="http://schemas.microsoft.com/office/drawing/2014/main" id="{D4FA5959-1C1F-7D98-262E-2C7EFF02446F}"/>
              </a:ext>
            </a:extLst>
          </p:cNvPr>
          <p:cNvSpPr/>
          <p:nvPr/>
        </p:nvSpPr>
        <p:spPr>
          <a:xfrm>
            <a:off x="6298625" y="2180776"/>
            <a:ext cx="1304442" cy="658776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/>
              <a:t>All Tools</a:t>
            </a:r>
            <a:endParaRPr lang="en-GB" sz="1400" b="1" noProof="0" dirty="0"/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1617AA96-1867-3955-A71B-7513C71B4136}"/>
              </a:ext>
            </a:extLst>
          </p:cNvPr>
          <p:cNvSpPr/>
          <p:nvPr/>
        </p:nvSpPr>
        <p:spPr>
          <a:xfrm>
            <a:off x="3106692" y="2180776"/>
            <a:ext cx="1304442" cy="658776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/>
              <a:t>Search Engine</a:t>
            </a:r>
            <a:endParaRPr lang="en-GB" sz="1400" b="1" noProof="0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1F6BB5F6-38E3-8B98-596C-23E43FAA8DBC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1845732" y="2510164"/>
            <a:ext cx="12609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44099539-F307-7FBA-5B98-17A976077EC1}"/>
              </a:ext>
            </a:extLst>
          </p:cNvPr>
          <p:cNvCxnSpPr>
            <a:cxnSpLocks/>
          </p:cNvCxnSpPr>
          <p:nvPr/>
        </p:nvCxnSpPr>
        <p:spPr>
          <a:xfrm>
            <a:off x="4572000" y="2315328"/>
            <a:ext cx="16425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354F75DB-4282-8FFA-3C02-4527D0658985}"/>
              </a:ext>
            </a:extLst>
          </p:cNvPr>
          <p:cNvCxnSpPr>
            <a:cxnSpLocks/>
          </p:cNvCxnSpPr>
          <p:nvPr/>
        </p:nvCxnSpPr>
        <p:spPr>
          <a:xfrm>
            <a:off x="4572000" y="2660568"/>
            <a:ext cx="1642533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35B56FA8-7980-8917-F3D9-89956B66CFC3}"/>
              </a:ext>
            </a:extLst>
          </p:cNvPr>
          <p:cNvSpPr/>
          <p:nvPr/>
        </p:nvSpPr>
        <p:spPr>
          <a:xfrm>
            <a:off x="363491" y="2315328"/>
            <a:ext cx="1482241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i="1" dirty="0"/>
              <a:t>I need …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53D086F-1B7B-600B-1596-CD58B287FAE4}"/>
              </a:ext>
            </a:extLst>
          </p:cNvPr>
          <p:cNvSpPr txBox="1"/>
          <p:nvPr/>
        </p:nvSpPr>
        <p:spPr>
          <a:xfrm>
            <a:off x="1815811" y="1891978"/>
            <a:ext cx="1320801" cy="59843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2099"/>
              </a:lnSpc>
              <a:spcAft>
                <a:spcPts val="900"/>
              </a:spcAft>
              <a:buNone/>
              <a:defRPr sz="1200">
                <a:solidFill>
                  <a:srgbClr val="000000"/>
                </a:solidFill>
                <a:latin typeface="Lucida Grande"/>
              </a:defRPr>
            </a:lvl1pPr>
          </a:lstStyle>
          <a:p>
            <a:r>
              <a:rPr lang="en-US" altLang="zh-CN" dirty="0"/>
              <a:t>Description of the required tool</a:t>
            </a:r>
          </a:p>
        </p:txBody>
      </p:sp>
      <p:sp>
        <p:nvSpPr>
          <p:cNvPr id="3" name="Rounded Rectangle 3">
            <a:extLst>
              <a:ext uri="{FF2B5EF4-FFF2-40B4-BE49-F238E27FC236}">
                <a16:creationId xmlns:a16="http://schemas.microsoft.com/office/drawing/2014/main" id="{1AFCFDE8-E985-F311-3E2A-30DA366FD928}"/>
              </a:ext>
            </a:extLst>
          </p:cNvPr>
          <p:cNvSpPr/>
          <p:nvPr/>
        </p:nvSpPr>
        <p:spPr>
          <a:xfrm>
            <a:off x="367437" y="2748821"/>
            <a:ext cx="1482241" cy="38967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i="1" dirty="0"/>
              <a:t>Tool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F76AB4F9-FF8A-DA59-856A-6EFEE80773FA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1849678" y="2683782"/>
            <a:ext cx="1253068" cy="259875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CA73EBC5-E724-E5B5-04A6-ED0B9F2DD389}"/>
              </a:ext>
            </a:extLst>
          </p:cNvPr>
          <p:cNvSpPr/>
          <p:nvPr/>
        </p:nvSpPr>
        <p:spPr>
          <a:xfrm>
            <a:off x="356737" y="1446246"/>
            <a:ext cx="1488995" cy="389673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400" noProof="0" dirty="0"/>
              <a:t>System Prompt</a:t>
            </a:r>
          </a:p>
        </p:txBody>
      </p:sp>
    </p:spTree>
    <p:extLst>
      <p:ext uri="{BB962C8B-B14F-4D97-AF65-F5344CB8AC3E}">
        <p14:creationId xmlns:p14="http://schemas.microsoft.com/office/powerpoint/2010/main" val="32305847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12540-8E41-D2C8-4695-29A69441C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51A718F-4B9F-DCD2-2741-7A27BA37CD1C}"/>
              </a:ext>
            </a:extLst>
          </p:cNvPr>
          <p:cNvSpPr/>
          <p:nvPr/>
        </p:nvSpPr>
        <p:spPr>
          <a:xfrm>
            <a:off x="357308" y="2438400"/>
            <a:ext cx="1447844" cy="2011680"/>
          </a:xfrm>
          <a:prstGeom prst="roundRect">
            <a:avLst/>
          </a:prstGeom>
          <a:noFill/>
          <a:ln w="571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en-GB" b="0" noProof="0" dirty="0">
                <a:latin typeface="Calibri"/>
              </a:rPr>
              <a:t>WhatsApp</a:t>
            </a:r>
          </a:p>
          <a:p>
            <a:pPr algn="ctr"/>
            <a:r>
              <a:rPr lang="en-GB" b="0" noProof="0" dirty="0">
                <a:latin typeface="Calibri"/>
              </a:rPr>
              <a:t>Telegram</a:t>
            </a:r>
          </a:p>
          <a:p>
            <a:pPr algn="ctr"/>
            <a:r>
              <a:rPr lang="en-GB" b="0" noProof="0" dirty="0">
                <a:latin typeface="Calibri"/>
              </a:rPr>
              <a:t>Discord</a:t>
            </a:r>
          </a:p>
          <a:p>
            <a:pPr algn="ctr"/>
            <a:r>
              <a:rPr lang="en-GB" noProof="0" dirty="0">
                <a:latin typeface="Calibri"/>
              </a:rPr>
              <a:t>WeChat</a:t>
            </a:r>
          </a:p>
          <a:p>
            <a:pPr algn="ctr"/>
            <a:r>
              <a:rPr lang="en-GB" b="0" noProof="0" dirty="0">
                <a:latin typeface="Calibri"/>
              </a:rPr>
              <a:t>QQ</a:t>
            </a:r>
          </a:p>
          <a:p>
            <a:pPr algn="ctr"/>
            <a:r>
              <a:rPr lang="en-GB" b="0" noProof="0" dirty="0">
                <a:latin typeface="Calibri"/>
              </a:rPr>
              <a:t>Web UI</a:t>
            </a:r>
          </a:p>
          <a:p>
            <a:pPr algn="ctr"/>
            <a:r>
              <a:rPr lang="en-GB" noProof="0" dirty="0">
                <a:latin typeface="Calibri"/>
              </a:rPr>
              <a:t>…</a:t>
            </a:r>
            <a:endParaRPr lang="en-GB" b="0" noProof="0" dirty="0">
              <a:latin typeface="Calibri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164ADB0-7572-20E1-18DB-A1C230C507A4}"/>
              </a:ext>
            </a:extLst>
          </p:cNvPr>
          <p:cNvSpPr/>
          <p:nvPr/>
        </p:nvSpPr>
        <p:spPr>
          <a:xfrm>
            <a:off x="2422154" y="2815459"/>
            <a:ext cx="1288612" cy="544698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en-GB" noProof="0" dirty="0"/>
              <a:t>OpenClaw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8A37309-C26F-828E-1A34-B70969175A8F}"/>
              </a:ext>
            </a:extLst>
          </p:cNvPr>
          <p:cNvSpPr/>
          <p:nvPr/>
        </p:nvSpPr>
        <p:spPr>
          <a:xfrm>
            <a:off x="7748752" y="2438400"/>
            <a:ext cx="1037940" cy="2011680"/>
          </a:xfrm>
          <a:prstGeom prst="roundRect">
            <a:avLst/>
          </a:prstGeom>
          <a:noFill/>
          <a:ln w="571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en-GB" b="0" noProof="0" dirty="0">
                <a:latin typeface="Calibri"/>
              </a:rPr>
              <a:t>Claude</a:t>
            </a:r>
          </a:p>
          <a:p>
            <a:pPr algn="ctr"/>
            <a:r>
              <a:rPr lang="en-GB" b="0" noProof="0" dirty="0">
                <a:latin typeface="Calibri"/>
              </a:rPr>
              <a:t>GPT</a:t>
            </a:r>
          </a:p>
          <a:p>
            <a:pPr algn="ctr"/>
            <a:r>
              <a:rPr lang="en-GB" b="0" noProof="0" dirty="0">
                <a:latin typeface="Calibri"/>
              </a:rPr>
              <a:t>Gemini</a:t>
            </a:r>
          </a:p>
          <a:p>
            <a:pPr algn="ctr"/>
            <a:r>
              <a:rPr lang="en-GB" noProof="0" dirty="0">
                <a:latin typeface="Calibri"/>
              </a:rPr>
              <a:t>…</a:t>
            </a:r>
            <a:endParaRPr lang="en-GB" b="0" noProof="0" dirty="0">
              <a:latin typeface="Calibri"/>
            </a:endParaRPr>
          </a:p>
        </p:txBody>
      </p:sp>
      <p:pic>
        <p:nvPicPr>
          <p:cNvPr id="1026" name="Picture 2" descr="Man ">
            <a:extLst>
              <a:ext uri="{FF2B5EF4-FFF2-40B4-BE49-F238E27FC236}">
                <a16:creationId xmlns:a16="http://schemas.microsoft.com/office/drawing/2014/main" id="{44C9D9EB-F704-76CD-E839-A54CB74315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92" y="107768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ig data ">
            <a:extLst>
              <a:ext uri="{FF2B5EF4-FFF2-40B4-BE49-F238E27FC236}">
                <a16:creationId xmlns:a16="http://schemas.microsoft.com/office/drawing/2014/main" id="{06742C73-8B3A-768A-B0C8-6B97D58E78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122" y="121920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3DAF5D0A-5FC0-152A-976B-8DDB800040E9}"/>
              </a:ext>
            </a:extLst>
          </p:cNvPr>
          <p:cNvSpPr txBox="1"/>
          <p:nvPr/>
        </p:nvSpPr>
        <p:spPr>
          <a:xfrm>
            <a:off x="2283553" y="3370589"/>
            <a:ext cx="15658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noProof="0" dirty="0"/>
              <a:t>Runs locally </a:t>
            </a:r>
          </a:p>
          <a:p>
            <a:pPr algn="ctr"/>
            <a:r>
              <a:rPr lang="en-GB" noProof="0" dirty="0"/>
              <a:t>on your device</a:t>
            </a:r>
            <a:endParaRPr lang="en-GB" noProof="0" dirty="0">
              <a:latin typeface="Calibr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AB199D7-AAE4-53C0-9727-F876FA4A09E3}"/>
              </a:ext>
            </a:extLst>
          </p:cNvPr>
          <p:cNvSpPr txBox="1"/>
          <p:nvPr/>
        </p:nvSpPr>
        <p:spPr>
          <a:xfrm>
            <a:off x="7476297" y="4530221"/>
            <a:ext cx="1401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noProof="0" dirty="0"/>
              <a:t>Cloud / Local</a:t>
            </a:r>
            <a:endParaRPr lang="en-GB" noProof="0" dirty="0">
              <a:latin typeface="Calibri"/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89DAEB79-E591-D23C-99C0-6729E96656A3}"/>
              </a:ext>
            </a:extLst>
          </p:cNvPr>
          <p:cNvCxnSpPr>
            <a:cxnSpLocks/>
          </p:cNvCxnSpPr>
          <p:nvPr/>
        </p:nvCxnSpPr>
        <p:spPr>
          <a:xfrm flipV="1">
            <a:off x="3046905" y="4016920"/>
            <a:ext cx="0" cy="29631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03370F6F-E366-50A3-BA02-2A2E6E002FE6}"/>
              </a:ext>
            </a:extLst>
          </p:cNvPr>
          <p:cNvSpPr txBox="1"/>
          <p:nvPr/>
        </p:nvSpPr>
        <p:spPr>
          <a:xfrm>
            <a:off x="2027809" y="4437888"/>
            <a:ext cx="2038192" cy="923330"/>
          </a:xfrm>
          <a:prstGeom prst="rect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>
            <a:spAutoFit/>
          </a:bodyPr>
          <a:lstStyle/>
          <a:p>
            <a:pPr algn="ctr"/>
            <a:r>
              <a:rPr lang="en-GB" noProof="0" dirty="0"/>
              <a:t>“Personal” documents and data</a:t>
            </a:r>
          </a:p>
        </p:txBody>
      </p: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D31473A1-F31E-04D3-BD8C-C81F5A1F7A99}"/>
              </a:ext>
            </a:extLst>
          </p:cNvPr>
          <p:cNvCxnSpPr/>
          <p:nvPr/>
        </p:nvCxnSpPr>
        <p:spPr>
          <a:xfrm>
            <a:off x="1882198" y="2963918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35F2692E-3417-F259-C670-C7AF6AA90AC1}"/>
              </a:ext>
            </a:extLst>
          </p:cNvPr>
          <p:cNvCxnSpPr>
            <a:cxnSpLocks/>
          </p:cNvCxnSpPr>
          <p:nvPr/>
        </p:nvCxnSpPr>
        <p:spPr>
          <a:xfrm>
            <a:off x="3837401" y="2963918"/>
            <a:ext cx="373793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D13D8AE3-73C0-7CA5-6FD6-80AD6BB52D07}"/>
              </a:ext>
            </a:extLst>
          </p:cNvPr>
          <p:cNvSpPr/>
          <p:nvPr/>
        </p:nvSpPr>
        <p:spPr>
          <a:xfrm>
            <a:off x="1951027" y="230257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/>
              <a:t>message</a:t>
            </a:r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F24A859C-DEFF-AFC3-CEE0-672171E066B6}"/>
              </a:ext>
            </a:extLst>
          </p:cNvPr>
          <p:cNvSpPr/>
          <p:nvPr/>
        </p:nvSpPr>
        <p:spPr>
          <a:xfrm>
            <a:off x="5519827" y="230257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/>
              <a:t>message</a:t>
            </a:r>
          </a:p>
        </p:txBody>
      </p:sp>
      <p:sp>
        <p:nvSpPr>
          <p:cNvPr id="12" name="Rounded Rectangle 3">
            <a:extLst>
              <a:ext uri="{FF2B5EF4-FFF2-40B4-BE49-F238E27FC236}">
                <a16:creationId xmlns:a16="http://schemas.microsoft.com/office/drawing/2014/main" id="{395C4C00-576E-DE65-3F10-A601BF9F7216}"/>
              </a:ext>
            </a:extLst>
          </p:cNvPr>
          <p:cNvSpPr/>
          <p:nvPr/>
        </p:nvSpPr>
        <p:spPr>
          <a:xfrm>
            <a:off x="5519827" y="1568669"/>
            <a:ext cx="1115432" cy="65707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/>
              <a:t>System prompt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F5891D-B490-8368-02FE-BB30EDB045AD}"/>
              </a:ext>
            </a:extLst>
          </p:cNvPr>
          <p:cNvSpPr txBox="1"/>
          <p:nvPr/>
        </p:nvSpPr>
        <p:spPr>
          <a:xfrm>
            <a:off x="4002547" y="31732"/>
            <a:ext cx="4033948" cy="1384995"/>
          </a:xfrm>
          <a:prstGeom prst="rect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noProof="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Identity-related information</a:t>
            </a:r>
            <a:br>
              <a:rPr lang="en-GB" sz="1200" noProof="0" dirty="0">
                <a:solidFill>
                  <a:schemeClr val="accent6">
                    <a:lumMod val="75000"/>
                  </a:schemeClr>
                </a:solidFill>
                <a:latin typeface="Calibri"/>
              </a:rPr>
            </a:br>
            <a:r>
              <a:rPr lang="en-GB" sz="1200" noProof="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(SOUL.md, IDENTITY.md, USER.md, MEMORY.md)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noProof="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Available tools and how to use them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noProof="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Model behaviour (AGENTS.md)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b="1" noProof="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Available SKILLs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noProof="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Where to find previous memories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noProof="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… </a:t>
            </a:r>
          </a:p>
        </p:txBody>
      </p:sp>
      <p:sp>
        <p:nvSpPr>
          <p:cNvPr id="13" name="右大括号 12">
            <a:extLst>
              <a:ext uri="{FF2B5EF4-FFF2-40B4-BE49-F238E27FC236}">
                <a16:creationId xmlns:a16="http://schemas.microsoft.com/office/drawing/2014/main" id="{EF6BA518-743B-9E08-B47B-17D87B46A2D1}"/>
              </a:ext>
            </a:extLst>
          </p:cNvPr>
          <p:cNvSpPr/>
          <p:nvPr/>
        </p:nvSpPr>
        <p:spPr>
          <a:xfrm rot="5400000">
            <a:off x="6018186" y="812754"/>
            <a:ext cx="118713" cy="1294634"/>
          </a:xfrm>
          <a:prstGeom prst="rightBrac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7" name="对话气泡: 圆角矩形 16">
            <a:extLst>
              <a:ext uri="{FF2B5EF4-FFF2-40B4-BE49-F238E27FC236}">
                <a16:creationId xmlns:a16="http://schemas.microsoft.com/office/drawing/2014/main" id="{367DE5CF-D3B8-7C2C-1657-D3BEB712FDC9}"/>
              </a:ext>
            </a:extLst>
          </p:cNvPr>
          <p:cNvSpPr/>
          <p:nvPr/>
        </p:nvSpPr>
        <p:spPr>
          <a:xfrm>
            <a:off x="3127770" y="1505389"/>
            <a:ext cx="2108528" cy="923315"/>
          </a:xfrm>
          <a:prstGeom prst="wedgeRoundRectCallout">
            <a:avLst>
              <a:gd name="adj1" fmla="val 61257"/>
              <a:gd name="adj2" fmla="val -2385"/>
              <a:gd name="adj3" fmla="val 16667"/>
            </a:avLst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/>
              <a:t>The system prompt is sent with every model call.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AF312B99-BCCB-562A-766E-5710EBDF5983}"/>
              </a:ext>
            </a:extLst>
          </p:cNvPr>
          <p:cNvSpPr/>
          <p:nvPr/>
        </p:nvSpPr>
        <p:spPr>
          <a:xfrm>
            <a:off x="4337347" y="783978"/>
            <a:ext cx="1092878" cy="210066"/>
          </a:xfrm>
          <a:prstGeom prst="round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16637445-D6B0-D9F1-459B-93280391602B}"/>
              </a:ext>
            </a:extLst>
          </p:cNvPr>
          <p:cNvSpPr/>
          <p:nvPr/>
        </p:nvSpPr>
        <p:spPr>
          <a:xfrm>
            <a:off x="3127770" y="632430"/>
            <a:ext cx="693738" cy="484632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995248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797BE-0F98-A151-6C73-2382C3E20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97C503F4-90C4-EF91-DF5A-376C2BB5C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3" y="292154"/>
            <a:ext cx="3062205" cy="2912829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B058649E-69F5-45C3-6C7C-527914B29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6316" y="7424"/>
            <a:ext cx="3032966" cy="2676146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9EE5D7D9-0E90-6C2C-2D9D-A446CA46FF18}"/>
              </a:ext>
            </a:extLst>
          </p:cNvPr>
          <p:cNvSpPr/>
          <p:nvPr/>
        </p:nvSpPr>
        <p:spPr>
          <a:xfrm>
            <a:off x="5565924" y="2033056"/>
            <a:ext cx="337530" cy="159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对话气泡: 圆角矩形 19">
            <a:extLst>
              <a:ext uri="{FF2B5EF4-FFF2-40B4-BE49-F238E27FC236}">
                <a16:creationId xmlns:a16="http://schemas.microsoft.com/office/drawing/2014/main" id="{11713CA2-DBB2-AD2E-1744-522AA2B3FA34}"/>
              </a:ext>
            </a:extLst>
          </p:cNvPr>
          <p:cNvSpPr/>
          <p:nvPr/>
        </p:nvSpPr>
        <p:spPr>
          <a:xfrm>
            <a:off x="2318499" y="1005216"/>
            <a:ext cx="1031234" cy="340281"/>
          </a:xfrm>
          <a:prstGeom prst="wedgeRoundRectCallout">
            <a:avLst>
              <a:gd name="adj1" fmla="val 23537"/>
              <a:gd name="adj2" fmla="val 43351"/>
              <a:gd name="adj3" fmla="val 16667"/>
            </a:avLst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Context</a:t>
            </a:r>
            <a:endParaRPr lang="en-GB" dirty="0"/>
          </a:p>
        </p:txBody>
      </p:sp>
      <p:sp>
        <p:nvSpPr>
          <p:cNvPr id="21" name="对话气泡: 圆角矩形 20">
            <a:extLst>
              <a:ext uri="{FF2B5EF4-FFF2-40B4-BE49-F238E27FC236}">
                <a16:creationId xmlns:a16="http://schemas.microsoft.com/office/drawing/2014/main" id="{8B451436-702B-5A7E-5A52-01925D03B18C}"/>
              </a:ext>
            </a:extLst>
          </p:cNvPr>
          <p:cNvSpPr/>
          <p:nvPr/>
        </p:nvSpPr>
        <p:spPr>
          <a:xfrm>
            <a:off x="249337" y="2078153"/>
            <a:ext cx="1031234" cy="340281"/>
          </a:xfrm>
          <a:prstGeom prst="wedgeRoundRectCallout">
            <a:avLst>
              <a:gd name="adj1" fmla="val 25917"/>
              <a:gd name="adj2" fmla="val -43216"/>
              <a:gd name="adj3" fmla="val 16667"/>
            </a:avLst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Output</a:t>
            </a:r>
            <a:endParaRPr lang="en-GB" dirty="0"/>
          </a:p>
        </p:txBody>
      </p:sp>
      <p:sp>
        <p:nvSpPr>
          <p:cNvPr id="24" name="对话气泡: 圆角矩形 23">
            <a:extLst>
              <a:ext uri="{FF2B5EF4-FFF2-40B4-BE49-F238E27FC236}">
                <a16:creationId xmlns:a16="http://schemas.microsoft.com/office/drawing/2014/main" id="{BF68C862-B375-6086-1540-7CFDFE93BBEB}"/>
              </a:ext>
            </a:extLst>
          </p:cNvPr>
          <p:cNvSpPr/>
          <p:nvPr/>
        </p:nvSpPr>
        <p:spPr>
          <a:xfrm>
            <a:off x="401737" y="199235"/>
            <a:ext cx="1031234" cy="340281"/>
          </a:xfrm>
          <a:prstGeom prst="wedgeRoundRectCallout">
            <a:avLst>
              <a:gd name="adj1" fmla="val 25917"/>
              <a:gd name="adj2" fmla="val -43216"/>
              <a:gd name="adj3" fmla="val 16667"/>
            </a:avLst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Input</a:t>
            </a:r>
            <a:endParaRPr lang="en-GB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4EBE239-1510-A300-0CE3-CC37420F22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0270" y="3462571"/>
            <a:ext cx="4243460" cy="2802168"/>
          </a:xfrm>
          <a:prstGeom prst="rect">
            <a:avLst/>
          </a:prstGeom>
        </p:spPr>
      </p:pic>
      <p:sp>
        <p:nvSpPr>
          <p:cNvPr id="9" name="对话气泡: 圆角矩形 8">
            <a:extLst>
              <a:ext uri="{FF2B5EF4-FFF2-40B4-BE49-F238E27FC236}">
                <a16:creationId xmlns:a16="http://schemas.microsoft.com/office/drawing/2014/main" id="{0A27E056-9DD7-9D6C-7888-2DF76B4F9253}"/>
              </a:ext>
            </a:extLst>
          </p:cNvPr>
          <p:cNvSpPr/>
          <p:nvPr/>
        </p:nvSpPr>
        <p:spPr>
          <a:xfrm>
            <a:off x="4490198" y="4393618"/>
            <a:ext cx="2158251" cy="603832"/>
          </a:xfrm>
          <a:prstGeom prst="wedgeRoundRectCallout">
            <a:avLst>
              <a:gd name="adj1" fmla="val 23537"/>
              <a:gd name="adj2" fmla="val 43351"/>
              <a:gd name="adj3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Context</a:t>
            </a:r>
            <a:endParaRPr lang="en-GB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73555D3-5485-DDEF-5082-45AF4203433D}"/>
              </a:ext>
            </a:extLst>
          </p:cNvPr>
          <p:cNvSpPr/>
          <p:nvPr/>
        </p:nvSpPr>
        <p:spPr>
          <a:xfrm>
            <a:off x="5565924" y="3937229"/>
            <a:ext cx="208655" cy="3191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对话气泡: 圆角矩形 10">
            <a:extLst>
              <a:ext uri="{FF2B5EF4-FFF2-40B4-BE49-F238E27FC236}">
                <a16:creationId xmlns:a16="http://schemas.microsoft.com/office/drawing/2014/main" id="{E0A45619-6EEA-01DA-200C-8A637E38DC50}"/>
              </a:ext>
            </a:extLst>
          </p:cNvPr>
          <p:cNvSpPr/>
          <p:nvPr/>
        </p:nvSpPr>
        <p:spPr>
          <a:xfrm>
            <a:off x="5903454" y="3587813"/>
            <a:ext cx="1031234" cy="340281"/>
          </a:xfrm>
          <a:prstGeom prst="wedgeRoundRectCallout">
            <a:avLst>
              <a:gd name="adj1" fmla="val 25917"/>
              <a:gd name="adj2" fmla="val -43216"/>
              <a:gd name="adj3" fmla="val 16667"/>
            </a:avLst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Memory</a:t>
            </a:r>
            <a:endParaRPr lang="en-GB" dirty="0"/>
          </a:p>
        </p:txBody>
      </p:sp>
      <p:sp>
        <p:nvSpPr>
          <p:cNvPr id="13" name="对话气泡: 圆角矩形 12">
            <a:extLst>
              <a:ext uri="{FF2B5EF4-FFF2-40B4-BE49-F238E27FC236}">
                <a16:creationId xmlns:a16="http://schemas.microsoft.com/office/drawing/2014/main" id="{E71ABC56-1E1A-EE59-0FD8-69A6D818706F}"/>
              </a:ext>
            </a:extLst>
          </p:cNvPr>
          <p:cNvSpPr/>
          <p:nvPr/>
        </p:nvSpPr>
        <p:spPr>
          <a:xfrm>
            <a:off x="4807783" y="3579018"/>
            <a:ext cx="1031234" cy="340281"/>
          </a:xfrm>
          <a:prstGeom prst="wedgeRoundRectCallout">
            <a:avLst>
              <a:gd name="adj1" fmla="val 25917"/>
              <a:gd name="adj2" fmla="val -43216"/>
              <a:gd name="adj3" fmla="val 16667"/>
            </a:avLst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Prompt</a:t>
            </a:r>
            <a:endParaRPr lang="en-GB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B599A783-211D-5CD3-2ED3-FFB58A677D26}"/>
              </a:ext>
            </a:extLst>
          </p:cNvPr>
          <p:cNvCxnSpPr>
            <a:cxnSpLocks/>
          </p:cNvCxnSpPr>
          <p:nvPr/>
        </p:nvCxnSpPr>
        <p:spPr>
          <a:xfrm flipH="1">
            <a:off x="4647901" y="4287991"/>
            <a:ext cx="1022350" cy="7411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EC661438-774E-9372-0281-66899AA3D93A}"/>
              </a:ext>
            </a:extLst>
          </p:cNvPr>
          <p:cNvSpPr txBox="1"/>
          <p:nvPr/>
        </p:nvSpPr>
        <p:spPr>
          <a:xfrm>
            <a:off x="5302250" y="4485717"/>
            <a:ext cx="24545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Content in C</a:t>
            </a:r>
            <a:r>
              <a:rPr lang="en-US" altLang="zh-CN" sz="1200" dirty="0">
                <a:solidFill>
                  <a:srgbClr val="FF0000"/>
                </a:solidFill>
              </a:rPr>
              <a:t>t</a:t>
            </a:r>
            <a:r>
              <a:rPr lang="en-US" altLang="zh-CN" dirty="0">
                <a:solidFill>
                  <a:srgbClr val="FF0000"/>
                </a:solidFill>
              </a:rPr>
              <a:t> that 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can be fed into the LLM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D4B2BDB-3A5D-B9CB-21BF-E8941CF8B2C9}"/>
              </a:ext>
            </a:extLst>
          </p:cNvPr>
          <p:cNvSpPr/>
          <p:nvPr/>
        </p:nvSpPr>
        <p:spPr>
          <a:xfrm>
            <a:off x="3889524" y="5435829"/>
            <a:ext cx="208655" cy="3191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箭头: 右 3">
            <a:extLst>
              <a:ext uri="{FF2B5EF4-FFF2-40B4-BE49-F238E27FC236}">
                <a16:creationId xmlns:a16="http://schemas.microsoft.com/office/drawing/2014/main" id="{BD25EDA4-48ED-DA7B-A5C5-B7D8C613ED01}"/>
              </a:ext>
            </a:extLst>
          </p:cNvPr>
          <p:cNvSpPr/>
          <p:nvPr/>
        </p:nvSpPr>
        <p:spPr>
          <a:xfrm rot="10800000">
            <a:off x="5159076" y="5388778"/>
            <a:ext cx="693738" cy="484632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2316926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81C57-A375-9396-E5CD-2890A18B7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0B65F9F2-0294-0D44-8247-1B24A6381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3" y="292154"/>
            <a:ext cx="3062205" cy="2912829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7E38919A-018B-F66B-6BBB-6262B5B4D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6316" y="7424"/>
            <a:ext cx="3032966" cy="2676146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A664A5AB-7FBA-000A-534F-77C1A87B66D5}"/>
              </a:ext>
            </a:extLst>
          </p:cNvPr>
          <p:cNvSpPr/>
          <p:nvPr/>
        </p:nvSpPr>
        <p:spPr>
          <a:xfrm>
            <a:off x="5565924" y="2033056"/>
            <a:ext cx="337530" cy="159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对话气泡: 圆角矩形 19">
            <a:extLst>
              <a:ext uri="{FF2B5EF4-FFF2-40B4-BE49-F238E27FC236}">
                <a16:creationId xmlns:a16="http://schemas.microsoft.com/office/drawing/2014/main" id="{F7E39D6B-DF12-1706-EAC1-CEEB18291B54}"/>
              </a:ext>
            </a:extLst>
          </p:cNvPr>
          <p:cNvSpPr/>
          <p:nvPr/>
        </p:nvSpPr>
        <p:spPr>
          <a:xfrm>
            <a:off x="2318499" y="1005216"/>
            <a:ext cx="1031234" cy="340281"/>
          </a:xfrm>
          <a:prstGeom prst="wedgeRoundRectCallout">
            <a:avLst>
              <a:gd name="adj1" fmla="val 23537"/>
              <a:gd name="adj2" fmla="val 43351"/>
              <a:gd name="adj3" fmla="val 16667"/>
            </a:avLst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Context</a:t>
            </a:r>
            <a:endParaRPr lang="en-GB" dirty="0"/>
          </a:p>
        </p:txBody>
      </p:sp>
      <p:sp>
        <p:nvSpPr>
          <p:cNvPr id="21" name="对话气泡: 圆角矩形 20">
            <a:extLst>
              <a:ext uri="{FF2B5EF4-FFF2-40B4-BE49-F238E27FC236}">
                <a16:creationId xmlns:a16="http://schemas.microsoft.com/office/drawing/2014/main" id="{8E47E514-7BD1-126D-F6A5-CBC99A3F2ED8}"/>
              </a:ext>
            </a:extLst>
          </p:cNvPr>
          <p:cNvSpPr/>
          <p:nvPr/>
        </p:nvSpPr>
        <p:spPr>
          <a:xfrm>
            <a:off x="249337" y="2078153"/>
            <a:ext cx="1031234" cy="340281"/>
          </a:xfrm>
          <a:prstGeom prst="wedgeRoundRectCallout">
            <a:avLst>
              <a:gd name="adj1" fmla="val 25917"/>
              <a:gd name="adj2" fmla="val -43216"/>
              <a:gd name="adj3" fmla="val 16667"/>
            </a:avLst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Output</a:t>
            </a:r>
            <a:endParaRPr lang="en-GB" dirty="0"/>
          </a:p>
        </p:txBody>
      </p:sp>
      <p:sp>
        <p:nvSpPr>
          <p:cNvPr id="24" name="对话气泡: 圆角矩形 23">
            <a:extLst>
              <a:ext uri="{FF2B5EF4-FFF2-40B4-BE49-F238E27FC236}">
                <a16:creationId xmlns:a16="http://schemas.microsoft.com/office/drawing/2014/main" id="{E4BDA998-D161-4775-F456-30BAB45212BF}"/>
              </a:ext>
            </a:extLst>
          </p:cNvPr>
          <p:cNvSpPr/>
          <p:nvPr/>
        </p:nvSpPr>
        <p:spPr>
          <a:xfrm>
            <a:off x="401737" y="199235"/>
            <a:ext cx="1031234" cy="340281"/>
          </a:xfrm>
          <a:prstGeom prst="wedgeRoundRectCallout">
            <a:avLst>
              <a:gd name="adj1" fmla="val 25917"/>
              <a:gd name="adj2" fmla="val -43216"/>
              <a:gd name="adj3" fmla="val 16667"/>
            </a:avLst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Input</a:t>
            </a:r>
            <a:endParaRPr lang="en-GB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8E367A3-49F0-DFAB-64C9-29CA9093A4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0270" y="3462571"/>
            <a:ext cx="4243460" cy="2802168"/>
          </a:xfrm>
          <a:prstGeom prst="rect">
            <a:avLst/>
          </a:prstGeom>
        </p:spPr>
      </p:pic>
      <p:sp>
        <p:nvSpPr>
          <p:cNvPr id="9" name="对话气泡: 圆角矩形 8">
            <a:extLst>
              <a:ext uri="{FF2B5EF4-FFF2-40B4-BE49-F238E27FC236}">
                <a16:creationId xmlns:a16="http://schemas.microsoft.com/office/drawing/2014/main" id="{FB3989DC-84B1-D1B4-46AA-762B0D855985}"/>
              </a:ext>
            </a:extLst>
          </p:cNvPr>
          <p:cNvSpPr/>
          <p:nvPr/>
        </p:nvSpPr>
        <p:spPr>
          <a:xfrm>
            <a:off x="4490198" y="4393618"/>
            <a:ext cx="2158251" cy="603832"/>
          </a:xfrm>
          <a:prstGeom prst="wedgeRoundRectCallout">
            <a:avLst>
              <a:gd name="adj1" fmla="val 23537"/>
              <a:gd name="adj2" fmla="val 43351"/>
              <a:gd name="adj3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Context</a:t>
            </a:r>
            <a:endParaRPr lang="en-GB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FB62E1C-7731-D403-4FDB-D80920B26F32}"/>
              </a:ext>
            </a:extLst>
          </p:cNvPr>
          <p:cNvSpPr/>
          <p:nvPr/>
        </p:nvSpPr>
        <p:spPr>
          <a:xfrm>
            <a:off x="5565924" y="3937229"/>
            <a:ext cx="208655" cy="3191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对话气泡: 圆角矩形 10">
            <a:extLst>
              <a:ext uri="{FF2B5EF4-FFF2-40B4-BE49-F238E27FC236}">
                <a16:creationId xmlns:a16="http://schemas.microsoft.com/office/drawing/2014/main" id="{9423BF19-5BA1-5169-FA26-343DBA647B06}"/>
              </a:ext>
            </a:extLst>
          </p:cNvPr>
          <p:cNvSpPr/>
          <p:nvPr/>
        </p:nvSpPr>
        <p:spPr>
          <a:xfrm>
            <a:off x="5903454" y="3587813"/>
            <a:ext cx="1031234" cy="340281"/>
          </a:xfrm>
          <a:prstGeom prst="wedgeRoundRectCallout">
            <a:avLst>
              <a:gd name="adj1" fmla="val 25917"/>
              <a:gd name="adj2" fmla="val -43216"/>
              <a:gd name="adj3" fmla="val 16667"/>
            </a:avLst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Memory</a:t>
            </a:r>
            <a:endParaRPr lang="en-GB" dirty="0"/>
          </a:p>
        </p:txBody>
      </p:sp>
      <p:sp>
        <p:nvSpPr>
          <p:cNvPr id="13" name="对话气泡: 圆角矩形 12">
            <a:extLst>
              <a:ext uri="{FF2B5EF4-FFF2-40B4-BE49-F238E27FC236}">
                <a16:creationId xmlns:a16="http://schemas.microsoft.com/office/drawing/2014/main" id="{13285E03-573F-076E-1234-D0D4A7B0D45D}"/>
              </a:ext>
            </a:extLst>
          </p:cNvPr>
          <p:cNvSpPr/>
          <p:nvPr/>
        </p:nvSpPr>
        <p:spPr>
          <a:xfrm>
            <a:off x="4807783" y="3579018"/>
            <a:ext cx="1031234" cy="340281"/>
          </a:xfrm>
          <a:prstGeom prst="wedgeRoundRectCallout">
            <a:avLst>
              <a:gd name="adj1" fmla="val 25917"/>
              <a:gd name="adj2" fmla="val -43216"/>
              <a:gd name="adj3" fmla="val 16667"/>
            </a:avLst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Prompt</a:t>
            </a:r>
            <a:endParaRPr lang="en-GB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37ECF2E7-1CB5-4B25-EB8B-4321D4A43505}"/>
              </a:ext>
            </a:extLst>
          </p:cNvPr>
          <p:cNvCxnSpPr>
            <a:cxnSpLocks/>
          </p:cNvCxnSpPr>
          <p:nvPr/>
        </p:nvCxnSpPr>
        <p:spPr>
          <a:xfrm flipH="1">
            <a:off x="4647901" y="4287991"/>
            <a:ext cx="1022350" cy="7411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C45517C2-66D2-F5E6-92F4-ED08E496E431}"/>
              </a:ext>
            </a:extLst>
          </p:cNvPr>
          <p:cNvSpPr txBox="1"/>
          <p:nvPr/>
        </p:nvSpPr>
        <p:spPr>
          <a:xfrm>
            <a:off x="5302250" y="4485717"/>
            <a:ext cx="24545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Content in C</a:t>
            </a:r>
            <a:r>
              <a:rPr lang="en-US" altLang="zh-CN" sz="1200" dirty="0">
                <a:solidFill>
                  <a:srgbClr val="FF0000"/>
                </a:solidFill>
              </a:rPr>
              <a:t>t</a:t>
            </a:r>
            <a:r>
              <a:rPr lang="en-US" altLang="zh-CN" dirty="0">
                <a:solidFill>
                  <a:srgbClr val="FF0000"/>
                </a:solidFill>
              </a:rPr>
              <a:t> that 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can be fed into the LLM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7468DD8-BD97-1AD0-5AD9-883967AF9FBD}"/>
              </a:ext>
            </a:extLst>
          </p:cNvPr>
          <p:cNvSpPr/>
          <p:nvPr/>
        </p:nvSpPr>
        <p:spPr>
          <a:xfrm>
            <a:off x="3889524" y="5435829"/>
            <a:ext cx="208655" cy="3191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箭头: 右 3">
            <a:extLst>
              <a:ext uri="{FF2B5EF4-FFF2-40B4-BE49-F238E27FC236}">
                <a16:creationId xmlns:a16="http://schemas.microsoft.com/office/drawing/2014/main" id="{C6F3EC99-FD1E-C575-6D0C-F082D0AE3A99}"/>
              </a:ext>
            </a:extLst>
          </p:cNvPr>
          <p:cNvSpPr/>
          <p:nvPr/>
        </p:nvSpPr>
        <p:spPr>
          <a:xfrm rot="10800000">
            <a:off x="5159076" y="5388778"/>
            <a:ext cx="693738" cy="484632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98562A6-71B1-347D-975E-A19385609745}"/>
              </a:ext>
            </a:extLst>
          </p:cNvPr>
          <p:cNvSpPr txBox="1"/>
          <p:nvPr/>
        </p:nvSpPr>
        <p:spPr>
          <a:xfrm>
            <a:off x="5892682" y="5435829"/>
            <a:ext cx="28730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Leave everything to the LLM?</a:t>
            </a:r>
            <a:endParaRPr lang="en-GB" b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0BC17E4-9699-5802-B7F5-278D2F56CCDB}"/>
              </a:ext>
            </a:extLst>
          </p:cNvPr>
          <p:cNvSpPr txBox="1"/>
          <p:nvPr/>
        </p:nvSpPr>
        <p:spPr>
          <a:xfrm>
            <a:off x="-1" y="6415529"/>
            <a:ext cx="6798734" cy="3291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2099"/>
              </a:lnSpc>
              <a:spcAft>
                <a:spcPts val="900"/>
              </a:spcAft>
              <a:buNone/>
              <a:defRPr sz="1200">
                <a:solidFill>
                  <a:srgbClr val="000000"/>
                </a:solidFill>
                <a:latin typeface="Lucida Grande"/>
              </a:defRPr>
            </a:lvl1pPr>
          </a:lstStyle>
          <a:p>
            <a:r>
              <a:rPr lang="en-US" altLang="zh-CN" dirty="0"/>
              <a:t>Agentic Context Engineering: Evolving Contexts for Self-Improving Language Models (2025)</a:t>
            </a:r>
          </a:p>
        </p:txBody>
      </p:sp>
    </p:spTree>
    <p:extLst>
      <p:ext uri="{BB962C8B-B14F-4D97-AF65-F5344CB8AC3E}">
        <p14:creationId xmlns:p14="http://schemas.microsoft.com/office/powerpoint/2010/main" val="2700894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74A60-7199-8EFC-2D69-F665BAF96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44EB0014-D9A0-0028-80B6-8EA69748F860}"/>
              </a:ext>
            </a:extLst>
          </p:cNvPr>
          <p:cNvSpPr txBox="1"/>
          <p:nvPr/>
        </p:nvSpPr>
        <p:spPr>
          <a:xfrm>
            <a:off x="-1" y="6415529"/>
            <a:ext cx="6798734" cy="3291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2099"/>
              </a:lnSpc>
              <a:spcAft>
                <a:spcPts val="900"/>
              </a:spcAft>
              <a:buNone/>
              <a:defRPr sz="1200">
                <a:solidFill>
                  <a:srgbClr val="000000"/>
                </a:solidFill>
                <a:latin typeface="Lucida Grande"/>
              </a:defRPr>
            </a:lvl1pPr>
          </a:lstStyle>
          <a:p>
            <a:r>
              <a:rPr lang="en-US" altLang="zh-CN" dirty="0"/>
              <a:t>Agentic Context Engineering: Evolving Contexts for Self-Improving Language Models (2025)</a:t>
            </a:r>
          </a:p>
        </p:txBody>
      </p:sp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95A81476-7447-98B5-84B4-D49138FF6815}"/>
              </a:ext>
            </a:extLst>
          </p:cNvPr>
          <p:cNvSpPr/>
          <p:nvPr/>
        </p:nvSpPr>
        <p:spPr>
          <a:xfrm>
            <a:off x="349985" y="1290109"/>
            <a:ext cx="1488994" cy="389672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Input t</a:t>
            </a: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7040C591-C267-8ADB-F327-666FF97FAF02}"/>
              </a:ext>
            </a:extLst>
          </p:cNvPr>
          <p:cNvSpPr/>
          <p:nvPr/>
        </p:nvSpPr>
        <p:spPr>
          <a:xfrm>
            <a:off x="356737" y="329868"/>
            <a:ext cx="1488995" cy="38967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400" noProof="0" dirty="0"/>
              <a:t>System Prompt</a:t>
            </a:r>
          </a:p>
        </p:txBody>
      </p:sp>
      <p:sp>
        <p:nvSpPr>
          <p:cNvPr id="15" name="Rounded Rectangle 3">
            <a:extLst>
              <a:ext uri="{FF2B5EF4-FFF2-40B4-BE49-F238E27FC236}">
                <a16:creationId xmlns:a16="http://schemas.microsoft.com/office/drawing/2014/main" id="{F19FBFFE-6AA9-3323-8951-15C70857E90B}"/>
              </a:ext>
            </a:extLst>
          </p:cNvPr>
          <p:cNvSpPr/>
          <p:nvPr/>
        </p:nvSpPr>
        <p:spPr>
          <a:xfrm>
            <a:off x="356737" y="785301"/>
            <a:ext cx="1482241" cy="44047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Context</a:t>
            </a:r>
          </a:p>
          <a:p>
            <a:pPr algn="ctr"/>
            <a:r>
              <a:rPr lang="en-GB" sz="1400" dirty="0"/>
              <a:t>t</a:t>
            </a:r>
            <a:endParaRPr lang="en-GB" sz="1400" noProof="0" dirty="0"/>
          </a:p>
        </p:txBody>
      </p:sp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C5A48507-BDFA-B759-A169-D40B7A8AE6E4}"/>
              </a:ext>
            </a:extLst>
          </p:cNvPr>
          <p:cNvSpPr/>
          <p:nvPr/>
        </p:nvSpPr>
        <p:spPr>
          <a:xfrm>
            <a:off x="356738" y="1727181"/>
            <a:ext cx="1482240" cy="389672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Output t</a:t>
            </a:r>
          </a:p>
        </p:txBody>
      </p:sp>
      <p:pic>
        <p:nvPicPr>
          <p:cNvPr id="25" name="Picture 4" descr="Big data ">
            <a:extLst>
              <a:ext uri="{FF2B5EF4-FFF2-40B4-BE49-F238E27FC236}">
                <a16:creationId xmlns:a16="http://schemas.microsoft.com/office/drawing/2014/main" id="{07E8FA58-A17C-87B0-B088-FB467AA5B4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1766" y="862539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右大括号 25">
            <a:extLst>
              <a:ext uri="{FF2B5EF4-FFF2-40B4-BE49-F238E27FC236}">
                <a16:creationId xmlns:a16="http://schemas.microsoft.com/office/drawing/2014/main" id="{196B2451-2FA2-EBB1-5136-73042CBAE958}"/>
              </a:ext>
            </a:extLst>
          </p:cNvPr>
          <p:cNvSpPr/>
          <p:nvPr/>
        </p:nvSpPr>
        <p:spPr>
          <a:xfrm>
            <a:off x="1913467" y="1005538"/>
            <a:ext cx="158644" cy="933202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04564118-2D58-180B-A02A-B210E4E31A1D}"/>
              </a:ext>
            </a:extLst>
          </p:cNvPr>
          <p:cNvCxnSpPr>
            <a:stCxn id="26" idx="1"/>
            <a:endCxn id="25" idx="1"/>
          </p:cNvCxnSpPr>
          <p:nvPr/>
        </p:nvCxnSpPr>
        <p:spPr>
          <a:xfrm>
            <a:off x="2072111" y="1472139"/>
            <a:ext cx="20965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Rounded Rectangle 3">
            <a:extLst>
              <a:ext uri="{FF2B5EF4-FFF2-40B4-BE49-F238E27FC236}">
                <a16:creationId xmlns:a16="http://schemas.microsoft.com/office/drawing/2014/main" id="{B01F1780-A596-F272-6B2F-DAA9A78A1896}"/>
              </a:ext>
            </a:extLst>
          </p:cNvPr>
          <p:cNvSpPr/>
          <p:nvPr/>
        </p:nvSpPr>
        <p:spPr>
          <a:xfrm>
            <a:off x="3710620" y="328807"/>
            <a:ext cx="1488995" cy="38967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400" noProof="0" dirty="0"/>
              <a:t>System Prompt</a:t>
            </a:r>
          </a:p>
        </p:txBody>
      </p:sp>
      <p:sp>
        <p:nvSpPr>
          <p:cNvPr id="32" name="Rounded Rectangle 3">
            <a:extLst>
              <a:ext uri="{FF2B5EF4-FFF2-40B4-BE49-F238E27FC236}">
                <a16:creationId xmlns:a16="http://schemas.microsoft.com/office/drawing/2014/main" id="{880E771D-B5A7-F689-CFD5-3F705F3CB6A2}"/>
              </a:ext>
            </a:extLst>
          </p:cNvPr>
          <p:cNvSpPr/>
          <p:nvPr/>
        </p:nvSpPr>
        <p:spPr>
          <a:xfrm>
            <a:off x="3710620" y="784240"/>
            <a:ext cx="1482241" cy="44047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Context</a:t>
            </a:r>
          </a:p>
          <a:p>
            <a:pPr algn="ctr"/>
            <a:r>
              <a:rPr lang="en-GB" sz="1400" dirty="0"/>
              <a:t>t + 1</a:t>
            </a:r>
            <a:endParaRPr lang="en-GB" sz="1400" noProof="0" dirty="0"/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9D18C096-ABE7-2ECD-A809-BAFABD4152EF}"/>
              </a:ext>
            </a:extLst>
          </p:cNvPr>
          <p:cNvCxnSpPr>
            <a:cxnSpLocks/>
            <a:stCxn id="25" idx="3"/>
            <a:endCxn id="32" idx="1"/>
          </p:cNvCxnSpPr>
          <p:nvPr/>
        </p:nvCxnSpPr>
        <p:spPr>
          <a:xfrm flipV="1">
            <a:off x="3500966" y="1004477"/>
            <a:ext cx="209654" cy="4676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58903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34157-F74C-3A72-9371-BF73636A0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9C0C43F6-3555-1492-3D4F-00B45B093B2C}"/>
              </a:ext>
            </a:extLst>
          </p:cNvPr>
          <p:cNvSpPr txBox="1"/>
          <p:nvPr/>
        </p:nvSpPr>
        <p:spPr>
          <a:xfrm>
            <a:off x="-1" y="6415529"/>
            <a:ext cx="6798734" cy="3291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2099"/>
              </a:lnSpc>
              <a:spcAft>
                <a:spcPts val="900"/>
              </a:spcAft>
              <a:buNone/>
              <a:defRPr sz="1200">
                <a:solidFill>
                  <a:srgbClr val="000000"/>
                </a:solidFill>
                <a:latin typeface="Lucida Grande"/>
              </a:defRPr>
            </a:lvl1pPr>
          </a:lstStyle>
          <a:p>
            <a:r>
              <a:rPr lang="en-US" altLang="zh-CN" dirty="0"/>
              <a:t>Agentic Context Engineering: Evolving Contexts for Self-Improving Language Models (2025)</a:t>
            </a:r>
          </a:p>
        </p:txBody>
      </p:sp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9C1A17BD-D6F6-4E65-A711-EA0FA86CB65E}"/>
              </a:ext>
            </a:extLst>
          </p:cNvPr>
          <p:cNvSpPr/>
          <p:nvPr/>
        </p:nvSpPr>
        <p:spPr>
          <a:xfrm>
            <a:off x="349985" y="1290109"/>
            <a:ext cx="1488994" cy="389672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Input t</a:t>
            </a: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3DE97405-A334-1E2E-7E38-19481D50CA99}"/>
              </a:ext>
            </a:extLst>
          </p:cNvPr>
          <p:cNvSpPr/>
          <p:nvPr/>
        </p:nvSpPr>
        <p:spPr>
          <a:xfrm>
            <a:off x="356737" y="329868"/>
            <a:ext cx="1488995" cy="38967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400" noProof="0" dirty="0"/>
              <a:t>System Prompt</a:t>
            </a:r>
          </a:p>
        </p:txBody>
      </p:sp>
      <p:sp>
        <p:nvSpPr>
          <p:cNvPr id="15" name="Rounded Rectangle 3">
            <a:extLst>
              <a:ext uri="{FF2B5EF4-FFF2-40B4-BE49-F238E27FC236}">
                <a16:creationId xmlns:a16="http://schemas.microsoft.com/office/drawing/2014/main" id="{5E77E530-5B8D-F480-EEEC-09E28285D49E}"/>
              </a:ext>
            </a:extLst>
          </p:cNvPr>
          <p:cNvSpPr/>
          <p:nvPr/>
        </p:nvSpPr>
        <p:spPr>
          <a:xfrm>
            <a:off x="356737" y="785301"/>
            <a:ext cx="1482241" cy="44047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Context</a:t>
            </a:r>
          </a:p>
          <a:p>
            <a:pPr algn="ctr"/>
            <a:r>
              <a:rPr lang="en-GB" sz="1400" dirty="0"/>
              <a:t>t</a:t>
            </a:r>
            <a:endParaRPr lang="en-GB" sz="1400" noProof="0" dirty="0"/>
          </a:p>
        </p:txBody>
      </p:sp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0639A1BC-8AC3-8EE7-CCAB-333563BF6A6E}"/>
              </a:ext>
            </a:extLst>
          </p:cNvPr>
          <p:cNvSpPr/>
          <p:nvPr/>
        </p:nvSpPr>
        <p:spPr>
          <a:xfrm>
            <a:off x="356738" y="1727181"/>
            <a:ext cx="1482240" cy="389672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Output t</a:t>
            </a:r>
          </a:p>
        </p:txBody>
      </p:sp>
      <p:pic>
        <p:nvPicPr>
          <p:cNvPr id="25" name="Picture 4" descr="Big data ">
            <a:extLst>
              <a:ext uri="{FF2B5EF4-FFF2-40B4-BE49-F238E27FC236}">
                <a16:creationId xmlns:a16="http://schemas.microsoft.com/office/drawing/2014/main" id="{D208846F-DEDB-A1A4-BE89-01982D8711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1766" y="862539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右大括号 25">
            <a:extLst>
              <a:ext uri="{FF2B5EF4-FFF2-40B4-BE49-F238E27FC236}">
                <a16:creationId xmlns:a16="http://schemas.microsoft.com/office/drawing/2014/main" id="{0D5344F5-B40B-5BA4-78F7-12994CE5B434}"/>
              </a:ext>
            </a:extLst>
          </p:cNvPr>
          <p:cNvSpPr/>
          <p:nvPr/>
        </p:nvSpPr>
        <p:spPr>
          <a:xfrm>
            <a:off x="1913467" y="1005538"/>
            <a:ext cx="158644" cy="933202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DBDC9353-32E7-0132-6D08-19B1EF7C82EA}"/>
              </a:ext>
            </a:extLst>
          </p:cNvPr>
          <p:cNvCxnSpPr>
            <a:stCxn id="26" idx="1"/>
            <a:endCxn id="25" idx="1"/>
          </p:cNvCxnSpPr>
          <p:nvPr/>
        </p:nvCxnSpPr>
        <p:spPr>
          <a:xfrm>
            <a:off x="2072111" y="1472139"/>
            <a:ext cx="20965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Rounded Rectangle 3">
            <a:extLst>
              <a:ext uri="{FF2B5EF4-FFF2-40B4-BE49-F238E27FC236}">
                <a16:creationId xmlns:a16="http://schemas.microsoft.com/office/drawing/2014/main" id="{D7D9B4F9-9109-9494-DA04-5F4402F7B20A}"/>
              </a:ext>
            </a:extLst>
          </p:cNvPr>
          <p:cNvSpPr/>
          <p:nvPr/>
        </p:nvSpPr>
        <p:spPr>
          <a:xfrm>
            <a:off x="3703868" y="1289048"/>
            <a:ext cx="1488994" cy="389672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Input t + 1</a:t>
            </a:r>
          </a:p>
        </p:txBody>
      </p:sp>
      <p:sp>
        <p:nvSpPr>
          <p:cNvPr id="31" name="Rounded Rectangle 3">
            <a:extLst>
              <a:ext uri="{FF2B5EF4-FFF2-40B4-BE49-F238E27FC236}">
                <a16:creationId xmlns:a16="http://schemas.microsoft.com/office/drawing/2014/main" id="{40EBDB48-FAE5-C026-844E-9287C85BD80C}"/>
              </a:ext>
            </a:extLst>
          </p:cNvPr>
          <p:cNvSpPr/>
          <p:nvPr/>
        </p:nvSpPr>
        <p:spPr>
          <a:xfrm>
            <a:off x="3710620" y="328807"/>
            <a:ext cx="1488995" cy="38967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400" noProof="0" dirty="0"/>
              <a:t>System Prompt</a:t>
            </a:r>
          </a:p>
        </p:txBody>
      </p:sp>
      <p:sp>
        <p:nvSpPr>
          <p:cNvPr id="32" name="Rounded Rectangle 3">
            <a:extLst>
              <a:ext uri="{FF2B5EF4-FFF2-40B4-BE49-F238E27FC236}">
                <a16:creationId xmlns:a16="http://schemas.microsoft.com/office/drawing/2014/main" id="{DE788C58-805A-7B3F-838E-0DB14C06648F}"/>
              </a:ext>
            </a:extLst>
          </p:cNvPr>
          <p:cNvSpPr/>
          <p:nvPr/>
        </p:nvSpPr>
        <p:spPr>
          <a:xfrm>
            <a:off x="3710620" y="784240"/>
            <a:ext cx="1482241" cy="44047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Context</a:t>
            </a:r>
          </a:p>
          <a:p>
            <a:pPr algn="ctr"/>
            <a:r>
              <a:rPr lang="en-GB" sz="1400" dirty="0"/>
              <a:t>t + 1</a:t>
            </a:r>
            <a:endParaRPr lang="en-GB" sz="1400" noProof="0" dirty="0"/>
          </a:p>
        </p:txBody>
      </p:sp>
      <p:sp>
        <p:nvSpPr>
          <p:cNvPr id="33" name="Rounded Rectangle 3">
            <a:extLst>
              <a:ext uri="{FF2B5EF4-FFF2-40B4-BE49-F238E27FC236}">
                <a16:creationId xmlns:a16="http://schemas.microsoft.com/office/drawing/2014/main" id="{6AE6AE2E-1204-FB35-2D54-6444165733A3}"/>
              </a:ext>
            </a:extLst>
          </p:cNvPr>
          <p:cNvSpPr/>
          <p:nvPr/>
        </p:nvSpPr>
        <p:spPr>
          <a:xfrm>
            <a:off x="3710621" y="1726120"/>
            <a:ext cx="1482240" cy="389672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Output t + 1</a:t>
            </a:r>
          </a:p>
        </p:txBody>
      </p:sp>
      <p:sp>
        <p:nvSpPr>
          <p:cNvPr id="34" name="右大括号 33">
            <a:extLst>
              <a:ext uri="{FF2B5EF4-FFF2-40B4-BE49-F238E27FC236}">
                <a16:creationId xmlns:a16="http://schemas.microsoft.com/office/drawing/2014/main" id="{2746A52E-02F7-9FB1-692F-5C990CB36161}"/>
              </a:ext>
            </a:extLst>
          </p:cNvPr>
          <p:cNvSpPr/>
          <p:nvPr/>
        </p:nvSpPr>
        <p:spPr>
          <a:xfrm>
            <a:off x="5243871" y="1004477"/>
            <a:ext cx="158644" cy="933202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5" name="Picture 4" descr="Big data ">
            <a:extLst>
              <a:ext uri="{FF2B5EF4-FFF2-40B4-BE49-F238E27FC236}">
                <a16:creationId xmlns:a16="http://schemas.microsoft.com/office/drawing/2014/main" id="{A4A5B102-889C-5CEE-10DF-A3A5F269B1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7633" y="862539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C058C775-D8B4-0372-7008-1EAB3BDD573A}"/>
              </a:ext>
            </a:extLst>
          </p:cNvPr>
          <p:cNvCxnSpPr>
            <a:endCxn id="35" idx="1"/>
          </p:cNvCxnSpPr>
          <p:nvPr/>
        </p:nvCxnSpPr>
        <p:spPr>
          <a:xfrm>
            <a:off x="5407978" y="1472139"/>
            <a:ext cx="20965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1B9D52D6-BB24-412B-9A2E-11FF276498D9}"/>
              </a:ext>
            </a:extLst>
          </p:cNvPr>
          <p:cNvCxnSpPr>
            <a:cxnSpLocks/>
            <a:stCxn id="25" idx="3"/>
            <a:endCxn id="32" idx="1"/>
          </p:cNvCxnSpPr>
          <p:nvPr/>
        </p:nvCxnSpPr>
        <p:spPr>
          <a:xfrm flipV="1">
            <a:off x="3500966" y="1004477"/>
            <a:ext cx="209654" cy="4676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Rounded Rectangle 3">
            <a:extLst>
              <a:ext uri="{FF2B5EF4-FFF2-40B4-BE49-F238E27FC236}">
                <a16:creationId xmlns:a16="http://schemas.microsoft.com/office/drawing/2014/main" id="{5DEF675A-7FAF-1791-8907-9E3CEC7641B2}"/>
              </a:ext>
            </a:extLst>
          </p:cNvPr>
          <p:cNvSpPr/>
          <p:nvPr/>
        </p:nvSpPr>
        <p:spPr>
          <a:xfrm>
            <a:off x="7230532" y="327746"/>
            <a:ext cx="1488995" cy="38967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400" noProof="0" dirty="0"/>
              <a:t>System Prompt</a:t>
            </a:r>
          </a:p>
        </p:txBody>
      </p:sp>
      <p:sp>
        <p:nvSpPr>
          <p:cNvPr id="50" name="Rounded Rectangle 3">
            <a:extLst>
              <a:ext uri="{FF2B5EF4-FFF2-40B4-BE49-F238E27FC236}">
                <a16:creationId xmlns:a16="http://schemas.microsoft.com/office/drawing/2014/main" id="{A3152A05-B3F8-4652-B5DF-241643218C79}"/>
              </a:ext>
            </a:extLst>
          </p:cNvPr>
          <p:cNvSpPr/>
          <p:nvPr/>
        </p:nvSpPr>
        <p:spPr>
          <a:xfrm>
            <a:off x="7230532" y="783179"/>
            <a:ext cx="1482241" cy="44047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Context</a:t>
            </a:r>
          </a:p>
          <a:p>
            <a:pPr algn="ctr"/>
            <a:r>
              <a:rPr lang="en-GB" sz="1400" dirty="0"/>
              <a:t>t + 2</a:t>
            </a:r>
            <a:endParaRPr lang="en-GB" sz="1400" noProof="0" dirty="0"/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0F1F8CCC-E5F6-0271-2940-AE7916A1C390}"/>
              </a:ext>
            </a:extLst>
          </p:cNvPr>
          <p:cNvCxnSpPr>
            <a:cxnSpLocks/>
            <a:stCxn id="35" idx="3"/>
            <a:endCxn id="50" idx="1"/>
          </p:cNvCxnSpPr>
          <p:nvPr/>
        </p:nvCxnSpPr>
        <p:spPr>
          <a:xfrm flipV="1">
            <a:off x="6836833" y="1003416"/>
            <a:ext cx="393699" cy="4687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36545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38D31-2D4C-68E3-1216-3B35A2452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E99D535C-E215-DD88-F471-2BDE92567514}"/>
              </a:ext>
            </a:extLst>
          </p:cNvPr>
          <p:cNvSpPr txBox="1"/>
          <p:nvPr/>
        </p:nvSpPr>
        <p:spPr>
          <a:xfrm>
            <a:off x="-1" y="6415529"/>
            <a:ext cx="6798734" cy="3291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2099"/>
              </a:lnSpc>
              <a:spcAft>
                <a:spcPts val="900"/>
              </a:spcAft>
              <a:buNone/>
              <a:defRPr sz="1200">
                <a:solidFill>
                  <a:srgbClr val="000000"/>
                </a:solidFill>
                <a:latin typeface="Lucida Grande"/>
              </a:defRPr>
            </a:lvl1pPr>
          </a:lstStyle>
          <a:p>
            <a:r>
              <a:rPr lang="en-US" altLang="zh-CN" dirty="0"/>
              <a:t>Agentic Context Engineering: Evolving Contexts for Self-Improving Language Models (2025)</a:t>
            </a:r>
          </a:p>
        </p:txBody>
      </p:sp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8520DFBE-C951-42FC-C2E0-35A0F50C8172}"/>
              </a:ext>
            </a:extLst>
          </p:cNvPr>
          <p:cNvSpPr/>
          <p:nvPr/>
        </p:nvSpPr>
        <p:spPr>
          <a:xfrm>
            <a:off x="349985" y="1290109"/>
            <a:ext cx="1488994" cy="389672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Input t</a:t>
            </a: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7EDD47F1-7B7C-6C94-E9E2-677D6853EF77}"/>
              </a:ext>
            </a:extLst>
          </p:cNvPr>
          <p:cNvSpPr/>
          <p:nvPr/>
        </p:nvSpPr>
        <p:spPr>
          <a:xfrm>
            <a:off x="356737" y="329868"/>
            <a:ext cx="1488995" cy="38967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400" noProof="0" dirty="0"/>
              <a:t>System Prompt</a:t>
            </a:r>
          </a:p>
        </p:txBody>
      </p:sp>
      <p:sp>
        <p:nvSpPr>
          <p:cNvPr id="15" name="Rounded Rectangle 3">
            <a:extLst>
              <a:ext uri="{FF2B5EF4-FFF2-40B4-BE49-F238E27FC236}">
                <a16:creationId xmlns:a16="http://schemas.microsoft.com/office/drawing/2014/main" id="{446D886C-A11D-1928-3C5C-260F33E5E320}"/>
              </a:ext>
            </a:extLst>
          </p:cNvPr>
          <p:cNvSpPr/>
          <p:nvPr/>
        </p:nvSpPr>
        <p:spPr>
          <a:xfrm>
            <a:off x="356737" y="785301"/>
            <a:ext cx="1482241" cy="44047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Context</a:t>
            </a:r>
          </a:p>
          <a:p>
            <a:pPr algn="ctr"/>
            <a:r>
              <a:rPr lang="en-GB" sz="1400" dirty="0"/>
              <a:t>t</a:t>
            </a:r>
            <a:endParaRPr lang="en-GB" sz="1400" noProof="0" dirty="0"/>
          </a:p>
        </p:txBody>
      </p:sp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477BF93F-019D-FAAE-1537-2EA88F71D39B}"/>
              </a:ext>
            </a:extLst>
          </p:cNvPr>
          <p:cNvSpPr/>
          <p:nvPr/>
        </p:nvSpPr>
        <p:spPr>
          <a:xfrm>
            <a:off x="356738" y="1727181"/>
            <a:ext cx="1482240" cy="389672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Output t</a:t>
            </a:r>
          </a:p>
        </p:txBody>
      </p:sp>
      <p:pic>
        <p:nvPicPr>
          <p:cNvPr id="25" name="Picture 4" descr="Big data ">
            <a:extLst>
              <a:ext uri="{FF2B5EF4-FFF2-40B4-BE49-F238E27FC236}">
                <a16:creationId xmlns:a16="http://schemas.microsoft.com/office/drawing/2014/main" id="{212D7F77-B0E7-05A7-7B5D-D75EE0DEF4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1766" y="862539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右大括号 25">
            <a:extLst>
              <a:ext uri="{FF2B5EF4-FFF2-40B4-BE49-F238E27FC236}">
                <a16:creationId xmlns:a16="http://schemas.microsoft.com/office/drawing/2014/main" id="{BFA2B368-BD0C-6B65-0A6F-51CC49FA07A0}"/>
              </a:ext>
            </a:extLst>
          </p:cNvPr>
          <p:cNvSpPr/>
          <p:nvPr/>
        </p:nvSpPr>
        <p:spPr>
          <a:xfrm>
            <a:off x="1913467" y="1005538"/>
            <a:ext cx="158644" cy="933202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9156FC45-6F84-A591-F763-18BD44A56E15}"/>
              </a:ext>
            </a:extLst>
          </p:cNvPr>
          <p:cNvCxnSpPr>
            <a:stCxn id="26" idx="1"/>
            <a:endCxn id="25" idx="1"/>
          </p:cNvCxnSpPr>
          <p:nvPr/>
        </p:nvCxnSpPr>
        <p:spPr>
          <a:xfrm>
            <a:off x="2072111" y="1472139"/>
            <a:ext cx="20965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Rounded Rectangle 3">
            <a:extLst>
              <a:ext uri="{FF2B5EF4-FFF2-40B4-BE49-F238E27FC236}">
                <a16:creationId xmlns:a16="http://schemas.microsoft.com/office/drawing/2014/main" id="{70D3D56C-22F6-B76E-4EFB-A3727B45ED43}"/>
              </a:ext>
            </a:extLst>
          </p:cNvPr>
          <p:cNvSpPr/>
          <p:nvPr/>
        </p:nvSpPr>
        <p:spPr>
          <a:xfrm>
            <a:off x="3703868" y="1289048"/>
            <a:ext cx="1488994" cy="389672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Input t + 1</a:t>
            </a:r>
          </a:p>
        </p:txBody>
      </p:sp>
      <p:sp>
        <p:nvSpPr>
          <p:cNvPr id="31" name="Rounded Rectangle 3">
            <a:extLst>
              <a:ext uri="{FF2B5EF4-FFF2-40B4-BE49-F238E27FC236}">
                <a16:creationId xmlns:a16="http://schemas.microsoft.com/office/drawing/2014/main" id="{A9E18502-0B18-D8E5-FB05-E39258DF015A}"/>
              </a:ext>
            </a:extLst>
          </p:cNvPr>
          <p:cNvSpPr/>
          <p:nvPr/>
        </p:nvSpPr>
        <p:spPr>
          <a:xfrm>
            <a:off x="3710620" y="328807"/>
            <a:ext cx="1488995" cy="38967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400" noProof="0" dirty="0"/>
              <a:t>System Prompt</a:t>
            </a:r>
          </a:p>
        </p:txBody>
      </p:sp>
      <p:sp>
        <p:nvSpPr>
          <p:cNvPr id="32" name="Rounded Rectangle 3">
            <a:extLst>
              <a:ext uri="{FF2B5EF4-FFF2-40B4-BE49-F238E27FC236}">
                <a16:creationId xmlns:a16="http://schemas.microsoft.com/office/drawing/2014/main" id="{75C58F05-A144-E444-8541-7108BB27D136}"/>
              </a:ext>
            </a:extLst>
          </p:cNvPr>
          <p:cNvSpPr/>
          <p:nvPr/>
        </p:nvSpPr>
        <p:spPr>
          <a:xfrm>
            <a:off x="3710620" y="784240"/>
            <a:ext cx="1482241" cy="44047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Context</a:t>
            </a:r>
          </a:p>
          <a:p>
            <a:pPr algn="ctr"/>
            <a:r>
              <a:rPr lang="en-GB" sz="1400" dirty="0"/>
              <a:t>t + 1</a:t>
            </a:r>
            <a:endParaRPr lang="en-GB" sz="1400" noProof="0" dirty="0"/>
          </a:p>
        </p:txBody>
      </p:sp>
      <p:sp>
        <p:nvSpPr>
          <p:cNvPr id="33" name="Rounded Rectangle 3">
            <a:extLst>
              <a:ext uri="{FF2B5EF4-FFF2-40B4-BE49-F238E27FC236}">
                <a16:creationId xmlns:a16="http://schemas.microsoft.com/office/drawing/2014/main" id="{53CA87E9-B0F5-E2A0-B605-09714246328A}"/>
              </a:ext>
            </a:extLst>
          </p:cNvPr>
          <p:cNvSpPr/>
          <p:nvPr/>
        </p:nvSpPr>
        <p:spPr>
          <a:xfrm>
            <a:off x="3710621" y="1726120"/>
            <a:ext cx="1482240" cy="389672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Output t + 1</a:t>
            </a:r>
          </a:p>
        </p:txBody>
      </p:sp>
      <p:sp>
        <p:nvSpPr>
          <p:cNvPr id="34" name="右大括号 33">
            <a:extLst>
              <a:ext uri="{FF2B5EF4-FFF2-40B4-BE49-F238E27FC236}">
                <a16:creationId xmlns:a16="http://schemas.microsoft.com/office/drawing/2014/main" id="{AB4E9391-243D-EC9C-8F6C-6B18037F792E}"/>
              </a:ext>
            </a:extLst>
          </p:cNvPr>
          <p:cNvSpPr/>
          <p:nvPr/>
        </p:nvSpPr>
        <p:spPr>
          <a:xfrm>
            <a:off x="5243871" y="1004477"/>
            <a:ext cx="158644" cy="933202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5" name="Picture 4" descr="Big data ">
            <a:extLst>
              <a:ext uri="{FF2B5EF4-FFF2-40B4-BE49-F238E27FC236}">
                <a16:creationId xmlns:a16="http://schemas.microsoft.com/office/drawing/2014/main" id="{4086B5EF-F096-E054-4B16-CD5DF073F7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7633" y="862539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20D4F107-DF1E-40F2-8EC6-D985DBC51276}"/>
              </a:ext>
            </a:extLst>
          </p:cNvPr>
          <p:cNvCxnSpPr>
            <a:endCxn id="35" idx="1"/>
          </p:cNvCxnSpPr>
          <p:nvPr/>
        </p:nvCxnSpPr>
        <p:spPr>
          <a:xfrm>
            <a:off x="5407978" y="1472139"/>
            <a:ext cx="20965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F2EE53E3-5DC6-4416-F69A-DC395B8E43D3}"/>
              </a:ext>
            </a:extLst>
          </p:cNvPr>
          <p:cNvCxnSpPr>
            <a:cxnSpLocks/>
            <a:stCxn id="25" idx="3"/>
            <a:endCxn id="32" idx="1"/>
          </p:cNvCxnSpPr>
          <p:nvPr/>
        </p:nvCxnSpPr>
        <p:spPr>
          <a:xfrm flipV="1">
            <a:off x="3500966" y="1004477"/>
            <a:ext cx="209654" cy="4676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Rounded Rectangle 3">
            <a:extLst>
              <a:ext uri="{FF2B5EF4-FFF2-40B4-BE49-F238E27FC236}">
                <a16:creationId xmlns:a16="http://schemas.microsoft.com/office/drawing/2014/main" id="{07144177-868F-BC10-E6CB-94287746F99A}"/>
              </a:ext>
            </a:extLst>
          </p:cNvPr>
          <p:cNvSpPr/>
          <p:nvPr/>
        </p:nvSpPr>
        <p:spPr>
          <a:xfrm>
            <a:off x="7223780" y="1287987"/>
            <a:ext cx="1488994" cy="389672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Input t + 2</a:t>
            </a:r>
          </a:p>
        </p:txBody>
      </p:sp>
      <p:sp>
        <p:nvSpPr>
          <p:cNvPr id="49" name="Rounded Rectangle 3">
            <a:extLst>
              <a:ext uri="{FF2B5EF4-FFF2-40B4-BE49-F238E27FC236}">
                <a16:creationId xmlns:a16="http://schemas.microsoft.com/office/drawing/2014/main" id="{263DF8B4-8007-03C0-BAA6-514DBA87CEE7}"/>
              </a:ext>
            </a:extLst>
          </p:cNvPr>
          <p:cNvSpPr/>
          <p:nvPr/>
        </p:nvSpPr>
        <p:spPr>
          <a:xfrm>
            <a:off x="7230532" y="327746"/>
            <a:ext cx="1488995" cy="38967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400" noProof="0" dirty="0"/>
              <a:t>System Prompt</a:t>
            </a:r>
          </a:p>
        </p:txBody>
      </p:sp>
      <p:sp>
        <p:nvSpPr>
          <p:cNvPr id="50" name="Rounded Rectangle 3">
            <a:extLst>
              <a:ext uri="{FF2B5EF4-FFF2-40B4-BE49-F238E27FC236}">
                <a16:creationId xmlns:a16="http://schemas.microsoft.com/office/drawing/2014/main" id="{361EFC85-3992-2F94-D54E-2CE2766D3D80}"/>
              </a:ext>
            </a:extLst>
          </p:cNvPr>
          <p:cNvSpPr/>
          <p:nvPr/>
        </p:nvSpPr>
        <p:spPr>
          <a:xfrm>
            <a:off x="7230532" y="783179"/>
            <a:ext cx="1482241" cy="44047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Context</a:t>
            </a:r>
          </a:p>
          <a:p>
            <a:pPr algn="ctr"/>
            <a:r>
              <a:rPr lang="en-GB" sz="1400" dirty="0"/>
              <a:t>t + 2</a:t>
            </a:r>
            <a:endParaRPr lang="en-GB" sz="1400" noProof="0" dirty="0"/>
          </a:p>
        </p:txBody>
      </p:sp>
      <p:sp>
        <p:nvSpPr>
          <p:cNvPr id="51" name="Rounded Rectangle 3">
            <a:extLst>
              <a:ext uri="{FF2B5EF4-FFF2-40B4-BE49-F238E27FC236}">
                <a16:creationId xmlns:a16="http://schemas.microsoft.com/office/drawing/2014/main" id="{35D3DBCC-D8B5-A5C6-8C29-70CE8AE1E969}"/>
              </a:ext>
            </a:extLst>
          </p:cNvPr>
          <p:cNvSpPr/>
          <p:nvPr/>
        </p:nvSpPr>
        <p:spPr>
          <a:xfrm>
            <a:off x="7230533" y="1725059"/>
            <a:ext cx="1482240" cy="389672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Output t + 2</a:t>
            </a: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D8D3897C-1A98-044E-DE47-7860429D5EB4}"/>
              </a:ext>
            </a:extLst>
          </p:cNvPr>
          <p:cNvCxnSpPr>
            <a:cxnSpLocks/>
            <a:stCxn id="35" idx="3"/>
            <a:endCxn id="50" idx="1"/>
          </p:cNvCxnSpPr>
          <p:nvPr/>
        </p:nvCxnSpPr>
        <p:spPr>
          <a:xfrm flipV="1">
            <a:off x="6836833" y="1003416"/>
            <a:ext cx="393699" cy="4687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96060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BD62F-103B-B20D-2AE7-CD0962AEB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138003B7-01FC-1E9E-30A5-0570EC53C6BD}"/>
              </a:ext>
            </a:extLst>
          </p:cNvPr>
          <p:cNvSpPr txBox="1"/>
          <p:nvPr/>
        </p:nvSpPr>
        <p:spPr>
          <a:xfrm>
            <a:off x="-1" y="6415529"/>
            <a:ext cx="6798734" cy="3291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2099"/>
              </a:lnSpc>
              <a:spcAft>
                <a:spcPts val="900"/>
              </a:spcAft>
              <a:buNone/>
              <a:defRPr sz="1200">
                <a:solidFill>
                  <a:srgbClr val="000000"/>
                </a:solidFill>
                <a:latin typeface="Lucida Grande"/>
              </a:defRPr>
            </a:lvl1pPr>
          </a:lstStyle>
          <a:p>
            <a:r>
              <a:rPr lang="en-US" altLang="zh-CN" dirty="0"/>
              <a:t>Agentic Context Engineering: Evolving Contexts for Self-Improving Language Models (2025)</a:t>
            </a:r>
          </a:p>
        </p:txBody>
      </p:sp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7627C070-8867-39D9-0081-1528722A2900}"/>
              </a:ext>
            </a:extLst>
          </p:cNvPr>
          <p:cNvSpPr/>
          <p:nvPr/>
        </p:nvSpPr>
        <p:spPr>
          <a:xfrm>
            <a:off x="349985" y="1290109"/>
            <a:ext cx="1488994" cy="389672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Input t</a:t>
            </a: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93E63309-42BA-FF96-8C3E-377C29D01F17}"/>
              </a:ext>
            </a:extLst>
          </p:cNvPr>
          <p:cNvSpPr/>
          <p:nvPr/>
        </p:nvSpPr>
        <p:spPr>
          <a:xfrm>
            <a:off x="356737" y="329868"/>
            <a:ext cx="1488995" cy="38967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400" noProof="0" dirty="0"/>
              <a:t>System Prompt</a:t>
            </a:r>
          </a:p>
        </p:txBody>
      </p:sp>
      <p:sp>
        <p:nvSpPr>
          <p:cNvPr id="15" name="Rounded Rectangle 3">
            <a:extLst>
              <a:ext uri="{FF2B5EF4-FFF2-40B4-BE49-F238E27FC236}">
                <a16:creationId xmlns:a16="http://schemas.microsoft.com/office/drawing/2014/main" id="{E1EE400C-93D1-E0B7-3321-63D71C95AAB2}"/>
              </a:ext>
            </a:extLst>
          </p:cNvPr>
          <p:cNvSpPr/>
          <p:nvPr/>
        </p:nvSpPr>
        <p:spPr>
          <a:xfrm>
            <a:off x="356737" y="785301"/>
            <a:ext cx="1482241" cy="44047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Context</a:t>
            </a:r>
          </a:p>
          <a:p>
            <a:pPr algn="ctr"/>
            <a:r>
              <a:rPr lang="en-GB" sz="1400" dirty="0"/>
              <a:t>t</a:t>
            </a:r>
            <a:endParaRPr lang="en-GB" sz="1400" noProof="0" dirty="0"/>
          </a:p>
        </p:txBody>
      </p:sp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535C06F2-F811-7817-A2D4-C3F7B37E770E}"/>
              </a:ext>
            </a:extLst>
          </p:cNvPr>
          <p:cNvSpPr/>
          <p:nvPr/>
        </p:nvSpPr>
        <p:spPr>
          <a:xfrm>
            <a:off x="356738" y="1727181"/>
            <a:ext cx="1482240" cy="389672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Output t</a:t>
            </a:r>
          </a:p>
        </p:txBody>
      </p:sp>
      <p:pic>
        <p:nvPicPr>
          <p:cNvPr id="25" name="Picture 4" descr="Big data ">
            <a:extLst>
              <a:ext uri="{FF2B5EF4-FFF2-40B4-BE49-F238E27FC236}">
                <a16:creationId xmlns:a16="http://schemas.microsoft.com/office/drawing/2014/main" id="{930A738F-6DC3-1F85-3714-A013B33893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1766" y="862539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右大括号 25">
            <a:extLst>
              <a:ext uri="{FF2B5EF4-FFF2-40B4-BE49-F238E27FC236}">
                <a16:creationId xmlns:a16="http://schemas.microsoft.com/office/drawing/2014/main" id="{1FD27301-E577-F095-9303-1896269A5E81}"/>
              </a:ext>
            </a:extLst>
          </p:cNvPr>
          <p:cNvSpPr/>
          <p:nvPr/>
        </p:nvSpPr>
        <p:spPr>
          <a:xfrm>
            <a:off x="1913467" y="1005538"/>
            <a:ext cx="158644" cy="933202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2C671DC4-97A9-07FE-F603-8AD8999A6B6E}"/>
              </a:ext>
            </a:extLst>
          </p:cNvPr>
          <p:cNvCxnSpPr>
            <a:stCxn id="26" idx="1"/>
            <a:endCxn id="25" idx="1"/>
          </p:cNvCxnSpPr>
          <p:nvPr/>
        </p:nvCxnSpPr>
        <p:spPr>
          <a:xfrm>
            <a:off x="2072111" y="1472139"/>
            <a:ext cx="20965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Rounded Rectangle 3">
            <a:extLst>
              <a:ext uri="{FF2B5EF4-FFF2-40B4-BE49-F238E27FC236}">
                <a16:creationId xmlns:a16="http://schemas.microsoft.com/office/drawing/2014/main" id="{90FFF108-2B2E-9373-9D6F-8D0A8F9F58CA}"/>
              </a:ext>
            </a:extLst>
          </p:cNvPr>
          <p:cNvSpPr/>
          <p:nvPr/>
        </p:nvSpPr>
        <p:spPr>
          <a:xfrm>
            <a:off x="3703868" y="1289048"/>
            <a:ext cx="1488994" cy="389672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Input t + 1</a:t>
            </a:r>
          </a:p>
        </p:txBody>
      </p:sp>
      <p:sp>
        <p:nvSpPr>
          <p:cNvPr id="31" name="Rounded Rectangle 3">
            <a:extLst>
              <a:ext uri="{FF2B5EF4-FFF2-40B4-BE49-F238E27FC236}">
                <a16:creationId xmlns:a16="http://schemas.microsoft.com/office/drawing/2014/main" id="{8D155C69-A2C0-130A-9EE4-E18C4C0B629A}"/>
              </a:ext>
            </a:extLst>
          </p:cNvPr>
          <p:cNvSpPr/>
          <p:nvPr/>
        </p:nvSpPr>
        <p:spPr>
          <a:xfrm>
            <a:off x="3710620" y="328807"/>
            <a:ext cx="1488995" cy="38967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400" noProof="0" dirty="0"/>
              <a:t>System Prompt</a:t>
            </a:r>
          </a:p>
        </p:txBody>
      </p:sp>
      <p:sp>
        <p:nvSpPr>
          <p:cNvPr id="32" name="Rounded Rectangle 3">
            <a:extLst>
              <a:ext uri="{FF2B5EF4-FFF2-40B4-BE49-F238E27FC236}">
                <a16:creationId xmlns:a16="http://schemas.microsoft.com/office/drawing/2014/main" id="{2E73C448-7610-4319-742E-7BCEAC1C4540}"/>
              </a:ext>
            </a:extLst>
          </p:cNvPr>
          <p:cNvSpPr/>
          <p:nvPr/>
        </p:nvSpPr>
        <p:spPr>
          <a:xfrm>
            <a:off x="3710620" y="784240"/>
            <a:ext cx="1482241" cy="44047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Context</a:t>
            </a:r>
          </a:p>
          <a:p>
            <a:pPr algn="ctr"/>
            <a:r>
              <a:rPr lang="en-GB" sz="1400" dirty="0"/>
              <a:t>t + 1</a:t>
            </a:r>
            <a:endParaRPr lang="en-GB" sz="1400" noProof="0" dirty="0"/>
          </a:p>
        </p:txBody>
      </p:sp>
      <p:sp>
        <p:nvSpPr>
          <p:cNvPr id="33" name="Rounded Rectangle 3">
            <a:extLst>
              <a:ext uri="{FF2B5EF4-FFF2-40B4-BE49-F238E27FC236}">
                <a16:creationId xmlns:a16="http://schemas.microsoft.com/office/drawing/2014/main" id="{F3DA8C33-9C12-8EE4-B871-090679E071F2}"/>
              </a:ext>
            </a:extLst>
          </p:cNvPr>
          <p:cNvSpPr/>
          <p:nvPr/>
        </p:nvSpPr>
        <p:spPr>
          <a:xfrm>
            <a:off x="3710621" y="1726120"/>
            <a:ext cx="1482240" cy="389672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Output t + 1</a:t>
            </a:r>
          </a:p>
        </p:txBody>
      </p:sp>
      <p:sp>
        <p:nvSpPr>
          <p:cNvPr id="34" name="右大括号 33">
            <a:extLst>
              <a:ext uri="{FF2B5EF4-FFF2-40B4-BE49-F238E27FC236}">
                <a16:creationId xmlns:a16="http://schemas.microsoft.com/office/drawing/2014/main" id="{B0AD37C5-BA85-9CD5-AD3E-D6C5577046B6}"/>
              </a:ext>
            </a:extLst>
          </p:cNvPr>
          <p:cNvSpPr/>
          <p:nvPr/>
        </p:nvSpPr>
        <p:spPr>
          <a:xfrm>
            <a:off x="5243871" y="1004477"/>
            <a:ext cx="158644" cy="933202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5" name="Picture 4" descr="Big data ">
            <a:extLst>
              <a:ext uri="{FF2B5EF4-FFF2-40B4-BE49-F238E27FC236}">
                <a16:creationId xmlns:a16="http://schemas.microsoft.com/office/drawing/2014/main" id="{2B760852-BF15-D442-4DC0-BA042AA945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7633" y="862539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13CDEAB6-32C8-94A8-BEC9-3F13AD7E22F8}"/>
              </a:ext>
            </a:extLst>
          </p:cNvPr>
          <p:cNvCxnSpPr>
            <a:endCxn id="35" idx="1"/>
          </p:cNvCxnSpPr>
          <p:nvPr/>
        </p:nvCxnSpPr>
        <p:spPr>
          <a:xfrm>
            <a:off x="5407978" y="1472139"/>
            <a:ext cx="20965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C0B99089-503A-0EB9-D7A0-70005679BA4A}"/>
              </a:ext>
            </a:extLst>
          </p:cNvPr>
          <p:cNvCxnSpPr>
            <a:cxnSpLocks/>
            <a:stCxn id="25" idx="3"/>
            <a:endCxn id="32" idx="1"/>
          </p:cNvCxnSpPr>
          <p:nvPr/>
        </p:nvCxnSpPr>
        <p:spPr>
          <a:xfrm flipV="1">
            <a:off x="3500966" y="1004477"/>
            <a:ext cx="209654" cy="4676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Rounded Rectangle 3">
            <a:extLst>
              <a:ext uri="{FF2B5EF4-FFF2-40B4-BE49-F238E27FC236}">
                <a16:creationId xmlns:a16="http://schemas.microsoft.com/office/drawing/2014/main" id="{BF81E226-212B-A1A5-E22C-3F9A810A4F1B}"/>
              </a:ext>
            </a:extLst>
          </p:cNvPr>
          <p:cNvSpPr/>
          <p:nvPr/>
        </p:nvSpPr>
        <p:spPr>
          <a:xfrm>
            <a:off x="7223780" y="1287987"/>
            <a:ext cx="1488994" cy="389672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Input t + 2</a:t>
            </a:r>
          </a:p>
        </p:txBody>
      </p:sp>
      <p:sp>
        <p:nvSpPr>
          <p:cNvPr id="49" name="Rounded Rectangle 3">
            <a:extLst>
              <a:ext uri="{FF2B5EF4-FFF2-40B4-BE49-F238E27FC236}">
                <a16:creationId xmlns:a16="http://schemas.microsoft.com/office/drawing/2014/main" id="{75D96BB2-7A75-B63B-A184-0BEC41995E7A}"/>
              </a:ext>
            </a:extLst>
          </p:cNvPr>
          <p:cNvSpPr/>
          <p:nvPr/>
        </p:nvSpPr>
        <p:spPr>
          <a:xfrm>
            <a:off x="7230532" y="327746"/>
            <a:ext cx="1488995" cy="38967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400" noProof="0" dirty="0"/>
              <a:t>System Prompt</a:t>
            </a:r>
          </a:p>
        </p:txBody>
      </p:sp>
      <p:sp>
        <p:nvSpPr>
          <p:cNvPr id="50" name="Rounded Rectangle 3">
            <a:extLst>
              <a:ext uri="{FF2B5EF4-FFF2-40B4-BE49-F238E27FC236}">
                <a16:creationId xmlns:a16="http://schemas.microsoft.com/office/drawing/2014/main" id="{BD9D0924-973A-1CA0-0304-82C72490E0DC}"/>
              </a:ext>
            </a:extLst>
          </p:cNvPr>
          <p:cNvSpPr/>
          <p:nvPr/>
        </p:nvSpPr>
        <p:spPr>
          <a:xfrm>
            <a:off x="7230532" y="783179"/>
            <a:ext cx="1482241" cy="44047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Context</a:t>
            </a:r>
          </a:p>
          <a:p>
            <a:pPr algn="ctr"/>
            <a:r>
              <a:rPr lang="en-GB" sz="1400" dirty="0"/>
              <a:t>t + 2</a:t>
            </a:r>
            <a:endParaRPr lang="en-GB" sz="1400" noProof="0" dirty="0"/>
          </a:p>
        </p:txBody>
      </p:sp>
      <p:sp>
        <p:nvSpPr>
          <p:cNvPr id="51" name="Rounded Rectangle 3">
            <a:extLst>
              <a:ext uri="{FF2B5EF4-FFF2-40B4-BE49-F238E27FC236}">
                <a16:creationId xmlns:a16="http://schemas.microsoft.com/office/drawing/2014/main" id="{A7991050-30F1-2A3A-808F-D0FDA9619BFD}"/>
              </a:ext>
            </a:extLst>
          </p:cNvPr>
          <p:cNvSpPr/>
          <p:nvPr/>
        </p:nvSpPr>
        <p:spPr>
          <a:xfrm>
            <a:off x="7230533" y="1725059"/>
            <a:ext cx="1482240" cy="389672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Output t + 2</a:t>
            </a: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D463760A-CACF-E7A9-8884-1293CA3B80C8}"/>
              </a:ext>
            </a:extLst>
          </p:cNvPr>
          <p:cNvCxnSpPr>
            <a:cxnSpLocks/>
            <a:stCxn id="35" idx="3"/>
            <a:endCxn id="50" idx="1"/>
          </p:cNvCxnSpPr>
          <p:nvPr/>
        </p:nvCxnSpPr>
        <p:spPr>
          <a:xfrm flipV="1">
            <a:off x="6836833" y="1003416"/>
            <a:ext cx="393699" cy="4687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9211D70B-3DCB-8735-59E2-CFECAC6AA669}"/>
              </a:ext>
            </a:extLst>
          </p:cNvPr>
          <p:cNvSpPr/>
          <p:nvPr/>
        </p:nvSpPr>
        <p:spPr>
          <a:xfrm>
            <a:off x="309647" y="231789"/>
            <a:ext cx="8571886" cy="503987"/>
          </a:xfrm>
          <a:prstGeom prst="round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" name="箭头: 右 2">
            <a:extLst>
              <a:ext uri="{FF2B5EF4-FFF2-40B4-BE49-F238E27FC236}">
                <a16:creationId xmlns:a16="http://schemas.microsoft.com/office/drawing/2014/main" id="{A8D9FBF1-27EF-2D3B-ECAE-3B46AADFECDB}"/>
              </a:ext>
            </a:extLst>
          </p:cNvPr>
          <p:cNvSpPr/>
          <p:nvPr/>
        </p:nvSpPr>
        <p:spPr>
          <a:xfrm rot="18212708">
            <a:off x="-26635" y="627279"/>
            <a:ext cx="693738" cy="484632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7270014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0612D-976E-4AD3-0114-A8A333AE0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B9299148-88DF-7EEE-0B78-742E3FDB12F1}"/>
              </a:ext>
            </a:extLst>
          </p:cNvPr>
          <p:cNvSpPr txBox="1"/>
          <p:nvPr/>
        </p:nvSpPr>
        <p:spPr>
          <a:xfrm>
            <a:off x="-1" y="6415529"/>
            <a:ext cx="6798734" cy="3291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2099"/>
              </a:lnSpc>
              <a:spcAft>
                <a:spcPts val="900"/>
              </a:spcAft>
              <a:buNone/>
              <a:defRPr sz="1200">
                <a:solidFill>
                  <a:srgbClr val="000000"/>
                </a:solidFill>
                <a:latin typeface="Lucida Grande"/>
              </a:defRPr>
            </a:lvl1pPr>
          </a:lstStyle>
          <a:p>
            <a:r>
              <a:rPr lang="en-US" altLang="zh-CN" dirty="0"/>
              <a:t>Dynamic Cheatsheet: Test-Time Learning with Adaptive Memory (2025)</a:t>
            </a:r>
          </a:p>
        </p:txBody>
      </p:sp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AF0DB393-A313-B74D-3BCE-7C317A1630BB}"/>
              </a:ext>
            </a:extLst>
          </p:cNvPr>
          <p:cNvSpPr/>
          <p:nvPr/>
        </p:nvSpPr>
        <p:spPr>
          <a:xfrm>
            <a:off x="349985" y="1290109"/>
            <a:ext cx="1488994" cy="389672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Input t</a:t>
            </a: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8A60BBD7-0DCF-B8AC-291D-C7B043D3B0AE}"/>
              </a:ext>
            </a:extLst>
          </p:cNvPr>
          <p:cNvSpPr/>
          <p:nvPr/>
        </p:nvSpPr>
        <p:spPr>
          <a:xfrm>
            <a:off x="356737" y="329868"/>
            <a:ext cx="1488995" cy="38967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400" noProof="0" dirty="0"/>
              <a:t>System Prompt</a:t>
            </a:r>
          </a:p>
        </p:txBody>
      </p:sp>
      <p:sp>
        <p:nvSpPr>
          <p:cNvPr id="15" name="Rounded Rectangle 3">
            <a:extLst>
              <a:ext uri="{FF2B5EF4-FFF2-40B4-BE49-F238E27FC236}">
                <a16:creationId xmlns:a16="http://schemas.microsoft.com/office/drawing/2014/main" id="{9017095E-30B0-FF9E-91A3-36B9C37551F4}"/>
              </a:ext>
            </a:extLst>
          </p:cNvPr>
          <p:cNvSpPr/>
          <p:nvPr/>
        </p:nvSpPr>
        <p:spPr>
          <a:xfrm>
            <a:off x="356737" y="785301"/>
            <a:ext cx="1482241" cy="44047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Context</a:t>
            </a:r>
          </a:p>
          <a:p>
            <a:pPr algn="ctr"/>
            <a:r>
              <a:rPr lang="en-GB" sz="1400" dirty="0"/>
              <a:t>t</a:t>
            </a:r>
            <a:endParaRPr lang="en-GB" sz="1400" noProof="0" dirty="0"/>
          </a:p>
        </p:txBody>
      </p:sp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1588E542-BB92-7835-2C96-11C0666CAF06}"/>
              </a:ext>
            </a:extLst>
          </p:cNvPr>
          <p:cNvSpPr/>
          <p:nvPr/>
        </p:nvSpPr>
        <p:spPr>
          <a:xfrm>
            <a:off x="356738" y="1727181"/>
            <a:ext cx="1482240" cy="389672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Output t</a:t>
            </a:r>
          </a:p>
        </p:txBody>
      </p:sp>
      <p:pic>
        <p:nvPicPr>
          <p:cNvPr id="25" name="Picture 4" descr="Big data ">
            <a:extLst>
              <a:ext uri="{FF2B5EF4-FFF2-40B4-BE49-F238E27FC236}">
                <a16:creationId xmlns:a16="http://schemas.microsoft.com/office/drawing/2014/main" id="{2D548744-380B-720B-EC8D-51056DADF1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1766" y="862539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右大括号 25">
            <a:extLst>
              <a:ext uri="{FF2B5EF4-FFF2-40B4-BE49-F238E27FC236}">
                <a16:creationId xmlns:a16="http://schemas.microsoft.com/office/drawing/2014/main" id="{E376ABA8-C173-30E8-991E-5D540B05EE17}"/>
              </a:ext>
            </a:extLst>
          </p:cNvPr>
          <p:cNvSpPr/>
          <p:nvPr/>
        </p:nvSpPr>
        <p:spPr>
          <a:xfrm>
            <a:off x="1913467" y="1005538"/>
            <a:ext cx="158644" cy="933202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0B8B7E5A-50FD-E565-8C7D-237E27E14B79}"/>
              </a:ext>
            </a:extLst>
          </p:cNvPr>
          <p:cNvCxnSpPr>
            <a:stCxn id="26" idx="1"/>
            <a:endCxn id="25" idx="1"/>
          </p:cNvCxnSpPr>
          <p:nvPr/>
        </p:nvCxnSpPr>
        <p:spPr>
          <a:xfrm>
            <a:off x="2072111" y="1472139"/>
            <a:ext cx="20965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Rounded Rectangle 3">
            <a:extLst>
              <a:ext uri="{FF2B5EF4-FFF2-40B4-BE49-F238E27FC236}">
                <a16:creationId xmlns:a16="http://schemas.microsoft.com/office/drawing/2014/main" id="{A7D45F1B-58BD-D937-8123-72272341403B}"/>
              </a:ext>
            </a:extLst>
          </p:cNvPr>
          <p:cNvSpPr/>
          <p:nvPr/>
        </p:nvSpPr>
        <p:spPr>
          <a:xfrm>
            <a:off x="3703868" y="1289048"/>
            <a:ext cx="1488994" cy="389672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Input t + 1</a:t>
            </a:r>
          </a:p>
        </p:txBody>
      </p:sp>
      <p:sp>
        <p:nvSpPr>
          <p:cNvPr id="31" name="Rounded Rectangle 3">
            <a:extLst>
              <a:ext uri="{FF2B5EF4-FFF2-40B4-BE49-F238E27FC236}">
                <a16:creationId xmlns:a16="http://schemas.microsoft.com/office/drawing/2014/main" id="{0E7ED09D-F1EC-DB83-11CC-80E3FC9B3918}"/>
              </a:ext>
            </a:extLst>
          </p:cNvPr>
          <p:cNvSpPr/>
          <p:nvPr/>
        </p:nvSpPr>
        <p:spPr>
          <a:xfrm>
            <a:off x="3710620" y="328807"/>
            <a:ext cx="1488995" cy="38967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400" noProof="0" dirty="0"/>
              <a:t>System Prompt</a:t>
            </a:r>
          </a:p>
        </p:txBody>
      </p:sp>
      <p:sp>
        <p:nvSpPr>
          <p:cNvPr id="32" name="Rounded Rectangle 3">
            <a:extLst>
              <a:ext uri="{FF2B5EF4-FFF2-40B4-BE49-F238E27FC236}">
                <a16:creationId xmlns:a16="http://schemas.microsoft.com/office/drawing/2014/main" id="{CEAF4A7F-E14C-C76D-37B8-43490ED8CC98}"/>
              </a:ext>
            </a:extLst>
          </p:cNvPr>
          <p:cNvSpPr/>
          <p:nvPr/>
        </p:nvSpPr>
        <p:spPr>
          <a:xfrm>
            <a:off x="3710620" y="784240"/>
            <a:ext cx="1482241" cy="44047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Context</a:t>
            </a:r>
          </a:p>
          <a:p>
            <a:pPr algn="ctr"/>
            <a:r>
              <a:rPr lang="en-GB" sz="1400" dirty="0"/>
              <a:t>t + 1</a:t>
            </a:r>
            <a:endParaRPr lang="en-GB" sz="1400" noProof="0" dirty="0"/>
          </a:p>
        </p:txBody>
      </p:sp>
      <p:sp>
        <p:nvSpPr>
          <p:cNvPr id="33" name="Rounded Rectangle 3">
            <a:extLst>
              <a:ext uri="{FF2B5EF4-FFF2-40B4-BE49-F238E27FC236}">
                <a16:creationId xmlns:a16="http://schemas.microsoft.com/office/drawing/2014/main" id="{8BE237C1-FBFA-3A4D-C801-0303E4618A08}"/>
              </a:ext>
            </a:extLst>
          </p:cNvPr>
          <p:cNvSpPr/>
          <p:nvPr/>
        </p:nvSpPr>
        <p:spPr>
          <a:xfrm>
            <a:off x="3710621" y="1726120"/>
            <a:ext cx="1482240" cy="389672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Output t + 1</a:t>
            </a:r>
          </a:p>
        </p:txBody>
      </p:sp>
      <p:sp>
        <p:nvSpPr>
          <p:cNvPr id="34" name="右大括号 33">
            <a:extLst>
              <a:ext uri="{FF2B5EF4-FFF2-40B4-BE49-F238E27FC236}">
                <a16:creationId xmlns:a16="http://schemas.microsoft.com/office/drawing/2014/main" id="{B194FE7B-C7DD-712C-6349-D951C1797E2F}"/>
              </a:ext>
            </a:extLst>
          </p:cNvPr>
          <p:cNvSpPr/>
          <p:nvPr/>
        </p:nvSpPr>
        <p:spPr>
          <a:xfrm>
            <a:off x="5243871" y="1004477"/>
            <a:ext cx="158644" cy="933202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5" name="Picture 4" descr="Big data ">
            <a:extLst>
              <a:ext uri="{FF2B5EF4-FFF2-40B4-BE49-F238E27FC236}">
                <a16:creationId xmlns:a16="http://schemas.microsoft.com/office/drawing/2014/main" id="{9A6AB4DC-CF4E-716A-EC36-5370C2A9B9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7633" y="862539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E7581707-C89F-B55D-6A5F-5B988D59CC83}"/>
              </a:ext>
            </a:extLst>
          </p:cNvPr>
          <p:cNvCxnSpPr>
            <a:endCxn id="35" idx="1"/>
          </p:cNvCxnSpPr>
          <p:nvPr/>
        </p:nvCxnSpPr>
        <p:spPr>
          <a:xfrm>
            <a:off x="5407978" y="1472139"/>
            <a:ext cx="20965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E75B8CC2-D852-6A95-6D3F-B1D15AB04753}"/>
              </a:ext>
            </a:extLst>
          </p:cNvPr>
          <p:cNvCxnSpPr>
            <a:cxnSpLocks/>
            <a:stCxn id="25" idx="3"/>
            <a:endCxn id="32" idx="1"/>
          </p:cNvCxnSpPr>
          <p:nvPr/>
        </p:nvCxnSpPr>
        <p:spPr>
          <a:xfrm flipV="1">
            <a:off x="3500966" y="1004477"/>
            <a:ext cx="209654" cy="4676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Rounded Rectangle 3">
            <a:extLst>
              <a:ext uri="{FF2B5EF4-FFF2-40B4-BE49-F238E27FC236}">
                <a16:creationId xmlns:a16="http://schemas.microsoft.com/office/drawing/2014/main" id="{3EA84E77-36C1-F20D-F86B-C337DDBF3A40}"/>
              </a:ext>
            </a:extLst>
          </p:cNvPr>
          <p:cNvSpPr/>
          <p:nvPr/>
        </p:nvSpPr>
        <p:spPr>
          <a:xfrm>
            <a:off x="7223780" y="1287987"/>
            <a:ext cx="1488994" cy="389672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Input t + 2</a:t>
            </a:r>
          </a:p>
        </p:txBody>
      </p:sp>
      <p:sp>
        <p:nvSpPr>
          <p:cNvPr id="49" name="Rounded Rectangle 3">
            <a:extLst>
              <a:ext uri="{FF2B5EF4-FFF2-40B4-BE49-F238E27FC236}">
                <a16:creationId xmlns:a16="http://schemas.microsoft.com/office/drawing/2014/main" id="{6EC705CC-4106-D966-2AA2-F185A6EA7A3A}"/>
              </a:ext>
            </a:extLst>
          </p:cNvPr>
          <p:cNvSpPr/>
          <p:nvPr/>
        </p:nvSpPr>
        <p:spPr>
          <a:xfrm>
            <a:off x="7230532" y="327746"/>
            <a:ext cx="1488995" cy="38967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400" noProof="0" dirty="0"/>
              <a:t>System Prompt</a:t>
            </a:r>
          </a:p>
        </p:txBody>
      </p:sp>
      <p:sp>
        <p:nvSpPr>
          <p:cNvPr id="50" name="Rounded Rectangle 3">
            <a:extLst>
              <a:ext uri="{FF2B5EF4-FFF2-40B4-BE49-F238E27FC236}">
                <a16:creationId xmlns:a16="http://schemas.microsoft.com/office/drawing/2014/main" id="{73D00464-E7DE-15C7-0604-A4C882FBCE4D}"/>
              </a:ext>
            </a:extLst>
          </p:cNvPr>
          <p:cNvSpPr/>
          <p:nvPr/>
        </p:nvSpPr>
        <p:spPr>
          <a:xfrm>
            <a:off x="7230532" y="783179"/>
            <a:ext cx="1482241" cy="44047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Context</a:t>
            </a:r>
          </a:p>
          <a:p>
            <a:pPr algn="ctr"/>
            <a:r>
              <a:rPr lang="en-GB" sz="1400" dirty="0"/>
              <a:t>t + 2</a:t>
            </a:r>
            <a:endParaRPr lang="en-GB" sz="1400" noProof="0" dirty="0"/>
          </a:p>
        </p:txBody>
      </p:sp>
      <p:sp>
        <p:nvSpPr>
          <p:cNvPr id="51" name="Rounded Rectangle 3">
            <a:extLst>
              <a:ext uri="{FF2B5EF4-FFF2-40B4-BE49-F238E27FC236}">
                <a16:creationId xmlns:a16="http://schemas.microsoft.com/office/drawing/2014/main" id="{AD469A5E-5511-7C6A-C3EB-55D69232996B}"/>
              </a:ext>
            </a:extLst>
          </p:cNvPr>
          <p:cNvSpPr/>
          <p:nvPr/>
        </p:nvSpPr>
        <p:spPr>
          <a:xfrm>
            <a:off x="7230533" y="1725059"/>
            <a:ext cx="1482240" cy="389672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Output t + 2</a:t>
            </a: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9496589F-7928-7FE8-2405-110A87E94FCA}"/>
              </a:ext>
            </a:extLst>
          </p:cNvPr>
          <p:cNvCxnSpPr>
            <a:cxnSpLocks/>
            <a:stCxn id="35" idx="3"/>
            <a:endCxn id="50" idx="1"/>
          </p:cNvCxnSpPr>
          <p:nvPr/>
        </p:nvCxnSpPr>
        <p:spPr>
          <a:xfrm flipV="1">
            <a:off x="6836833" y="1003416"/>
            <a:ext cx="393699" cy="4687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0BE1E8CC-2373-B412-7688-4CCFB9B55C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4314" y="2194522"/>
            <a:ext cx="1974103" cy="3251199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FB69333-677C-BF20-E07C-65A1EBEF4137}"/>
              </a:ext>
            </a:extLst>
          </p:cNvPr>
          <p:cNvSpPr txBox="1"/>
          <p:nvPr/>
        </p:nvSpPr>
        <p:spPr>
          <a:xfrm>
            <a:off x="3878417" y="4522391"/>
            <a:ext cx="45762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Core idea: save what may be useful later</a:t>
            </a:r>
            <a:r>
              <a:rPr lang="en-US" altLang="zh-CN" dirty="0"/>
              <a:t> effective strategies, reusable code, and key findings.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30450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41766-4718-0838-49B4-5DEA398F2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23091624-57C1-D4F0-5339-48484D06C3CF}"/>
              </a:ext>
            </a:extLst>
          </p:cNvPr>
          <p:cNvSpPr txBox="1"/>
          <p:nvPr/>
        </p:nvSpPr>
        <p:spPr>
          <a:xfrm>
            <a:off x="-1" y="6415529"/>
            <a:ext cx="6798734" cy="3291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2099"/>
              </a:lnSpc>
              <a:spcAft>
                <a:spcPts val="900"/>
              </a:spcAft>
              <a:buNone/>
              <a:defRPr sz="1200">
                <a:solidFill>
                  <a:srgbClr val="000000"/>
                </a:solidFill>
                <a:latin typeface="Lucida Grande"/>
              </a:defRPr>
            </a:lvl1pPr>
          </a:lstStyle>
          <a:p>
            <a:r>
              <a:rPr lang="en-US" altLang="zh-CN" dirty="0"/>
              <a:t>Agentic Context Engineering: Evolving Contexts for Self-Improving Language Models (2025)</a:t>
            </a:r>
          </a:p>
        </p:txBody>
      </p:sp>
      <p:sp>
        <p:nvSpPr>
          <p:cNvPr id="15" name="Rounded Rectangle 3">
            <a:extLst>
              <a:ext uri="{FF2B5EF4-FFF2-40B4-BE49-F238E27FC236}">
                <a16:creationId xmlns:a16="http://schemas.microsoft.com/office/drawing/2014/main" id="{3C612B90-6BE5-003E-FA87-B5A7A94BDF28}"/>
              </a:ext>
            </a:extLst>
          </p:cNvPr>
          <p:cNvSpPr/>
          <p:nvPr/>
        </p:nvSpPr>
        <p:spPr>
          <a:xfrm>
            <a:off x="356737" y="785301"/>
            <a:ext cx="1482241" cy="44047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Context</a:t>
            </a:r>
          </a:p>
          <a:p>
            <a:pPr algn="ctr"/>
            <a:r>
              <a:rPr lang="en-GB" sz="1400" dirty="0"/>
              <a:t>t</a:t>
            </a:r>
            <a:endParaRPr lang="en-GB" sz="1400" noProof="0" dirty="0"/>
          </a:p>
        </p:txBody>
      </p:sp>
      <p:pic>
        <p:nvPicPr>
          <p:cNvPr id="25" name="Picture 4" descr="Big data ">
            <a:extLst>
              <a:ext uri="{FF2B5EF4-FFF2-40B4-BE49-F238E27FC236}">
                <a16:creationId xmlns:a16="http://schemas.microsoft.com/office/drawing/2014/main" id="{A6BF1DB6-78D0-D311-6546-6C9E31F3C3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2019" y="395938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FEBC5037-9F33-C570-25C1-5DFD70E7F63C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1838978" y="1005538"/>
            <a:ext cx="2328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8DC46997-38CD-432A-5581-16AF6299F97C}"/>
              </a:ext>
            </a:extLst>
          </p:cNvPr>
          <p:cNvSpPr txBox="1"/>
          <p:nvPr/>
        </p:nvSpPr>
        <p:spPr>
          <a:xfrm>
            <a:off x="678756" y="425020"/>
            <a:ext cx="838201" cy="3291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2099"/>
              </a:lnSpc>
              <a:spcAft>
                <a:spcPts val="900"/>
              </a:spcAft>
              <a:buNone/>
              <a:defRPr sz="1200">
                <a:solidFill>
                  <a:srgbClr val="000000"/>
                </a:solidFill>
                <a:latin typeface="Lucida Grande"/>
              </a:defRPr>
            </a:lvl1pPr>
          </a:lstStyle>
          <a:p>
            <a:r>
              <a:rPr lang="en-US" altLang="zh-CN" dirty="0"/>
              <a:t>Playbook</a:t>
            </a:r>
          </a:p>
        </p:txBody>
      </p:sp>
      <p:pic>
        <p:nvPicPr>
          <p:cNvPr id="6" name="Picture 4" descr="Big data ">
            <a:extLst>
              <a:ext uri="{FF2B5EF4-FFF2-40B4-BE49-F238E27FC236}">
                <a16:creationId xmlns:a16="http://schemas.microsoft.com/office/drawing/2014/main" id="{D7AC2731-B623-E3B8-E0C9-C523D280B4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6885" y="395938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ig data ">
            <a:extLst>
              <a:ext uri="{FF2B5EF4-FFF2-40B4-BE49-F238E27FC236}">
                <a16:creationId xmlns:a16="http://schemas.microsoft.com/office/drawing/2014/main" id="{ED06EC31-A9E4-8F02-2AAB-535B376A09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1751" y="395938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7452B932-7397-D6E5-81E4-AA369BC2E9C6}"/>
              </a:ext>
            </a:extLst>
          </p:cNvPr>
          <p:cNvCxnSpPr>
            <a:cxnSpLocks/>
            <a:stCxn id="25" idx="3"/>
            <a:endCxn id="6" idx="1"/>
          </p:cNvCxnSpPr>
          <p:nvPr/>
        </p:nvCxnSpPr>
        <p:spPr>
          <a:xfrm>
            <a:off x="3321219" y="1005538"/>
            <a:ext cx="4656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631B20C5-DD7F-3A10-F68C-E5FCF1D49DDB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>
            <a:off x="5006085" y="1005538"/>
            <a:ext cx="4656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7B0B2612-3296-2FE4-38C6-0A8536919399}"/>
              </a:ext>
            </a:extLst>
          </p:cNvPr>
          <p:cNvSpPr txBox="1"/>
          <p:nvPr/>
        </p:nvSpPr>
        <p:spPr>
          <a:xfrm>
            <a:off x="2296751" y="123495"/>
            <a:ext cx="954449" cy="3291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2099"/>
              </a:lnSpc>
              <a:spcAft>
                <a:spcPts val="900"/>
              </a:spcAft>
              <a:buNone/>
              <a:defRPr sz="1200">
                <a:solidFill>
                  <a:srgbClr val="000000"/>
                </a:solidFill>
                <a:latin typeface="Lucida Grande"/>
              </a:defRPr>
            </a:lvl1pPr>
          </a:lstStyle>
          <a:p>
            <a:r>
              <a:rPr lang="en-US" altLang="zh-CN" dirty="0"/>
              <a:t>Generator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E2F9BE8-E7C0-1CC6-CA86-6D4E68A8B0A3}"/>
              </a:ext>
            </a:extLst>
          </p:cNvPr>
          <p:cNvSpPr txBox="1"/>
          <p:nvPr/>
        </p:nvSpPr>
        <p:spPr>
          <a:xfrm>
            <a:off x="4016626" y="145390"/>
            <a:ext cx="954449" cy="3291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2099"/>
              </a:lnSpc>
              <a:spcAft>
                <a:spcPts val="900"/>
              </a:spcAft>
              <a:buNone/>
              <a:defRPr sz="1200">
                <a:solidFill>
                  <a:srgbClr val="000000"/>
                </a:solidFill>
                <a:latin typeface="Lucida Grande"/>
              </a:defRPr>
            </a:lvl1pPr>
          </a:lstStyle>
          <a:p>
            <a:r>
              <a:rPr lang="en-US" altLang="zh-CN" dirty="0"/>
              <a:t>Reflector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5683A12-69F1-3E4E-AD11-FD240E527844}"/>
              </a:ext>
            </a:extLst>
          </p:cNvPr>
          <p:cNvSpPr txBox="1"/>
          <p:nvPr/>
        </p:nvSpPr>
        <p:spPr>
          <a:xfrm>
            <a:off x="5736502" y="145389"/>
            <a:ext cx="954449" cy="3291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2099"/>
              </a:lnSpc>
              <a:spcAft>
                <a:spcPts val="900"/>
              </a:spcAft>
              <a:buNone/>
              <a:defRPr sz="1200">
                <a:solidFill>
                  <a:srgbClr val="000000"/>
                </a:solidFill>
                <a:latin typeface="Lucida Grande"/>
              </a:defRPr>
            </a:lvl1pPr>
          </a:lstStyle>
          <a:p>
            <a:r>
              <a:rPr lang="en-US" altLang="zh-CN" dirty="0"/>
              <a:t>Curator</a:t>
            </a:r>
          </a:p>
        </p:txBody>
      </p:sp>
      <p:pic>
        <p:nvPicPr>
          <p:cNvPr id="7170" name="Picture 2" descr="Strategy ">
            <a:extLst>
              <a:ext uri="{FF2B5EF4-FFF2-40B4-BE49-F238E27FC236}">
                <a16:creationId xmlns:a16="http://schemas.microsoft.com/office/drawing/2014/main" id="{122455BE-F1D9-AE1B-419F-23C4DC0B5F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3885" y="2392114"/>
            <a:ext cx="965200" cy="96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F57FDE88-DA9A-D46D-C36B-38D57FA53B70}"/>
              </a:ext>
            </a:extLst>
          </p:cNvPr>
          <p:cNvCxnSpPr>
            <a:cxnSpLocks/>
            <a:stCxn id="8" idx="2"/>
            <a:endCxn id="7170" idx="0"/>
          </p:cNvCxnSpPr>
          <p:nvPr/>
        </p:nvCxnSpPr>
        <p:spPr>
          <a:xfrm flipH="1">
            <a:off x="4396485" y="1615138"/>
            <a:ext cx="1684866" cy="7769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8334D045-C7B3-BEC0-8719-159961AA1637}"/>
              </a:ext>
            </a:extLst>
          </p:cNvPr>
          <p:cNvSpPr txBox="1"/>
          <p:nvPr/>
        </p:nvSpPr>
        <p:spPr>
          <a:xfrm>
            <a:off x="3749927" y="3396206"/>
            <a:ext cx="1293115" cy="3291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2099"/>
              </a:lnSpc>
              <a:spcAft>
                <a:spcPts val="900"/>
              </a:spcAft>
              <a:buNone/>
              <a:defRPr sz="1200">
                <a:solidFill>
                  <a:srgbClr val="000000"/>
                </a:solidFill>
                <a:latin typeface="Lucida Grande"/>
              </a:defRPr>
            </a:lvl1pPr>
          </a:lstStyle>
          <a:p>
            <a:r>
              <a:rPr lang="en-US" altLang="zh-CN" b="1" dirty="0"/>
              <a:t>Edit</a:t>
            </a:r>
            <a:r>
              <a:rPr lang="en-US" altLang="zh-CN" dirty="0"/>
              <a:t> Instruction</a:t>
            </a:r>
          </a:p>
        </p:txBody>
      </p:sp>
    </p:spTree>
    <p:extLst>
      <p:ext uri="{BB962C8B-B14F-4D97-AF65-F5344CB8AC3E}">
        <p14:creationId xmlns:p14="http://schemas.microsoft.com/office/powerpoint/2010/main" val="3665768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88F67-3C5A-F437-DAC2-BD9F768CC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8E6FFA31-3D89-20A5-1178-BA13CE17F8FC}"/>
              </a:ext>
            </a:extLst>
          </p:cNvPr>
          <p:cNvSpPr txBox="1"/>
          <p:nvPr/>
        </p:nvSpPr>
        <p:spPr>
          <a:xfrm>
            <a:off x="-1" y="6415529"/>
            <a:ext cx="6798734" cy="3291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2099"/>
              </a:lnSpc>
              <a:spcAft>
                <a:spcPts val="900"/>
              </a:spcAft>
              <a:buNone/>
              <a:defRPr sz="1200">
                <a:solidFill>
                  <a:srgbClr val="000000"/>
                </a:solidFill>
                <a:latin typeface="Lucida Grande"/>
              </a:defRPr>
            </a:lvl1pPr>
          </a:lstStyle>
          <a:p>
            <a:r>
              <a:rPr lang="en-US" altLang="zh-CN" dirty="0"/>
              <a:t>Agentic Context Engineering: Evolving Contexts for Self-Improving Language Models (2025)</a:t>
            </a:r>
          </a:p>
        </p:txBody>
      </p:sp>
      <p:sp>
        <p:nvSpPr>
          <p:cNvPr id="15" name="Rounded Rectangle 3">
            <a:extLst>
              <a:ext uri="{FF2B5EF4-FFF2-40B4-BE49-F238E27FC236}">
                <a16:creationId xmlns:a16="http://schemas.microsoft.com/office/drawing/2014/main" id="{35C11B37-4A93-A660-220D-AA488A8D40F8}"/>
              </a:ext>
            </a:extLst>
          </p:cNvPr>
          <p:cNvSpPr/>
          <p:nvPr/>
        </p:nvSpPr>
        <p:spPr>
          <a:xfrm>
            <a:off x="356737" y="785301"/>
            <a:ext cx="1482241" cy="44047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Context</a:t>
            </a:r>
          </a:p>
          <a:p>
            <a:pPr algn="ctr"/>
            <a:r>
              <a:rPr lang="en-GB" sz="1400" dirty="0"/>
              <a:t>t</a:t>
            </a:r>
            <a:endParaRPr lang="en-GB" sz="1400" noProof="0" dirty="0"/>
          </a:p>
        </p:txBody>
      </p:sp>
      <p:pic>
        <p:nvPicPr>
          <p:cNvPr id="25" name="Picture 4" descr="Big data ">
            <a:extLst>
              <a:ext uri="{FF2B5EF4-FFF2-40B4-BE49-F238E27FC236}">
                <a16:creationId xmlns:a16="http://schemas.microsoft.com/office/drawing/2014/main" id="{41C50138-D383-8581-FB33-0CC9D45C6C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2019" y="395938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D2407519-85B4-038B-CD08-AF862F777A33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1838978" y="1005538"/>
            <a:ext cx="2328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43507968-5663-1D61-0605-6FC562BFCC4F}"/>
              </a:ext>
            </a:extLst>
          </p:cNvPr>
          <p:cNvSpPr txBox="1"/>
          <p:nvPr/>
        </p:nvSpPr>
        <p:spPr>
          <a:xfrm>
            <a:off x="678756" y="425020"/>
            <a:ext cx="838201" cy="3291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2099"/>
              </a:lnSpc>
              <a:spcAft>
                <a:spcPts val="900"/>
              </a:spcAft>
              <a:buNone/>
              <a:defRPr sz="1200">
                <a:solidFill>
                  <a:srgbClr val="000000"/>
                </a:solidFill>
                <a:latin typeface="Lucida Grande"/>
              </a:defRPr>
            </a:lvl1pPr>
          </a:lstStyle>
          <a:p>
            <a:r>
              <a:rPr lang="en-US" altLang="zh-CN" dirty="0"/>
              <a:t>Playbook</a:t>
            </a:r>
          </a:p>
        </p:txBody>
      </p:sp>
      <p:pic>
        <p:nvPicPr>
          <p:cNvPr id="6" name="Picture 4" descr="Big data ">
            <a:extLst>
              <a:ext uri="{FF2B5EF4-FFF2-40B4-BE49-F238E27FC236}">
                <a16:creationId xmlns:a16="http://schemas.microsoft.com/office/drawing/2014/main" id="{22CEFFD3-A417-A596-5AC3-61153C5F91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6885" y="395938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ig data ">
            <a:extLst>
              <a:ext uri="{FF2B5EF4-FFF2-40B4-BE49-F238E27FC236}">
                <a16:creationId xmlns:a16="http://schemas.microsoft.com/office/drawing/2014/main" id="{DBC7B3BE-BA9E-C22B-8578-BFDA68339D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1751" y="395938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62F774BE-21AF-9ACE-618D-4379DFA8A73A}"/>
              </a:ext>
            </a:extLst>
          </p:cNvPr>
          <p:cNvCxnSpPr>
            <a:cxnSpLocks/>
            <a:stCxn id="25" idx="3"/>
            <a:endCxn id="6" idx="1"/>
          </p:cNvCxnSpPr>
          <p:nvPr/>
        </p:nvCxnSpPr>
        <p:spPr>
          <a:xfrm>
            <a:off x="3321219" y="1005538"/>
            <a:ext cx="4656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4B2E4C74-2C40-007A-10E3-354B166A348B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>
            <a:off x="5006085" y="1005538"/>
            <a:ext cx="4656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C3A46818-DFA7-CB10-EF30-989D3A829442}"/>
              </a:ext>
            </a:extLst>
          </p:cNvPr>
          <p:cNvSpPr txBox="1"/>
          <p:nvPr/>
        </p:nvSpPr>
        <p:spPr>
          <a:xfrm>
            <a:off x="2296751" y="123495"/>
            <a:ext cx="954449" cy="3291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2099"/>
              </a:lnSpc>
              <a:spcAft>
                <a:spcPts val="900"/>
              </a:spcAft>
              <a:buNone/>
              <a:defRPr sz="1200">
                <a:solidFill>
                  <a:srgbClr val="000000"/>
                </a:solidFill>
                <a:latin typeface="Lucida Grande"/>
              </a:defRPr>
            </a:lvl1pPr>
          </a:lstStyle>
          <a:p>
            <a:r>
              <a:rPr lang="en-US" altLang="zh-CN" dirty="0"/>
              <a:t>Generator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4A1A6EF-813E-65B2-AEC3-B21F462D3022}"/>
              </a:ext>
            </a:extLst>
          </p:cNvPr>
          <p:cNvSpPr txBox="1"/>
          <p:nvPr/>
        </p:nvSpPr>
        <p:spPr>
          <a:xfrm>
            <a:off x="4016626" y="145390"/>
            <a:ext cx="954449" cy="3291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2099"/>
              </a:lnSpc>
              <a:spcAft>
                <a:spcPts val="900"/>
              </a:spcAft>
              <a:buNone/>
              <a:defRPr sz="1200">
                <a:solidFill>
                  <a:srgbClr val="000000"/>
                </a:solidFill>
                <a:latin typeface="Lucida Grande"/>
              </a:defRPr>
            </a:lvl1pPr>
          </a:lstStyle>
          <a:p>
            <a:r>
              <a:rPr lang="en-US" altLang="zh-CN" dirty="0"/>
              <a:t>Reflector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897E5B6-A038-34EA-8333-F765E03E468D}"/>
              </a:ext>
            </a:extLst>
          </p:cNvPr>
          <p:cNvSpPr txBox="1"/>
          <p:nvPr/>
        </p:nvSpPr>
        <p:spPr>
          <a:xfrm>
            <a:off x="5736502" y="145389"/>
            <a:ext cx="954449" cy="3291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2099"/>
              </a:lnSpc>
              <a:spcAft>
                <a:spcPts val="900"/>
              </a:spcAft>
              <a:buNone/>
              <a:defRPr sz="1200">
                <a:solidFill>
                  <a:srgbClr val="000000"/>
                </a:solidFill>
                <a:latin typeface="Lucida Grande"/>
              </a:defRPr>
            </a:lvl1pPr>
          </a:lstStyle>
          <a:p>
            <a:r>
              <a:rPr lang="en-US" altLang="zh-CN" dirty="0"/>
              <a:t>Curator</a:t>
            </a:r>
          </a:p>
        </p:txBody>
      </p:sp>
      <p:pic>
        <p:nvPicPr>
          <p:cNvPr id="7170" name="Picture 2" descr="Strategy ">
            <a:extLst>
              <a:ext uri="{FF2B5EF4-FFF2-40B4-BE49-F238E27FC236}">
                <a16:creationId xmlns:a16="http://schemas.microsoft.com/office/drawing/2014/main" id="{A82E9E6C-2EAD-6500-E531-96B6D4E0BC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3885" y="2392114"/>
            <a:ext cx="965200" cy="96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4F13BAFA-E429-77FA-4A20-DC71B183B562}"/>
              </a:ext>
            </a:extLst>
          </p:cNvPr>
          <p:cNvCxnSpPr>
            <a:cxnSpLocks/>
            <a:stCxn id="8" idx="2"/>
            <a:endCxn id="7170" idx="0"/>
          </p:cNvCxnSpPr>
          <p:nvPr/>
        </p:nvCxnSpPr>
        <p:spPr>
          <a:xfrm flipH="1">
            <a:off x="4396485" y="1615138"/>
            <a:ext cx="1684866" cy="7769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31ED10BD-E5FD-7DE7-10A3-80D68269C508}"/>
              </a:ext>
            </a:extLst>
          </p:cNvPr>
          <p:cNvSpPr txBox="1"/>
          <p:nvPr/>
        </p:nvSpPr>
        <p:spPr>
          <a:xfrm>
            <a:off x="3749927" y="3396206"/>
            <a:ext cx="1293115" cy="3291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2099"/>
              </a:lnSpc>
              <a:spcAft>
                <a:spcPts val="900"/>
              </a:spcAft>
              <a:buNone/>
              <a:defRPr sz="1200">
                <a:solidFill>
                  <a:srgbClr val="000000"/>
                </a:solidFill>
                <a:latin typeface="Lucida Grande"/>
              </a:defRPr>
            </a:lvl1pPr>
          </a:lstStyle>
          <a:p>
            <a:r>
              <a:rPr lang="en-US" altLang="zh-CN" b="1" dirty="0"/>
              <a:t>Edit</a:t>
            </a:r>
            <a:r>
              <a:rPr lang="en-US" altLang="zh-CN" dirty="0"/>
              <a:t> Instruction</a:t>
            </a:r>
          </a:p>
        </p:txBody>
      </p:sp>
      <p:cxnSp>
        <p:nvCxnSpPr>
          <p:cNvPr id="42" name="连接符: 肘形 41">
            <a:extLst>
              <a:ext uri="{FF2B5EF4-FFF2-40B4-BE49-F238E27FC236}">
                <a16:creationId xmlns:a16="http://schemas.microsoft.com/office/drawing/2014/main" id="{A85BA2B1-28D9-A319-F8DE-9488F50AFEC1}"/>
              </a:ext>
            </a:extLst>
          </p:cNvPr>
          <p:cNvCxnSpPr>
            <a:stCxn id="15" idx="2"/>
            <a:endCxn id="7170" idx="1"/>
          </p:cNvCxnSpPr>
          <p:nvPr/>
        </p:nvCxnSpPr>
        <p:spPr>
          <a:xfrm rot="16200000" flipH="1">
            <a:off x="1681402" y="642230"/>
            <a:ext cx="1648939" cy="28160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Rounded Rectangle 3">
            <a:extLst>
              <a:ext uri="{FF2B5EF4-FFF2-40B4-BE49-F238E27FC236}">
                <a16:creationId xmlns:a16="http://schemas.microsoft.com/office/drawing/2014/main" id="{EAAC362D-9386-2C5F-F780-31DE4062D7AA}"/>
              </a:ext>
            </a:extLst>
          </p:cNvPr>
          <p:cNvSpPr/>
          <p:nvPr/>
        </p:nvSpPr>
        <p:spPr>
          <a:xfrm>
            <a:off x="6953991" y="2654476"/>
            <a:ext cx="1482241" cy="44047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Context</a:t>
            </a:r>
          </a:p>
          <a:p>
            <a:pPr algn="ctr"/>
            <a:r>
              <a:rPr lang="en-US" altLang="zh-CN" sz="1400" dirty="0"/>
              <a:t>t</a:t>
            </a:r>
            <a:r>
              <a:rPr lang="en-GB" sz="1400" dirty="0"/>
              <a:t> + 1</a:t>
            </a:r>
            <a:endParaRPr lang="en-GB" sz="1400" noProof="0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CB0A5EC-C92A-825D-12F6-1122B3DF69B3}"/>
              </a:ext>
            </a:extLst>
          </p:cNvPr>
          <p:cNvSpPr txBox="1"/>
          <p:nvPr/>
        </p:nvSpPr>
        <p:spPr>
          <a:xfrm>
            <a:off x="7276010" y="2294195"/>
            <a:ext cx="838201" cy="3291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2099"/>
              </a:lnSpc>
              <a:spcAft>
                <a:spcPts val="900"/>
              </a:spcAft>
              <a:buNone/>
              <a:defRPr sz="1200">
                <a:solidFill>
                  <a:srgbClr val="000000"/>
                </a:solidFill>
                <a:latin typeface="Lucida Grande"/>
              </a:defRPr>
            </a:lvl1pPr>
          </a:lstStyle>
          <a:p>
            <a:r>
              <a:rPr lang="en-US" altLang="zh-CN" dirty="0"/>
              <a:t>Playbook</a:t>
            </a:r>
          </a:p>
        </p:txBody>
      </p: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27C04BFD-28BD-766B-BEB1-4223590E9C17}"/>
              </a:ext>
            </a:extLst>
          </p:cNvPr>
          <p:cNvCxnSpPr>
            <a:stCxn id="7170" idx="3"/>
            <a:endCxn id="43" idx="1"/>
          </p:cNvCxnSpPr>
          <p:nvPr/>
        </p:nvCxnSpPr>
        <p:spPr>
          <a:xfrm flipV="1">
            <a:off x="4879085" y="2874713"/>
            <a:ext cx="207490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14281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C8FA1-D56B-4928-67C9-998054390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8B0C0C70-1DA1-41B2-DF19-8BC19DF420CE}"/>
              </a:ext>
            </a:extLst>
          </p:cNvPr>
          <p:cNvSpPr txBox="1"/>
          <p:nvPr/>
        </p:nvSpPr>
        <p:spPr>
          <a:xfrm>
            <a:off x="258232" y="708373"/>
            <a:ext cx="408518" cy="3291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2099"/>
              </a:lnSpc>
              <a:spcAft>
                <a:spcPts val="900"/>
              </a:spcAft>
              <a:buNone/>
              <a:defRPr sz="1200">
                <a:solidFill>
                  <a:srgbClr val="000000"/>
                </a:solidFill>
                <a:latin typeface="Lucida Grande"/>
              </a:defRPr>
            </a:lvl1pPr>
          </a:lstStyle>
          <a:p>
            <a:r>
              <a:rPr lang="en-US" altLang="zh-CN" dirty="0"/>
              <a:t>M</a:t>
            </a:r>
            <a:r>
              <a:rPr lang="en-US" altLang="zh-CN" sz="1100" i="1" dirty="0"/>
              <a:t>t</a:t>
            </a:r>
            <a:endParaRPr lang="en-US" altLang="zh-CN" i="1" dirty="0"/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4BD6DF63-3FF4-C93D-4462-F8FA35A24252}"/>
              </a:ext>
            </a:extLst>
          </p:cNvPr>
          <p:cNvSpPr/>
          <p:nvPr/>
        </p:nvSpPr>
        <p:spPr>
          <a:xfrm>
            <a:off x="829158" y="329867"/>
            <a:ext cx="1488995" cy="120260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Most of Context</a:t>
            </a:r>
          </a:p>
          <a:p>
            <a:pPr algn="ctr"/>
            <a:r>
              <a:rPr lang="en-GB" sz="1400" dirty="0"/>
              <a:t>(Hard Disk)</a:t>
            </a:r>
            <a:endParaRPr lang="en-GB" sz="1400" noProof="0" dirty="0"/>
          </a:p>
        </p:txBody>
      </p:sp>
      <p:sp>
        <p:nvSpPr>
          <p:cNvPr id="15" name="Rounded Rectangle 3">
            <a:extLst>
              <a:ext uri="{FF2B5EF4-FFF2-40B4-BE49-F238E27FC236}">
                <a16:creationId xmlns:a16="http://schemas.microsoft.com/office/drawing/2014/main" id="{3E522D38-D29D-E005-8F49-1887F6087C43}"/>
              </a:ext>
            </a:extLst>
          </p:cNvPr>
          <p:cNvSpPr/>
          <p:nvPr/>
        </p:nvSpPr>
        <p:spPr>
          <a:xfrm>
            <a:off x="829158" y="1600199"/>
            <a:ext cx="1482241" cy="535831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Meta data of Context t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A255C18-F5B3-9D9F-3A67-B72F5F1DFC4E}"/>
              </a:ext>
            </a:extLst>
          </p:cNvPr>
          <p:cNvSpPr txBox="1"/>
          <p:nvPr/>
        </p:nvSpPr>
        <p:spPr>
          <a:xfrm>
            <a:off x="258232" y="1703549"/>
            <a:ext cx="408518" cy="3291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2099"/>
              </a:lnSpc>
              <a:spcAft>
                <a:spcPts val="900"/>
              </a:spcAft>
              <a:buNone/>
              <a:defRPr sz="1200">
                <a:solidFill>
                  <a:srgbClr val="000000"/>
                </a:solidFill>
                <a:latin typeface="Lucida Grande"/>
              </a:defRPr>
            </a:lvl1pPr>
          </a:lstStyle>
          <a:p>
            <a:r>
              <a:rPr lang="en-US" altLang="zh-CN" sz="1100" i="1" dirty="0"/>
              <a:t>Pt</a:t>
            </a:r>
            <a:endParaRPr lang="en-US" altLang="zh-CN" i="1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7DE04BF-9A7F-04BA-A6B6-D9DB784452AE}"/>
              </a:ext>
            </a:extLst>
          </p:cNvPr>
          <p:cNvSpPr txBox="1"/>
          <p:nvPr/>
        </p:nvSpPr>
        <p:spPr>
          <a:xfrm>
            <a:off x="0" y="6421280"/>
            <a:ext cx="6798734" cy="3291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2099"/>
              </a:lnSpc>
              <a:spcAft>
                <a:spcPts val="900"/>
              </a:spcAft>
              <a:buNone/>
              <a:defRPr sz="1200">
                <a:solidFill>
                  <a:srgbClr val="000000"/>
                </a:solidFill>
                <a:latin typeface="Lucida Grande"/>
              </a:defRPr>
            </a:lvl1pPr>
          </a:lstStyle>
          <a:p>
            <a:r>
              <a:rPr lang="en-US" altLang="zh-CN" dirty="0"/>
              <a:t>Recursive Language Models (2025)</a:t>
            </a:r>
          </a:p>
        </p:txBody>
      </p:sp>
    </p:spTree>
    <p:extLst>
      <p:ext uri="{BB962C8B-B14F-4D97-AF65-F5344CB8AC3E}">
        <p14:creationId xmlns:p14="http://schemas.microsoft.com/office/powerpoint/2010/main" val="33232938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FBDFA-E8A3-41CF-81AA-9ADCA5EFC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138B8C97-33EC-B6FE-5584-04C8BEC2C482}"/>
              </a:ext>
            </a:extLst>
          </p:cNvPr>
          <p:cNvSpPr txBox="1"/>
          <p:nvPr/>
        </p:nvSpPr>
        <p:spPr>
          <a:xfrm>
            <a:off x="258232" y="708373"/>
            <a:ext cx="408518" cy="3291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2099"/>
              </a:lnSpc>
              <a:spcAft>
                <a:spcPts val="900"/>
              </a:spcAft>
              <a:buNone/>
              <a:defRPr sz="1200">
                <a:solidFill>
                  <a:srgbClr val="000000"/>
                </a:solidFill>
                <a:latin typeface="Lucida Grande"/>
              </a:defRPr>
            </a:lvl1pPr>
          </a:lstStyle>
          <a:p>
            <a:r>
              <a:rPr lang="en-US" altLang="zh-CN" dirty="0"/>
              <a:t>M</a:t>
            </a:r>
            <a:r>
              <a:rPr lang="en-US" altLang="zh-CN" sz="1100" i="1" dirty="0"/>
              <a:t>t</a:t>
            </a:r>
            <a:endParaRPr lang="en-US" altLang="zh-CN" i="1" dirty="0"/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60635028-CC9C-4CF7-2121-3CFE051D186E}"/>
              </a:ext>
            </a:extLst>
          </p:cNvPr>
          <p:cNvSpPr/>
          <p:nvPr/>
        </p:nvSpPr>
        <p:spPr>
          <a:xfrm>
            <a:off x="829158" y="329867"/>
            <a:ext cx="1488995" cy="120260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Most of Context</a:t>
            </a:r>
          </a:p>
          <a:p>
            <a:pPr algn="ctr"/>
            <a:r>
              <a:rPr lang="en-GB" sz="1400" dirty="0"/>
              <a:t>(Hard Disk)</a:t>
            </a:r>
            <a:endParaRPr lang="en-GB" sz="1400" noProof="0" dirty="0"/>
          </a:p>
        </p:txBody>
      </p:sp>
      <p:sp>
        <p:nvSpPr>
          <p:cNvPr id="15" name="Rounded Rectangle 3">
            <a:extLst>
              <a:ext uri="{FF2B5EF4-FFF2-40B4-BE49-F238E27FC236}">
                <a16:creationId xmlns:a16="http://schemas.microsoft.com/office/drawing/2014/main" id="{485FD8BA-DCDB-68AC-19A7-17716D98F253}"/>
              </a:ext>
            </a:extLst>
          </p:cNvPr>
          <p:cNvSpPr/>
          <p:nvPr/>
        </p:nvSpPr>
        <p:spPr>
          <a:xfrm>
            <a:off x="829158" y="1600199"/>
            <a:ext cx="1482241" cy="535831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Meta data of Context t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B99F739-B70D-BFBC-AB3A-2AA064D9CA3F}"/>
              </a:ext>
            </a:extLst>
          </p:cNvPr>
          <p:cNvSpPr txBox="1"/>
          <p:nvPr/>
        </p:nvSpPr>
        <p:spPr>
          <a:xfrm>
            <a:off x="258232" y="1703549"/>
            <a:ext cx="408518" cy="3291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2099"/>
              </a:lnSpc>
              <a:spcAft>
                <a:spcPts val="900"/>
              </a:spcAft>
              <a:buNone/>
              <a:defRPr sz="1200">
                <a:solidFill>
                  <a:srgbClr val="000000"/>
                </a:solidFill>
                <a:latin typeface="Lucida Grande"/>
              </a:defRPr>
            </a:lvl1pPr>
          </a:lstStyle>
          <a:p>
            <a:r>
              <a:rPr lang="en-US" altLang="zh-CN" sz="1100" i="1" dirty="0"/>
              <a:t>Pt</a:t>
            </a:r>
            <a:endParaRPr lang="en-US" altLang="zh-CN" i="1" dirty="0"/>
          </a:p>
        </p:txBody>
      </p:sp>
      <p:pic>
        <p:nvPicPr>
          <p:cNvPr id="4" name="Picture 4" descr="Big data ">
            <a:extLst>
              <a:ext uri="{FF2B5EF4-FFF2-40B4-BE49-F238E27FC236}">
                <a16:creationId xmlns:a16="http://schemas.microsoft.com/office/drawing/2014/main" id="{5F145113-A056-EB55-FD41-A065A24E32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0925" y="1258513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3A5D6A25-EA85-7206-C6B3-206B0D5461AC}"/>
              </a:ext>
            </a:extLst>
          </p:cNvPr>
          <p:cNvCxnSpPr>
            <a:stCxn id="15" idx="3"/>
            <a:endCxn id="4" idx="1"/>
          </p:cNvCxnSpPr>
          <p:nvPr/>
        </p:nvCxnSpPr>
        <p:spPr>
          <a:xfrm flipV="1">
            <a:off x="2311399" y="1868113"/>
            <a:ext cx="739526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DAB68C1C-E5C3-EEF5-EF08-F7FB9541BE39}"/>
              </a:ext>
            </a:extLst>
          </p:cNvPr>
          <p:cNvSpPr txBox="1"/>
          <p:nvPr/>
        </p:nvSpPr>
        <p:spPr>
          <a:xfrm>
            <a:off x="0" y="6421280"/>
            <a:ext cx="6798734" cy="3291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2099"/>
              </a:lnSpc>
              <a:spcAft>
                <a:spcPts val="900"/>
              </a:spcAft>
              <a:buNone/>
              <a:defRPr sz="1200">
                <a:solidFill>
                  <a:srgbClr val="000000"/>
                </a:solidFill>
                <a:latin typeface="Lucida Grande"/>
              </a:defRPr>
            </a:lvl1pPr>
          </a:lstStyle>
          <a:p>
            <a:r>
              <a:rPr lang="en-US" altLang="zh-CN" dirty="0"/>
              <a:t>Recursive Language Models (2025)</a:t>
            </a:r>
          </a:p>
        </p:txBody>
      </p:sp>
    </p:spTree>
    <p:extLst>
      <p:ext uri="{BB962C8B-B14F-4D97-AF65-F5344CB8AC3E}">
        <p14:creationId xmlns:p14="http://schemas.microsoft.com/office/powerpoint/2010/main" val="7319555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20C00-F5CC-ECA6-6FBE-69E154D7C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3906C1B4-6940-E09B-2940-358545480E61}"/>
              </a:ext>
            </a:extLst>
          </p:cNvPr>
          <p:cNvSpPr txBox="1"/>
          <p:nvPr/>
        </p:nvSpPr>
        <p:spPr>
          <a:xfrm>
            <a:off x="258232" y="708373"/>
            <a:ext cx="408518" cy="3291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2099"/>
              </a:lnSpc>
              <a:spcAft>
                <a:spcPts val="900"/>
              </a:spcAft>
              <a:buNone/>
              <a:defRPr sz="1200">
                <a:solidFill>
                  <a:srgbClr val="000000"/>
                </a:solidFill>
                <a:latin typeface="Lucida Grande"/>
              </a:defRPr>
            </a:lvl1pPr>
          </a:lstStyle>
          <a:p>
            <a:r>
              <a:rPr lang="en-US" altLang="zh-CN" dirty="0"/>
              <a:t>M</a:t>
            </a:r>
            <a:r>
              <a:rPr lang="en-US" altLang="zh-CN" sz="1100" i="1" dirty="0"/>
              <a:t>t</a:t>
            </a:r>
            <a:endParaRPr lang="en-US" altLang="zh-CN" i="1" dirty="0"/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0B3D2F65-A124-5826-C579-26C6593ABA84}"/>
              </a:ext>
            </a:extLst>
          </p:cNvPr>
          <p:cNvSpPr/>
          <p:nvPr/>
        </p:nvSpPr>
        <p:spPr>
          <a:xfrm>
            <a:off x="829158" y="329867"/>
            <a:ext cx="1488995" cy="120260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Most of Context</a:t>
            </a:r>
          </a:p>
          <a:p>
            <a:pPr algn="ctr"/>
            <a:r>
              <a:rPr lang="en-GB" sz="1400" dirty="0"/>
              <a:t>(Hard Disk)</a:t>
            </a:r>
            <a:endParaRPr lang="en-GB" sz="1400" noProof="0" dirty="0"/>
          </a:p>
        </p:txBody>
      </p:sp>
      <p:sp>
        <p:nvSpPr>
          <p:cNvPr id="15" name="Rounded Rectangle 3">
            <a:extLst>
              <a:ext uri="{FF2B5EF4-FFF2-40B4-BE49-F238E27FC236}">
                <a16:creationId xmlns:a16="http://schemas.microsoft.com/office/drawing/2014/main" id="{45780EF0-F195-53F8-ACC3-0B3633F7AED3}"/>
              </a:ext>
            </a:extLst>
          </p:cNvPr>
          <p:cNvSpPr/>
          <p:nvPr/>
        </p:nvSpPr>
        <p:spPr>
          <a:xfrm>
            <a:off x="829158" y="1600199"/>
            <a:ext cx="1482241" cy="535831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Meta data of Context t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C88DA63-2493-739E-889A-980430D431B2}"/>
              </a:ext>
            </a:extLst>
          </p:cNvPr>
          <p:cNvSpPr txBox="1"/>
          <p:nvPr/>
        </p:nvSpPr>
        <p:spPr>
          <a:xfrm>
            <a:off x="258232" y="1703549"/>
            <a:ext cx="408518" cy="3291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2099"/>
              </a:lnSpc>
              <a:spcAft>
                <a:spcPts val="900"/>
              </a:spcAft>
              <a:buNone/>
              <a:defRPr sz="1200">
                <a:solidFill>
                  <a:srgbClr val="000000"/>
                </a:solidFill>
                <a:latin typeface="Lucida Grande"/>
              </a:defRPr>
            </a:lvl1pPr>
          </a:lstStyle>
          <a:p>
            <a:r>
              <a:rPr lang="en-US" altLang="zh-CN" sz="1100" i="1" dirty="0"/>
              <a:t>Pt</a:t>
            </a:r>
            <a:endParaRPr lang="en-US" altLang="zh-CN" i="1" dirty="0"/>
          </a:p>
        </p:txBody>
      </p:sp>
      <p:pic>
        <p:nvPicPr>
          <p:cNvPr id="4" name="Picture 4" descr="Big data ">
            <a:extLst>
              <a:ext uri="{FF2B5EF4-FFF2-40B4-BE49-F238E27FC236}">
                <a16:creationId xmlns:a16="http://schemas.microsoft.com/office/drawing/2014/main" id="{7E3F366A-8412-6531-638C-9FD52FB70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0925" y="1258513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AA0B75FB-573B-F0DD-E859-4955F221F327}"/>
              </a:ext>
            </a:extLst>
          </p:cNvPr>
          <p:cNvCxnSpPr>
            <a:stCxn id="15" idx="3"/>
            <a:endCxn id="4" idx="1"/>
          </p:cNvCxnSpPr>
          <p:nvPr/>
        </p:nvCxnSpPr>
        <p:spPr>
          <a:xfrm flipV="1">
            <a:off x="2311399" y="1868113"/>
            <a:ext cx="739526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35A24940-5C33-3E9C-EAE4-32F297716B63}"/>
              </a:ext>
            </a:extLst>
          </p:cNvPr>
          <p:cNvSpPr/>
          <p:nvPr/>
        </p:nvSpPr>
        <p:spPr>
          <a:xfrm>
            <a:off x="3008304" y="331822"/>
            <a:ext cx="1304442" cy="65877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/>
              <a:t>Search </a:t>
            </a:r>
            <a:r>
              <a:rPr lang="en-US" altLang="zh-CN" sz="1400" b="1" dirty="0"/>
              <a:t>program</a:t>
            </a:r>
            <a:endParaRPr lang="en-GB" sz="1400" b="1" noProof="0" dirty="0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30C194D9-A086-6C3E-13D1-0283D607F7E8}"/>
              </a:ext>
            </a:extLst>
          </p:cNvPr>
          <p:cNvCxnSpPr>
            <a:cxnSpLocks/>
          </p:cNvCxnSpPr>
          <p:nvPr/>
        </p:nvCxnSpPr>
        <p:spPr>
          <a:xfrm flipV="1">
            <a:off x="3372928" y="1037502"/>
            <a:ext cx="0" cy="3858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57194EBB-02C7-5D48-660D-E71F9D109E2E}"/>
              </a:ext>
            </a:extLst>
          </p:cNvPr>
          <p:cNvCxnSpPr>
            <a:cxnSpLocks/>
          </p:cNvCxnSpPr>
          <p:nvPr/>
        </p:nvCxnSpPr>
        <p:spPr>
          <a:xfrm flipV="1">
            <a:off x="3922143" y="1037502"/>
            <a:ext cx="0" cy="385856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3C1D50E4-E3E7-1D2A-0A8D-07483690E5A2}"/>
              </a:ext>
            </a:extLst>
          </p:cNvPr>
          <p:cNvSpPr txBox="1"/>
          <p:nvPr/>
        </p:nvSpPr>
        <p:spPr>
          <a:xfrm>
            <a:off x="0" y="6421280"/>
            <a:ext cx="6798734" cy="3291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2099"/>
              </a:lnSpc>
              <a:spcAft>
                <a:spcPts val="900"/>
              </a:spcAft>
              <a:buNone/>
              <a:defRPr sz="1200">
                <a:solidFill>
                  <a:srgbClr val="000000"/>
                </a:solidFill>
                <a:latin typeface="Lucida Grande"/>
              </a:defRPr>
            </a:lvl1pPr>
          </a:lstStyle>
          <a:p>
            <a:r>
              <a:rPr lang="en-US" altLang="zh-CN" dirty="0"/>
              <a:t>Recursive Language Models (2025)</a:t>
            </a:r>
          </a:p>
        </p:txBody>
      </p:sp>
    </p:spTree>
    <p:extLst>
      <p:ext uri="{BB962C8B-B14F-4D97-AF65-F5344CB8AC3E}">
        <p14:creationId xmlns:p14="http://schemas.microsoft.com/office/powerpoint/2010/main" val="6694485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C2D38-786F-AFD7-EC6E-FA8BA90AA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4911B6BC-5DFB-5B86-2837-BE843F45EA6F}"/>
              </a:ext>
            </a:extLst>
          </p:cNvPr>
          <p:cNvSpPr txBox="1"/>
          <p:nvPr/>
        </p:nvSpPr>
        <p:spPr>
          <a:xfrm>
            <a:off x="258232" y="708373"/>
            <a:ext cx="408518" cy="3291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2099"/>
              </a:lnSpc>
              <a:spcAft>
                <a:spcPts val="900"/>
              </a:spcAft>
              <a:buNone/>
              <a:defRPr sz="1200">
                <a:solidFill>
                  <a:srgbClr val="000000"/>
                </a:solidFill>
                <a:latin typeface="Lucida Grande"/>
              </a:defRPr>
            </a:lvl1pPr>
          </a:lstStyle>
          <a:p>
            <a:r>
              <a:rPr lang="en-US" altLang="zh-CN" dirty="0"/>
              <a:t>M</a:t>
            </a:r>
            <a:r>
              <a:rPr lang="en-US" altLang="zh-CN" sz="1100" i="1" dirty="0"/>
              <a:t>t</a:t>
            </a:r>
            <a:endParaRPr lang="en-US" altLang="zh-CN" i="1" dirty="0"/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4F6A3B94-0BBF-2265-35ED-2D93F6710C19}"/>
              </a:ext>
            </a:extLst>
          </p:cNvPr>
          <p:cNvSpPr/>
          <p:nvPr/>
        </p:nvSpPr>
        <p:spPr>
          <a:xfrm>
            <a:off x="829158" y="329867"/>
            <a:ext cx="1488995" cy="120260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Most of Context</a:t>
            </a:r>
          </a:p>
          <a:p>
            <a:pPr algn="ctr"/>
            <a:r>
              <a:rPr lang="en-GB" sz="1400" dirty="0"/>
              <a:t>(Hard Disk)</a:t>
            </a:r>
            <a:endParaRPr lang="en-GB" sz="1400" noProof="0" dirty="0"/>
          </a:p>
        </p:txBody>
      </p:sp>
      <p:sp>
        <p:nvSpPr>
          <p:cNvPr id="15" name="Rounded Rectangle 3">
            <a:extLst>
              <a:ext uri="{FF2B5EF4-FFF2-40B4-BE49-F238E27FC236}">
                <a16:creationId xmlns:a16="http://schemas.microsoft.com/office/drawing/2014/main" id="{576C5DB3-C6DE-4AA5-EF39-1D82EDA9EDED}"/>
              </a:ext>
            </a:extLst>
          </p:cNvPr>
          <p:cNvSpPr/>
          <p:nvPr/>
        </p:nvSpPr>
        <p:spPr>
          <a:xfrm>
            <a:off x="829158" y="1600199"/>
            <a:ext cx="1482241" cy="535831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Meta data of Context t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3D22737-F9A4-3936-D4EE-58947F476113}"/>
              </a:ext>
            </a:extLst>
          </p:cNvPr>
          <p:cNvSpPr txBox="1"/>
          <p:nvPr/>
        </p:nvSpPr>
        <p:spPr>
          <a:xfrm>
            <a:off x="258232" y="1703549"/>
            <a:ext cx="408518" cy="3291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2099"/>
              </a:lnSpc>
              <a:spcAft>
                <a:spcPts val="900"/>
              </a:spcAft>
              <a:buNone/>
              <a:defRPr sz="1200">
                <a:solidFill>
                  <a:srgbClr val="000000"/>
                </a:solidFill>
                <a:latin typeface="Lucida Grande"/>
              </a:defRPr>
            </a:lvl1pPr>
          </a:lstStyle>
          <a:p>
            <a:r>
              <a:rPr lang="en-US" altLang="zh-CN" sz="1100" i="1" dirty="0"/>
              <a:t>Pt</a:t>
            </a:r>
            <a:endParaRPr lang="en-US" altLang="zh-CN" i="1" dirty="0"/>
          </a:p>
        </p:txBody>
      </p:sp>
      <p:pic>
        <p:nvPicPr>
          <p:cNvPr id="4" name="Picture 4" descr="Big data ">
            <a:extLst>
              <a:ext uri="{FF2B5EF4-FFF2-40B4-BE49-F238E27FC236}">
                <a16:creationId xmlns:a16="http://schemas.microsoft.com/office/drawing/2014/main" id="{F62DA2C7-5E19-D8A8-A2E1-5E24AED459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0925" y="1258513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B9F7F68C-13E3-0A55-6842-26CB56D714B9}"/>
              </a:ext>
            </a:extLst>
          </p:cNvPr>
          <p:cNvCxnSpPr>
            <a:stCxn id="15" idx="3"/>
            <a:endCxn id="4" idx="1"/>
          </p:cNvCxnSpPr>
          <p:nvPr/>
        </p:nvCxnSpPr>
        <p:spPr>
          <a:xfrm flipV="1">
            <a:off x="2311399" y="1868113"/>
            <a:ext cx="739526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62257ADC-D866-1575-37B8-4CE99101F746}"/>
              </a:ext>
            </a:extLst>
          </p:cNvPr>
          <p:cNvSpPr/>
          <p:nvPr/>
        </p:nvSpPr>
        <p:spPr>
          <a:xfrm>
            <a:off x="3008304" y="331822"/>
            <a:ext cx="1304442" cy="65877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/>
              <a:t>Search </a:t>
            </a:r>
            <a:r>
              <a:rPr lang="en-US" altLang="zh-CN" sz="1400" b="1" dirty="0"/>
              <a:t>program</a:t>
            </a:r>
            <a:endParaRPr lang="en-GB" sz="1400" b="1" noProof="0" dirty="0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90AA8AD4-A888-FC74-FF92-955BCCD56DCE}"/>
              </a:ext>
            </a:extLst>
          </p:cNvPr>
          <p:cNvCxnSpPr>
            <a:cxnSpLocks/>
          </p:cNvCxnSpPr>
          <p:nvPr/>
        </p:nvCxnSpPr>
        <p:spPr>
          <a:xfrm flipV="1">
            <a:off x="3372928" y="1037502"/>
            <a:ext cx="0" cy="3858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90DFCA13-838F-704D-D6F1-3AF5726CC344}"/>
              </a:ext>
            </a:extLst>
          </p:cNvPr>
          <p:cNvCxnSpPr>
            <a:cxnSpLocks/>
          </p:cNvCxnSpPr>
          <p:nvPr/>
        </p:nvCxnSpPr>
        <p:spPr>
          <a:xfrm flipV="1">
            <a:off x="3922143" y="1037502"/>
            <a:ext cx="0" cy="385856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96DA5B90-3490-B64D-2548-A16937FB5421}"/>
              </a:ext>
            </a:extLst>
          </p:cNvPr>
          <p:cNvCxnSpPr>
            <a:cxnSpLocks/>
          </p:cNvCxnSpPr>
          <p:nvPr/>
        </p:nvCxnSpPr>
        <p:spPr>
          <a:xfrm flipH="1">
            <a:off x="2380891" y="474453"/>
            <a:ext cx="5003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5FA216D4-C210-D6FE-EE41-26B711D711F2}"/>
              </a:ext>
            </a:extLst>
          </p:cNvPr>
          <p:cNvCxnSpPr>
            <a:cxnSpLocks/>
          </p:cNvCxnSpPr>
          <p:nvPr/>
        </p:nvCxnSpPr>
        <p:spPr>
          <a:xfrm flipH="1">
            <a:off x="2380891" y="816634"/>
            <a:ext cx="500332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B43AD86A-EB31-DB79-BB0F-3BDB5C58BA3F}"/>
              </a:ext>
            </a:extLst>
          </p:cNvPr>
          <p:cNvSpPr txBox="1"/>
          <p:nvPr/>
        </p:nvSpPr>
        <p:spPr>
          <a:xfrm>
            <a:off x="0" y="6421280"/>
            <a:ext cx="6798734" cy="3291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2099"/>
              </a:lnSpc>
              <a:spcAft>
                <a:spcPts val="900"/>
              </a:spcAft>
              <a:buNone/>
              <a:defRPr sz="1200">
                <a:solidFill>
                  <a:srgbClr val="000000"/>
                </a:solidFill>
                <a:latin typeface="Lucida Grande"/>
              </a:defRPr>
            </a:lvl1pPr>
          </a:lstStyle>
          <a:p>
            <a:r>
              <a:rPr lang="en-US" altLang="zh-CN" dirty="0"/>
              <a:t>Recursive Language Models (2025)</a:t>
            </a:r>
          </a:p>
        </p:txBody>
      </p:sp>
    </p:spTree>
    <p:extLst>
      <p:ext uri="{BB962C8B-B14F-4D97-AF65-F5344CB8AC3E}">
        <p14:creationId xmlns:p14="http://schemas.microsoft.com/office/powerpoint/2010/main" val="39957174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CE505-7114-CB95-D49C-04C07976B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38BBC7DB-E26B-7B93-C685-AAFF3BF3ED34}"/>
              </a:ext>
            </a:extLst>
          </p:cNvPr>
          <p:cNvSpPr txBox="1"/>
          <p:nvPr/>
        </p:nvSpPr>
        <p:spPr>
          <a:xfrm>
            <a:off x="258232" y="708373"/>
            <a:ext cx="408518" cy="3291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2099"/>
              </a:lnSpc>
              <a:spcAft>
                <a:spcPts val="900"/>
              </a:spcAft>
              <a:buNone/>
              <a:defRPr sz="1200">
                <a:solidFill>
                  <a:srgbClr val="000000"/>
                </a:solidFill>
                <a:latin typeface="Lucida Grande"/>
              </a:defRPr>
            </a:lvl1pPr>
          </a:lstStyle>
          <a:p>
            <a:r>
              <a:rPr lang="en-US" altLang="zh-CN" dirty="0"/>
              <a:t>M</a:t>
            </a:r>
            <a:r>
              <a:rPr lang="en-US" altLang="zh-CN" sz="1100" i="1" dirty="0"/>
              <a:t>t</a:t>
            </a:r>
            <a:endParaRPr lang="en-US" altLang="zh-CN" i="1" dirty="0"/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6621C086-BB26-2EC3-C9A9-A7EFB6A44EE0}"/>
              </a:ext>
            </a:extLst>
          </p:cNvPr>
          <p:cNvSpPr/>
          <p:nvPr/>
        </p:nvSpPr>
        <p:spPr>
          <a:xfrm>
            <a:off x="829158" y="329867"/>
            <a:ext cx="1488995" cy="120260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Most of Context</a:t>
            </a:r>
          </a:p>
          <a:p>
            <a:pPr algn="ctr"/>
            <a:r>
              <a:rPr lang="en-GB" sz="1400" dirty="0"/>
              <a:t>(Hard Disk)</a:t>
            </a:r>
            <a:endParaRPr lang="en-GB" sz="1400" noProof="0" dirty="0"/>
          </a:p>
        </p:txBody>
      </p:sp>
      <p:sp>
        <p:nvSpPr>
          <p:cNvPr id="15" name="Rounded Rectangle 3">
            <a:extLst>
              <a:ext uri="{FF2B5EF4-FFF2-40B4-BE49-F238E27FC236}">
                <a16:creationId xmlns:a16="http://schemas.microsoft.com/office/drawing/2014/main" id="{AF0E01DF-FFBB-F299-0DE5-1F739CAF7DD7}"/>
              </a:ext>
            </a:extLst>
          </p:cNvPr>
          <p:cNvSpPr/>
          <p:nvPr/>
        </p:nvSpPr>
        <p:spPr>
          <a:xfrm>
            <a:off x="829158" y="1600199"/>
            <a:ext cx="1482241" cy="535831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Meta data of Context t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078EAC1-B688-3849-2A40-2065EE26EB78}"/>
              </a:ext>
            </a:extLst>
          </p:cNvPr>
          <p:cNvSpPr txBox="1"/>
          <p:nvPr/>
        </p:nvSpPr>
        <p:spPr>
          <a:xfrm>
            <a:off x="0" y="6421280"/>
            <a:ext cx="6798734" cy="3291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2099"/>
              </a:lnSpc>
              <a:spcAft>
                <a:spcPts val="900"/>
              </a:spcAft>
              <a:buNone/>
              <a:defRPr sz="1200">
                <a:solidFill>
                  <a:srgbClr val="000000"/>
                </a:solidFill>
                <a:latin typeface="Lucida Grande"/>
              </a:defRPr>
            </a:lvl1pPr>
          </a:lstStyle>
          <a:p>
            <a:r>
              <a:rPr lang="en-US" altLang="zh-CN" dirty="0"/>
              <a:t>Recursive Language Models (2025)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A067D98-ADF2-2080-BC24-2B5C6F0DA1B3}"/>
              </a:ext>
            </a:extLst>
          </p:cNvPr>
          <p:cNvSpPr txBox="1"/>
          <p:nvPr/>
        </p:nvSpPr>
        <p:spPr>
          <a:xfrm>
            <a:off x="258232" y="1703549"/>
            <a:ext cx="408518" cy="3291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2099"/>
              </a:lnSpc>
              <a:spcAft>
                <a:spcPts val="900"/>
              </a:spcAft>
              <a:buNone/>
              <a:defRPr sz="1200">
                <a:solidFill>
                  <a:srgbClr val="000000"/>
                </a:solidFill>
                <a:latin typeface="Lucida Grande"/>
              </a:defRPr>
            </a:lvl1pPr>
          </a:lstStyle>
          <a:p>
            <a:r>
              <a:rPr lang="en-US" altLang="zh-CN" sz="1100" i="1" dirty="0"/>
              <a:t>Pt</a:t>
            </a:r>
            <a:endParaRPr lang="en-US" altLang="zh-CN" i="1" dirty="0"/>
          </a:p>
        </p:txBody>
      </p:sp>
      <p:pic>
        <p:nvPicPr>
          <p:cNvPr id="4" name="Picture 4" descr="Big data ">
            <a:extLst>
              <a:ext uri="{FF2B5EF4-FFF2-40B4-BE49-F238E27FC236}">
                <a16:creationId xmlns:a16="http://schemas.microsoft.com/office/drawing/2014/main" id="{EE9B52B2-9BBC-02FD-0729-1C55A0CC30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0925" y="1258513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D68889F9-C48C-7077-3CE9-617606A3A8B8}"/>
              </a:ext>
            </a:extLst>
          </p:cNvPr>
          <p:cNvCxnSpPr>
            <a:stCxn id="15" idx="3"/>
            <a:endCxn id="4" idx="1"/>
          </p:cNvCxnSpPr>
          <p:nvPr/>
        </p:nvCxnSpPr>
        <p:spPr>
          <a:xfrm flipV="1">
            <a:off x="2311399" y="1868113"/>
            <a:ext cx="739526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5D29C1A0-55EB-090C-C468-D8B2D7420318}"/>
              </a:ext>
            </a:extLst>
          </p:cNvPr>
          <p:cNvSpPr/>
          <p:nvPr/>
        </p:nvSpPr>
        <p:spPr>
          <a:xfrm>
            <a:off x="3008304" y="331822"/>
            <a:ext cx="1304442" cy="65877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/>
              <a:t>Search </a:t>
            </a:r>
            <a:r>
              <a:rPr lang="en-US" altLang="zh-CN" sz="1400" b="1" dirty="0"/>
              <a:t>program</a:t>
            </a:r>
            <a:endParaRPr lang="en-GB" sz="1400" b="1" noProof="0" dirty="0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F4C0D522-E97D-4D5B-098F-524BA4E51F76}"/>
              </a:ext>
            </a:extLst>
          </p:cNvPr>
          <p:cNvCxnSpPr>
            <a:cxnSpLocks/>
          </p:cNvCxnSpPr>
          <p:nvPr/>
        </p:nvCxnSpPr>
        <p:spPr>
          <a:xfrm flipV="1">
            <a:off x="3372928" y="1037502"/>
            <a:ext cx="0" cy="3858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BFA83B73-6B35-465D-5580-D40F08EFB888}"/>
              </a:ext>
            </a:extLst>
          </p:cNvPr>
          <p:cNvCxnSpPr>
            <a:cxnSpLocks/>
          </p:cNvCxnSpPr>
          <p:nvPr/>
        </p:nvCxnSpPr>
        <p:spPr>
          <a:xfrm flipV="1">
            <a:off x="3922143" y="1037502"/>
            <a:ext cx="0" cy="385856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FCC1A5B8-3045-9D34-16AB-E80236905BA6}"/>
              </a:ext>
            </a:extLst>
          </p:cNvPr>
          <p:cNvCxnSpPr>
            <a:cxnSpLocks/>
          </p:cNvCxnSpPr>
          <p:nvPr/>
        </p:nvCxnSpPr>
        <p:spPr>
          <a:xfrm flipH="1">
            <a:off x="2380891" y="474453"/>
            <a:ext cx="5003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9B9BE835-923F-202D-C480-011ED4A5A06F}"/>
              </a:ext>
            </a:extLst>
          </p:cNvPr>
          <p:cNvCxnSpPr>
            <a:cxnSpLocks/>
          </p:cNvCxnSpPr>
          <p:nvPr/>
        </p:nvCxnSpPr>
        <p:spPr>
          <a:xfrm flipH="1">
            <a:off x="2380891" y="816634"/>
            <a:ext cx="500332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E73115B6-BAE2-99E9-4839-A657D94F6426}"/>
              </a:ext>
            </a:extLst>
          </p:cNvPr>
          <p:cNvSpPr/>
          <p:nvPr/>
        </p:nvSpPr>
        <p:spPr>
          <a:xfrm>
            <a:off x="5221858" y="329867"/>
            <a:ext cx="1488995" cy="120260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Most of Context</a:t>
            </a:r>
          </a:p>
          <a:p>
            <a:pPr algn="ctr"/>
            <a:r>
              <a:rPr lang="en-GB" sz="1400" dirty="0"/>
              <a:t>(Hard Disk)</a:t>
            </a:r>
            <a:endParaRPr lang="en-GB" sz="1400" noProof="0" dirty="0"/>
          </a:p>
        </p:txBody>
      </p:sp>
      <p:sp>
        <p:nvSpPr>
          <p:cNvPr id="13" name="Rounded Rectangle 3">
            <a:extLst>
              <a:ext uri="{FF2B5EF4-FFF2-40B4-BE49-F238E27FC236}">
                <a16:creationId xmlns:a16="http://schemas.microsoft.com/office/drawing/2014/main" id="{83792152-21B6-9A33-8E6A-422F4F831537}"/>
              </a:ext>
            </a:extLst>
          </p:cNvPr>
          <p:cNvSpPr/>
          <p:nvPr/>
        </p:nvSpPr>
        <p:spPr>
          <a:xfrm>
            <a:off x="5221858" y="1600199"/>
            <a:ext cx="1482241" cy="535831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Meta data of Context </a:t>
            </a:r>
            <a:r>
              <a:rPr lang="en-GB" sz="1400" b="1" noProof="0" dirty="0"/>
              <a:t>t + 1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D264402D-1681-B38E-C555-544EE5CD135E}"/>
              </a:ext>
            </a:extLst>
          </p:cNvPr>
          <p:cNvCxnSpPr>
            <a:cxnSpLocks/>
            <a:stCxn id="4" idx="3"/>
            <a:endCxn id="13" idx="1"/>
          </p:cNvCxnSpPr>
          <p:nvPr/>
        </p:nvCxnSpPr>
        <p:spPr>
          <a:xfrm>
            <a:off x="4270125" y="1868113"/>
            <a:ext cx="951733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35805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D8C73-DB5F-ECEF-DC1A-A9B6F8495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4247D3B0-91D0-713D-FC69-BD0E521BB4D4}"/>
              </a:ext>
            </a:extLst>
          </p:cNvPr>
          <p:cNvSpPr txBox="1"/>
          <p:nvPr/>
        </p:nvSpPr>
        <p:spPr>
          <a:xfrm>
            <a:off x="258232" y="708373"/>
            <a:ext cx="408518" cy="3291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2099"/>
              </a:lnSpc>
              <a:spcAft>
                <a:spcPts val="900"/>
              </a:spcAft>
              <a:buNone/>
              <a:defRPr sz="1200">
                <a:solidFill>
                  <a:srgbClr val="000000"/>
                </a:solidFill>
                <a:latin typeface="Lucida Grande"/>
              </a:defRPr>
            </a:lvl1pPr>
          </a:lstStyle>
          <a:p>
            <a:r>
              <a:rPr lang="en-US" altLang="zh-CN" dirty="0"/>
              <a:t>M</a:t>
            </a:r>
            <a:r>
              <a:rPr lang="en-US" altLang="zh-CN" sz="1100" i="1" dirty="0"/>
              <a:t>t</a:t>
            </a:r>
            <a:endParaRPr lang="en-US" altLang="zh-CN" i="1" dirty="0"/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C33C9426-E6EA-C4AC-FB68-A0F6753D81D8}"/>
              </a:ext>
            </a:extLst>
          </p:cNvPr>
          <p:cNvSpPr/>
          <p:nvPr/>
        </p:nvSpPr>
        <p:spPr>
          <a:xfrm>
            <a:off x="829158" y="329867"/>
            <a:ext cx="1488995" cy="120260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Most of Context</a:t>
            </a:r>
          </a:p>
          <a:p>
            <a:pPr algn="ctr"/>
            <a:r>
              <a:rPr lang="en-GB" sz="1400" dirty="0"/>
              <a:t>(Hard Disk)</a:t>
            </a:r>
            <a:endParaRPr lang="en-GB" sz="1400" noProof="0" dirty="0"/>
          </a:p>
        </p:txBody>
      </p:sp>
      <p:sp>
        <p:nvSpPr>
          <p:cNvPr id="15" name="Rounded Rectangle 3">
            <a:extLst>
              <a:ext uri="{FF2B5EF4-FFF2-40B4-BE49-F238E27FC236}">
                <a16:creationId xmlns:a16="http://schemas.microsoft.com/office/drawing/2014/main" id="{0F67994E-6459-5B94-BFB5-3D3F0A04CF79}"/>
              </a:ext>
            </a:extLst>
          </p:cNvPr>
          <p:cNvSpPr/>
          <p:nvPr/>
        </p:nvSpPr>
        <p:spPr>
          <a:xfrm>
            <a:off x="829158" y="1600199"/>
            <a:ext cx="1482241" cy="535831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Meta data of Context t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C8884F8-ED4E-96CD-662A-FC69C6982D64}"/>
              </a:ext>
            </a:extLst>
          </p:cNvPr>
          <p:cNvSpPr txBox="1"/>
          <p:nvPr/>
        </p:nvSpPr>
        <p:spPr>
          <a:xfrm>
            <a:off x="0" y="6421280"/>
            <a:ext cx="6798734" cy="3291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2099"/>
              </a:lnSpc>
              <a:spcAft>
                <a:spcPts val="900"/>
              </a:spcAft>
              <a:buNone/>
              <a:defRPr sz="1200">
                <a:solidFill>
                  <a:srgbClr val="000000"/>
                </a:solidFill>
                <a:latin typeface="Lucida Grande"/>
              </a:defRPr>
            </a:lvl1pPr>
          </a:lstStyle>
          <a:p>
            <a:r>
              <a:rPr lang="en-US" altLang="zh-CN" dirty="0"/>
              <a:t>Recursive Language Models (2025)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A60E5A2-9452-980D-7095-3C54FF138A69}"/>
              </a:ext>
            </a:extLst>
          </p:cNvPr>
          <p:cNvSpPr txBox="1"/>
          <p:nvPr/>
        </p:nvSpPr>
        <p:spPr>
          <a:xfrm>
            <a:off x="258232" y="1703549"/>
            <a:ext cx="408518" cy="3291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2099"/>
              </a:lnSpc>
              <a:spcAft>
                <a:spcPts val="900"/>
              </a:spcAft>
              <a:buNone/>
              <a:defRPr sz="1200">
                <a:solidFill>
                  <a:srgbClr val="000000"/>
                </a:solidFill>
                <a:latin typeface="Lucida Grande"/>
              </a:defRPr>
            </a:lvl1pPr>
          </a:lstStyle>
          <a:p>
            <a:r>
              <a:rPr lang="en-US" altLang="zh-CN" sz="1100" i="1" dirty="0"/>
              <a:t>Pt</a:t>
            </a:r>
            <a:endParaRPr lang="en-US" altLang="zh-CN" i="1" dirty="0"/>
          </a:p>
        </p:txBody>
      </p:sp>
      <p:pic>
        <p:nvPicPr>
          <p:cNvPr id="4" name="Picture 4" descr="Big data ">
            <a:extLst>
              <a:ext uri="{FF2B5EF4-FFF2-40B4-BE49-F238E27FC236}">
                <a16:creationId xmlns:a16="http://schemas.microsoft.com/office/drawing/2014/main" id="{8ABFDFEA-C2F8-1445-4360-6BE99997A1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0925" y="1258513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AA96E85C-DAF5-6534-B5B1-B24AD39453F6}"/>
              </a:ext>
            </a:extLst>
          </p:cNvPr>
          <p:cNvCxnSpPr>
            <a:stCxn id="15" idx="3"/>
            <a:endCxn id="4" idx="1"/>
          </p:cNvCxnSpPr>
          <p:nvPr/>
        </p:nvCxnSpPr>
        <p:spPr>
          <a:xfrm flipV="1">
            <a:off x="2311399" y="1868113"/>
            <a:ext cx="739526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B154A3B6-60B6-A03F-586C-1CAB96CDD5D8}"/>
              </a:ext>
            </a:extLst>
          </p:cNvPr>
          <p:cNvSpPr/>
          <p:nvPr/>
        </p:nvSpPr>
        <p:spPr>
          <a:xfrm>
            <a:off x="3008304" y="331822"/>
            <a:ext cx="1304442" cy="65877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/>
              <a:t>Search </a:t>
            </a:r>
            <a:r>
              <a:rPr lang="en-US" altLang="zh-CN" sz="1400" b="1" dirty="0"/>
              <a:t>program</a:t>
            </a:r>
            <a:endParaRPr lang="en-GB" sz="1400" b="1" noProof="0" dirty="0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70D5C624-44E5-0458-4E9D-ED306518B372}"/>
              </a:ext>
            </a:extLst>
          </p:cNvPr>
          <p:cNvCxnSpPr>
            <a:cxnSpLocks/>
          </p:cNvCxnSpPr>
          <p:nvPr/>
        </p:nvCxnSpPr>
        <p:spPr>
          <a:xfrm flipV="1">
            <a:off x="3372928" y="1037502"/>
            <a:ext cx="0" cy="3858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184ADB89-D9E7-2A7C-B3E8-2DE626AEB913}"/>
              </a:ext>
            </a:extLst>
          </p:cNvPr>
          <p:cNvCxnSpPr>
            <a:cxnSpLocks/>
          </p:cNvCxnSpPr>
          <p:nvPr/>
        </p:nvCxnSpPr>
        <p:spPr>
          <a:xfrm flipV="1">
            <a:off x="3922143" y="1037502"/>
            <a:ext cx="0" cy="385856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DE8A1F89-0E2E-8D84-6200-C903BF5268F7}"/>
              </a:ext>
            </a:extLst>
          </p:cNvPr>
          <p:cNvCxnSpPr>
            <a:cxnSpLocks/>
          </p:cNvCxnSpPr>
          <p:nvPr/>
        </p:nvCxnSpPr>
        <p:spPr>
          <a:xfrm flipH="1">
            <a:off x="2380891" y="474453"/>
            <a:ext cx="5003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E8CD944A-D6F4-BC67-422B-F65FFBFE5CFE}"/>
              </a:ext>
            </a:extLst>
          </p:cNvPr>
          <p:cNvCxnSpPr>
            <a:cxnSpLocks/>
          </p:cNvCxnSpPr>
          <p:nvPr/>
        </p:nvCxnSpPr>
        <p:spPr>
          <a:xfrm flipH="1">
            <a:off x="2380891" y="816634"/>
            <a:ext cx="500332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E9FFC172-6AA2-5CD8-5311-E086D0071815}"/>
              </a:ext>
            </a:extLst>
          </p:cNvPr>
          <p:cNvSpPr/>
          <p:nvPr/>
        </p:nvSpPr>
        <p:spPr>
          <a:xfrm>
            <a:off x="5221858" y="329867"/>
            <a:ext cx="1488995" cy="120260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Most of Context</a:t>
            </a:r>
          </a:p>
          <a:p>
            <a:pPr algn="ctr"/>
            <a:r>
              <a:rPr lang="en-GB" sz="1400" dirty="0"/>
              <a:t>(Hard Disk)</a:t>
            </a:r>
            <a:endParaRPr lang="en-GB" sz="1400" noProof="0" dirty="0"/>
          </a:p>
        </p:txBody>
      </p:sp>
      <p:sp>
        <p:nvSpPr>
          <p:cNvPr id="13" name="Rounded Rectangle 3">
            <a:extLst>
              <a:ext uri="{FF2B5EF4-FFF2-40B4-BE49-F238E27FC236}">
                <a16:creationId xmlns:a16="http://schemas.microsoft.com/office/drawing/2014/main" id="{8CCAAC69-8582-F063-D5E5-415518A4220D}"/>
              </a:ext>
            </a:extLst>
          </p:cNvPr>
          <p:cNvSpPr/>
          <p:nvPr/>
        </p:nvSpPr>
        <p:spPr>
          <a:xfrm>
            <a:off x="5221858" y="1600199"/>
            <a:ext cx="1482241" cy="535831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Meta data of Context </a:t>
            </a:r>
            <a:r>
              <a:rPr lang="en-GB" sz="1400" b="1" noProof="0" dirty="0"/>
              <a:t>t + 1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CD90C21B-1935-5406-5C26-53D31BD82D90}"/>
              </a:ext>
            </a:extLst>
          </p:cNvPr>
          <p:cNvCxnSpPr>
            <a:cxnSpLocks/>
            <a:stCxn id="4" idx="3"/>
            <a:endCxn id="13" idx="1"/>
          </p:cNvCxnSpPr>
          <p:nvPr/>
        </p:nvCxnSpPr>
        <p:spPr>
          <a:xfrm>
            <a:off x="4270125" y="1868113"/>
            <a:ext cx="951733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8" name="图片 17">
            <a:extLst>
              <a:ext uri="{FF2B5EF4-FFF2-40B4-BE49-F238E27FC236}">
                <a16:creationId xmlns:a16="http://schemas.microsoft.com/office/drawing/2014/main" id="{7CD18F56-4587-120A-AFE9-16D8DCD090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034" y="2300873"/>
            <a:ext cx="4179888" cy="4331968"/>
          </a:xfrm>
          <a:prstGeom prst="rect">
            <a:avLst/>
          </a:prstGeom>
        </p:spPr>
      </p:pic>
      <p:sp>
        <p:nvSpPr>
          <p:cNvPr id="17" name="Rounded Rectangle 3">
            <a:extLst>
              <a:ext uri="{FF2B5EF4-FFF2-40B4-BE49-F238E27FC236}">
                <a16:creationId xmlns:a16="http://schemas.microsoft.com/office/drawing/2014/main" id="{8B5E908F-4112-0A9D-8B9D-DB681A13D4AB}"/>
              </a:ext>
            </a:extLst>
          </p:cNvPr>
          <p:cNvSpPr/>
          <p:nvPr/>
        </p:nvSpPr>
        <p:spPr>
          <a:xfrm>
            <a:off x="4534978" y="4821507"/>
            <a:ext cx="3517944" cy="1258089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B2313257-BD84-B1AB-FF89-8DDCA0FCB9C2}"/>
              </a:ext>
            </a:extLst>
          </p:cNvPr>
          <p:cNvSpPr/>
          <p:nvPr/>
        </p:nvSpPr>
        <p:spPr>
          <a:xfrm>
            <a:off x="4891088" y="3181350"/>
            <a:ext cx="2430462" cy="1003300"/>
          </a:xfrm>
          <a:prstGeom prst="round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0" name="箭头: 右 19">
            <a:extLst>
              <a:ext uri="{FF2B5EF4-FFF2-40B4-BE49-F238E27FC236}">
                <a16:creationId xmlns:a16="http://schemas.microsoft.com/office/drawing/2014/main" id="{05BE8088-65BD-C038-C49D-4CDBA1E8B8E2}"/>
              </a:ext>
            </a:extLst>
          </p:cNvPr>
          <p:cNvSpPr/>
          <p:nvPr/>
        </p:nvSpPr>
        <p:spPr>
          <a:xfrm>
            <a:off x="4052253" y="3440684"/>
            <a:ext cx="693738" cy="484632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0217169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3A051-16E6-5B2B-90AD-58D72AAC4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2611663F-DF47-16B4-64F4-8B821424A058}"/>
              </a:ext>
            </a:extLst>
          </p:cNvPr>
          <p:cNvSpPr txBox="1"/>
          <p:nvPr/>
        </p:nvSpPr>
        <p:spPr>
          <a:xfrm>
            <a:off x="258232" y="708373"/>
            <a:ext cx="408518" cy="3291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2099"/>
              </a:lnSpc>
              <a:spcAft>
                <a:spcPts val="900"/>
              </a:spcAft>
              <a:buNone/>
              <a:defRPr sz="1200">
                <a:solidFill>
                  <a:srgbClr val="000000"/>
                </a:solidFill>
                <a:latin typeface="Lucida Grande"/>
              </a:defRPr>
            </a:lvl1pPr>
          </a:lstStyle>
          <a:p>
            <a:r>
              <a:rPr lang="en-US" altLang="zh-CN" dirty="0"/>
              <a:t>M</a:t>
            </a:r>
            <a:r>
              <a:rPr lang="en-US" altLang="zh-CN" sz="1100" i="1" dirty="0"/>
              <a:t>t</a:t>
            </a:r>
            <a:endParaRPr lang="en-US" altLang="zh-CN" i="1" dirty="0"/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D3FEF402-4844-60E0-519A-7AA529EF8143}"/>
              </a:ext>
            </a:extLst>
          </p:cNvPr>
          <p:cNvSpPr/>
          <p:nvPr/>
        </p:nvSpPr>
        <p:spPr>
          <a:xfrm>
            <a:off x="829158" y="329867"/>
            <a:ext cx="1488995" cy="120260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Most of Context</a:t>
            </a:r>
          </a:p>
          <a:p>
            <a:pPr algn="ctr"/>
            <a:r>
              <a:rPr lang="en-GB" sz="1400" dirty="0"/>
              <a:t>(Hard Disk)</a:t>
            </a:r>
            <a:endParaRPr lang="en-GB" sz="1400" noProof="0" dirty="0"/>
          </a:p>
        </p:txBody>
      </p:sp>
      <p:sp>
        <p:nvSpPr>
          <p:cNvPr id="15" name="Rounded Rectangle 3">
            <a:extLst>
              <a:ext uri="{FF2B5EF4-FFF2-40B4-BE49-F238E27FC236}">
                <a16:creationId xmlns:a16="http://schemas.microsoft.com/office/drawing/2014/main" id="{F15BB581-F96B-6FE2-4D0B-289165A6960A}"/>
              </a:ext>
            </a:extLst>
          </p:cNvPr>
          <p:cNvSpPr/>
          <p:nvPr/>
        </p:nvSpPr>
        <p:spPr>
          <a:xfrm>
            <a:off x="829158" y="1600199"/>
            <a:ext cx="1482241" cy="535831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Meta data of Context t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2C539C9-8FF4-1BC2-98C4-DED1D49CA3CA}"/>
              </a:ext>
            </a:extLst>
          </p:cNvPr>
          <p:cNvSpPr txBox="1"/>
          <p:nvPr/>
        </p:nvSpPr>
        <p:spPr>
          <a:xfrm>
            <a:off x="0" y="6421280"/>
            <a:ext cx="6798734" cy="3291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2099"/>
              </a:lnSpc>
              <a:spcAft>
                <a:spcPts val="900"/>
              </a:spcAft>
              <a:buNone/>
              <a:defRPr sz="1200">
                <a:solidFill>
                  <a:srgbClr val="000000"/>
                </a:solidFill>
                <a:latin typeface="Lucida Grande"/>
              </a:defRPr>
            </a:lvl1pPr>
          </a:lstStyle>
          <a:p>
            <a:r>
              <a:rPr lang="en-US" altLang="zh-CN" dirty="0"/>
              <a:t>Recursive Language Models (2025)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348D00D-8EC4-21A1-BA9A-7004C3759E00}"/>
              </a:ext>
            </a:extLst>
          </p:cNvPr>
          <p:cNvSpPr txBox="1"/>
          <p:nvPr/>
        </p:nvSpPr>
        <p:spPr>
          <a:xfrm>
            <a:off x="258232" y="1703549"/>
            <a:ext cx="408518" cy="3291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2099"/>
              </a:lnSpc>
              <a:spcAft>
                <a:spcPts val="900"/>
              </a:spcAft>
              <a:buNone/>
              <a:defRPr sz="1200">
                <a:solidFill>
                  <a:srgbClr val="000000"/>
                </a:solidFill>
                <a:latin typeface="Lucida Grande"/>
              </a:defRPr>
            </a:lvl1pPr>
          </a:lstStyle>
          <a:p>
            <a:r>
              <a:rPr lang="en-US" altLang="zh-CN" sz="1100" i="1" dirty="0"/>
              <a:t>Pt</a:t>
            </a:r>
            <a:endParaRPr lang="en-US" altLang="zh-CN" i="1" dirty="0"/>
          </a:p>
        </p:txBody>
      </p:sp>
      <p:pic>
        <p:nvPicPr>
          <p:cNvPr id="4" name="Picture 4" descr="Big data ">
            <a:extLst>
              <a:ext uri="{FF2B5EF4-FFF2-40B4-BE49-F238E27FC236}">
                <a16:creationId xmlns:a16="http://schemas.microsoft.com/office/drawing/2014/main" id="{5617F8F6-4CB6-11FE-335B-E8369A63CA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0925" y="1258513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FEEF9538-C21C-5F1B-1939-4DF3D2386FF8}"/>
              </a:ext>
            </a:extLst>
          </p:cNvPr>
          <p:cNvCxnSpPr>
            <a:stCxn id="15" idx="3"/>
            <a:endCxn id="4" idx="1"/>
          </p:cNvCxnSpPr>
          <p:nvPr/>
        </p:nvCxnSpPr>
        <p:spPr>
          <a:xfrm flipV="1">
            <a:off x="2311399" y="1868113"/>
            <a:ext cx="739526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3241F864-CC20-2919-26F7-8EE3BF73DA37}"/>
              </a:ext>
            </a:extLst>
          </p:cNvPr>
          <p:cNvSpPr/>
          <p:nvPr/>
        </p:nvSpPr>
        <p:spPr>
          <a:xfrm>
            <a:off x="3008304" y="331822"/>
            <a:ext cx="1304442" cy="65877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/>
              <a:t>Search </a:t>
            </a:r>
            <a:r>
              <a:rPr lang="en-US" altLang="zh-CN" sz="1400" b="1" dirty="0"/>
              <a:t>program</a:t>
            </a:r>
            <a:endParaRPr lang="en-GB" sz="1400" b="1" noProof="0" dirty="0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01C7EA9F-BB08-1751-CB64-CA52FBDAA38A}"/>
              </a:ext>
            </a:extLst>
          </p:cNvPr>
          <p:cNvCxnSpPr>
            <a:cxnSpLocks/>
          </p:cNvCxnSpPr>
          <p:nvPr/>
        </p:nvCxnSpPr>
        <p:spPr>
          <a:xfrm flipV="1">
            <a:off x="3372928" y="1037502"/>
            <a:ext cx="0" cy="3858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CE27284F-5332-63E1-9FFB-BCC29250FF4E}"/>
              </a:ext>
            </a:extLst>
          </p:cNvPr>
          <p:cNvCxnSpPr>
            <a:cxnSpLocks/>
          </p:cNvCxnSpPr>
          <p:nvPr/>
        </p:nvCxnSpPr>
        <p:spPr>
          <a:xfrm flipV="1">
            <a:off x="3922143" y="1037502"/>
            <a:ext cx="0" cy="385856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30D3D70F-A33A-BCD0-A330-5A4D250CE064}"/>
              </a:ext>
            </a:extLst>
          </p:cNvPr>
          <p:cNvCxnSpPr>
            <a:cxnSpLocks/>
          </p:cNvCxnSpPr>
          <p:nvPr/>
        </p:nvCxnSpPr>
        <p:spPr>
          <a:xfrm flipH="1">
            <a:off x="2380891" y="474453"/>
            <a:ext cx="5003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BAE9928A-4FE4-8CFF-26B0-7BC12994E177}"/>
              </a:ext>
            </a:extLst>
          </p:cNvPr>
          <p:cNvCxnSpPr>
            <a:cxnSpLocks/>
          </p:cNvCxnSpPr>
          <p:nvPr/>
        </p:nvCxnSpPr>
        <p:spPr>
          <a:xfrm flipH="1">
            <a:off x="2380891" y="816634"/>
            <a:ext cx="500332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735D226C-7E9A-EC8B-6A37-6F40EEA64256}"/>
              </a:ext>
            </a:extLst>
          </p:cNvPr>
          <p:cNvSpPr/>
          <p:nvPr/>
        </p:nvSpPr>
        <p:spPr>
          <a:xfrm>
            <a:off x="5221858" y="329867"/>
            <a:ext cx="1488995" cy="120260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Most of Context</a:t>
            </a:r>
          </a:p>
          <a:p>
            <a:pPr algn="ctr"/>
            <a:r>
              <a:rPr lang="en-GB" sz="1400" dirty="0"/>
              <a:t>(Hard Disk)</a:t>
            </a:r>
            <a:endParaRPr lang="en-GB" sz="1400" noProof="0" dirty="0"/>
          </a:p>
        </p:txBody>
      </p:sp>
      <p:sp>
        <p:nvSpPr>
          <p:cNvPr id="13" name="Rounded Rectangle 3">
            <a:extLst>
              <a:ext uri="{FF2B5EF4-FFF2-40B4-BE49-F238E27FC236}">
                <a16:creationId xmlns:a16="http://schemas.microsoft.com/office/drawing/2014/main" id="{52586D21-1934-5450-3F33-091BEC07A50C}"/>
              </a:ext>
            </a:extLst>
          </p:cNvPr>
          <p:cNvSpPr/>
          <p:nvPr/>
        </p:nvSpPr>
        <p:spPr>
          <a:xfrm>
            <a:off x="5221858" y="1600199"/>
            <a:ext cx="1482241" cy="535831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/>
              <a:t>Meta data of Context </a:t>
            </a:r>
            <a:r>
              <a:rPr lang="en-GB" sz="1400" b="1" noProof="0" dirty="0"/>
              <a:t>t + 1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E69A260C-3DDF-6355-2597-2400C42F80B1}"/>
              </a:ext>
            </a:extLst>
          </p:cNvPr>
          <p:cNvCxnSpPr>
            <a:cxnSpLocks/>
            <a:stCxn id="4" idx="3"/>
            <a:endCxn id="13" idx="1"/>
          </p:cNvCxnSpPr>
          <p:nvPr/>
        </p:nvCxnSpPr>
        <p:spPr>
          <a:xfrm>
            <a:off x="4270125" y="1868113"/>
            <a:ext cx="951733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8" name="图片 17">
            <a:extLst>
              <a:ext uri="{FF2B5EF4-FFF2-40B4-BE49-F238E27FC236}">
                <a16:creationId xmlns:a16="http://schemas.microsoft.com/office/drawing/2014/main" id="{5FEE4245-A2A3-4CD8-BC09-883C81C685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034" y="2300873"/>
            <a:ext cx="4179888" cy="4331968"/>
          </a:xfrm>
          <a:prstGeom prst="rect">
            <a:avLst/>
          </a:prstGeom>
        </p:spPr>
      </p:pic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3A7DB6B-FB4D-2E4C-9F36-87DA704F4802}"/>
              </a:ext>
            </a:extLst>
          </p:cNvPr>
          <p:cNvSpPr/>
          <p:nvPr/>
        </p:nvSpPr>
        <p:spPr>
          <a:xfrm>
            <a:off x="4390246" y="4791461"/>
            <a:ext cx="3509153" cy="955289"/>
          </a:xfrm>
          <a:prstGeom prst="round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0" name="箭头: 右 19">
            <a:extLst>
              <a:ext uri="{FF2B5EF4-FFF2-40B4-BE49-F238E27FC236}">
                <a16:creationId xmlns:a16="http://schemas.microsoft.com/office/drawing/2014/main" id="{F6B36D12-F292-81F6-37E7-C35594CABE46}"/>
              </a:ext>
            </a:extLst>
          </p:cNvPr>
          <p:cNvSpPr/>
          <p:nvPr/>
        </p:nvSpPr>
        <p:spPr>
          <a:xfrm>
            <a:off x="3576387" y="5026789"/>
            <a:ext cx="693738" cy="484632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123750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980</Words>
  <Application>Microsoft Office PowerPoint</Application>
  <PresentationFormat>全屏显示(4:3)</PresentationFormat>
  <Paragraphs>255</Paragraphs>
  <Slides>33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38" baseType="lpstr">
      <vt:lpstr>Lucida Grande</vt:lpstr>
      <vt:lpstr>等线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2026-03-31T22:19:29Z</dcterms:created>
  <dcterms:modified xsi:type="dcterms:W3CDTF">2026-05-14T14:12:02Z</dcterms:modified>
  <cp:category/>
</cp:coreProperties>
</file>