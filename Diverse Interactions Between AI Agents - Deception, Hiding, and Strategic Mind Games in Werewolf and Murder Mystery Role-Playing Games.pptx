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0"/>
  </p:notesMasterIdLst>
  <p:sldIdLst>
    <p:sldId id="387" r:id="rId2"/>
    <p:sldId id="388" r:id="rId3"/>
    <p:sldId id="389" r:id="rId4"/>
    <p:sldId id="390" r:id="rId5"/>
    <p:sldId id="391" r:id="rId6"/>
    <p:sldId id="392" r:id="rId7"/>
    <p:sldId id="393" r:id="rId8"/>
    <p:sldId id="39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68" y="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7FDF6-4CAC-47B4-B661-025D4863187C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DD67-F2CB-4DF1-B2B4-C2B533549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erewolf.foaster.ai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erewolf.foaster.ai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p.weixin.qq.com/s/CSBQ20gDfuS_SUYs2UiFD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erewolf.foaster.ai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erewolf.foaster.ai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F065-9462-16FC-C6D6-81631ED3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FD5BEA-DB3C-B05D-C680-41DB80C5E7F2}"/>
              </a:ext>
            </a:extLst>
          </p:cNvPr>
          <p:cNvSpPr txBox="1"/>
          <p:nvPr/>
        </p:nvSpPr>
        <p:spPr>
          <a:xfrm>
            <a:off x="103516" y="207836"/>
            <a:ext cx="663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Can AI systems deceive and compete with each other strategically?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>
                <a:hlinkClick r:id="rId2"/>
              </a:rPr>
              <a:t>https://werewolf.foaster.ai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253CE7-3391-A4CC-3339-202452C4C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63" y="854167"/>
            <a:ext cx="4862720" cy="535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8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100E4-0F91-C190-802F-998D32A7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D95BCFD-3DBC-5E0D-93C9-53A486DFD766}"/>
              </a:ext>
            </a:extLst>
          </p:cNvPr>
          <p:cNvSpPr txBox="1"/>
          <p:nvPr/>
        </p:nvSpPr>
        <p:spPr>
          <a:xfrm>
            <a:off x="103516" y="207836"/>
            <a:ext cx="663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Can AI systems deceive and compete with each other strategically?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>
                <a:hlinkClick r:id="rId2"/>
              </a:rPr>
              <a:t>https://werewolf.foaster.ai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759C88-6A0F-DB9F-EB2A-D2AEDE17B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63" y="854167"/>
            <a:ext cx="4862720" cy="535881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34E1DE1-D7C6-A498-44C5-1229ADC62588}"/>
              </a:ext>
            </a:extLst>
          </p:cNvPr>
          <p:cNvSpPr txBox="1"/>
          <p:nvPr/>
        </p:nvSpPr>
        <p:spPr>
          <a:xfrm>
            <a:off x="3528203" y="6383873"/>
            <a:ext cx="5447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https://mp.weixin.qq.com/s/CSBQ20gDfuS_SUYs2UiFDw</a:t>
            </a:r>
            <a:endParaRPr lang="en-GB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98F33A9-CDAF-AE05-1741-2B60E7174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558180"/>
              </p:ext>
            </p:extLst>
          </p:nvPr>
        </p:nvGraphicFramePr>
        <p:xfrm>
          <a:off x="3428748" y="2120616"/>
          <a:ext cx="5546894" cy="41778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0195">
                  <a:extLst>
                    <a:ext uri="{9D8B030D-6E8A-4147-A177-3AD203B41FA5}">
                      <a16:colId xmlns:a16="http://schemas.microsoft.com/office/drawing/2014/main" val="3814646384"/>
                    </a:ext>
                  </a:extLst>
                </a:gridCol>
                <a:gridCol w="3916699">
                  <a:extLst>
                    <a:ext uri="{9D8B030D-6E8A-4147-A177-3AD203B41FA5}">
                      <a16:colId xmlns:a16="http://schemas.microsoft.com/office/drawing/2014/main" val="975727563"/>
                    </a:ext>
                  </a:extLst>
                </a:gridCol>
              </a:tblGrid>
              <a:tr h="11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Werewolf Camp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 dirty="0"/>
                        <a:t>The Werewolf camp uses </a:t>
                      </a:r>
                      <a:r>
                        <a:rPr lang="zh-CN" sz="1700" b="1" dirty="0"/>
                        <a:t>Qwen2.5-7B-Instruct</a:t>
                      </a:r>
                      <a:r>
                        <a:rPr lang="zh-CN" sz="1700" dirty="0"/>
                        <a:t> as the trainable model, with </a:t>
                      </a:r>
                      <a:r>
                        <a:rPr lang="zh-CN" sz="1700" b="1" dirty="0"/>
                        <a:t>Qwen3-30B-A3B-Instruct</a:t>
                      </a:r>
                      <a:r>
                        <a:rPr lang="zh-CN" sz="1700" dirty="0"/>
                        <a:t> serving as the auxiliary model.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82774341"/>
                  </a:ext>
                </a:extLst>
              </a:tr>
              <a:tr h="1392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 dirty="0"/>
                        <a:t>Good Camp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 dirty="0"/>
                        <a:t>The Good camp uses </a:t>
                      </a:r>
                      <a:r>
                        <a:rPr lang="zh-CN" sz="1700" b="1" dirty="0"/>
                        <a:t>Qwen3-4B-Instruct</a:t>
                      </a:r>
                      <a:r>
                        <a:rPr lang="zh-CN" sz="1700" dirty="0"/>
                        <a:t> as the trainable model to compete against </a:t>
                      </a:r>
                      <a:r>
                        <a:rPr lang="zh-CN" sz="1700" b="1" dirty="0"/>
                        <a:t>Qwen3-30B-A3B-Instruct</a:t>
                      </a:r>
                      <a:r>
                        <a:rPr lang="zh-CN" sz="1700" dirty="0"/>
                        <a:t> Werewolf agents. Three roles are trained simultaneously: </a:t>
                      </a:r>
                      <a:r>
                        <a:rPr lang="zh-CN" sz="1700" b="1" dirty="0"/>
                        <a:t>Seer, Witch, and Villager</a:t>
                      </a:r>
                      <a:r>
                        <a:rPr lang="zh-CN" sz="1700" dirty="0"/>
                        <a:t>.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615827370"/>
                  </a:ext>
                </a:extLst>
              </a:tr>
              <a:tr h="165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/>
                        <a:t>Result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700" dirty="0"/>
                        <a:t>The results show that, after RL training, a </a:t>
                      </a:r>
                      <a:r>
                        <a:rPr lang="zh-CN" sz="1700" b="1" dirty="0"/>
                        <a:t>4B small model</a:t>
                      </a:r>
                      <a:r>
                        <a:rPr lang="zh-CN" sz="1700" dirty="0"/>
                        <a:t> can effectively compete against a stronger </a:t>
                      </a:r>
                      <a:r>
                        <a:rPr lang="zh-CN" sz="1700" b="1" dirty="0"/>
                        <a:t>30B model</a:t>
                      </a:r>
                      <a:r>
                        <a:rPr lang="zh-CN" sz="1700" dirty="0"/>
                        <a:t>, demonstrating the significant value of </a:t>
                      </a:r>
                      <a:r>
                        <a:rPr lang="zh-CN" sz="1700" b="1" dirty="0"/>
                        <a:t>reinforcement fine-tuning</a:t>
                      </a:r>
                      <a:r>
                        <a:rPr lang="zh-CN" sz="1700" dirty="0"/>
                        <a:t> in multi-agent games.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65132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72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8A256-86E2-A992-2663-AA0F3E41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67F362-3FB5-E97A-BEAC-953030EA5302}"/>
              </a:ext>
            </a:extLst>
          </p:cNvPr>
          <p:cNvSpPr txBox="1"/>
          <p:nvPr/>
        </p:nvSpPr>
        <p:spPr>
          <a:xfrm>
            <a:off x="103516" y="207836"/>
            <a:ext cx="663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Can AI systems deceive and compete with each other strategically?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>
                <a:hlinkClick r:id="rId2"/>
              </a:rPr>
              <a:t>https://werewolf.foaster.ai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681574-B718-507F-4364-B4DC4919A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703" y="999316"/>
            <a:ext cx="7105650" cy="5514975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F62C9A0F-7C1E-91BB-A80D-2F28292B3D3C}"/>
              </a:ext>
            </a:extLst>
          </p:cNvPr>
          <p:cNvSpPr/>
          <p:nvPr/>
        </p:nvSpPr>
        <p:spPr>
          <a:xfrm rot="3012574">
            <a:off x="3420372" y="841078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930A0D1-1B2A-1428-5CE2-CC9E5860F2CD}"/>
              </a:ext>
            </a:extLst>
          </p:cNvPr>
          <p:cNvSpPr/>
          <p:nvPr/>
        </p:nvSpPr>
        <p:spPr>
          <a:xfrm rot="3012574">
            <a:off x="3420370" y="3680153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070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506A-8470-F731-BEE4-D5128B69A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CC32CAD-2607-E513-0A09-9CBD92DE9818}"/>
              </a:ext>
            </a:extLst>
          </p:cNvPr>
          <p:cNvSpPr txBox="1"/>
          <p:nvPr/>
        </p:nvSpPr>
        <p:spPr>
          <a:xfrm>
            <a:off x="103516" y="207836"/>
            <a:ext cx="663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Can AI systems deceive and compete with each other strategically?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>
                <a:hlinkClick r:id="rId2"/>
              </a:rPr>
              <a:t>https://werewolf.foaster.ai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A62556-2DB1-0424-291C-EB8624E4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703" y="999316"/>
            <a:ext cx="7105650" cy="5514975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E1BE3060-70B0-B40B-68F4-38499C1ABFE3}"/>
              </a:ext>
            </a:extLst>
          </p:cNvPr>
          <p:cNvSpPr/>
          <p:nvPr/>
        </p:nvSpPr>
        <p:spPr>
          <a:xfrm rot="19013190">
            <a:off x="2456753" y="3687795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D6AEDB8-A8C0-B44E-DDBE-8614BF575F6E}"/>
              </a:ext>
            </a:extLst>
          </p:cNvPr>
          <p:cNvSpPr/>
          <p:nvPr/>
        </p:nvSpPr>
        <p:spPr>
          <a:xfrm rot="19455173">
            <a:off x="2342138" y="6231168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94352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8CBF-4CFF-2119-D92E-D5A2D605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5C640C0-8029-4AA1-55C1-9920B016D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831"/>
            <a:ext cx="9144000" cy="56583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BD977A2-0E20-A305-4CA9-A38399E8C045}"/>
              </a:ext>
            </a:extLst>
          </p:cNvPr>
          <p:cNvSpPr txBox="1"/>
          <p:nvPr/>
        </p:nvSpPr>
        <p:spPr>
          <a:xfrm>
            <a:off x="0" y="6401275"/>
            <a:ext cx="7686136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MIRAGE: Exploring How Large Language Models Perform in Complex Social Interactive Environments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609826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02D4B-01BF-5C78-2D3A-946CCDB34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FF5C816-BB72-7DA0-172F-A1E4787802C8}"/>
              </a:ext>
            </a:extLst>
          </p:cNvPr>
          <p:cNvSpPr txBox="1"/>
          <p:nvPr/>
        </p:nvSpPr>
        <p:spPr>
          <a:xfrm>
            <a:off x="0" y="6401275"/>
            <a:ext cx="7686136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US" sz="1200" noProof="0" dirty="0">
                <a:solidFill>
                  <a:srgbClr val="000000"/>
                </a:solidFill>
                <a:latin typeface="Lucida Grande"/>
              </a:rPr>
              <a:t>MARO: Learning Stronger Reasoning from Social Interaction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3D7D5A-60B8-C234-9B45-C9C8D195B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694"/>
            <a:ext cx="9144000" cy="4542612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37EF28AB-63F5-FBA7-FC87-DD00311B28A3}"/>
              </a:ext>
            </a:extLst>
          </p:cNvPr>
          <p:cNvSpPr/>
          <p:nvPr/>
        </p:nvSpPr>
        <p:spPr>
          <a:xfrm rot="19013190">
            <a:off x="1171418" y="3868949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EF2F8209-0CC0-BB08-CBE5-1DA7130CAED4}"/>
              </a:ext>
            </a:extLst>
          </p:cNvPr>
          <p:cNvSpPr/>
          <p:nvPr/>
        </p:nvSpPr>
        <p:spPr>
          <a:xfrm rot="19013190">
            <a:off x="5611147" y="3270762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5431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BEC37-DE1D-7732-F07F-5C9F6A6B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C3D459C-B6A6-1C02-6DE2-ACCD36614458}"/>
              </a:ext>
            </a:extLst>
          </p:cNvPr>
          <p:cNvSpPr txBox="1"/>
          <p:nvPr/>
        </p:nvSpPr>
        <p:spPr>
          <a:xfrm>
            <a:off x="0" y="6401275"/>
            <a:ext cx="7686136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US" sz="1200" noProof="0" dirty="0">
                <a:solidFill>
                  <a:srgbClr val="000000"/>
                </a:solidFill>
                <a:latin typeface="Lucida Grande"/>
              </a:rPr>
              <a:t>MARO: Learning Stronger Reasoning from Social Interaction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7C26C3-441A-3E6A-3ADB-2F1A56F35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694"/>
            <a:ext cx="9144000" cy="4542612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54F540CC-8EC0-F883-DDCF-55DAB85F23A2}"/>
              </a:ext>
            </a:extLst>
          </p:cNvPr>
          <p:cNvSpPr/>
          <p:nvPr/>
        </p:nvSpPr>
        <p:spPr>
          <a:xfrm rot="19013190">
            <a:off x="2008561" y="3541085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A2971610-5F5E-4C23-ACA1-4E00AF31E81F}"/>
              </a:ext>
            </a:extLst>
          </p:cNvPr>
          <p:cNvSpPr/>
          <p:nvPr/>
        </p:nvSpPr>
        <p:spPr>
          <a:xfrm rot="19013190">
            <a:off x="6408911" y="2934331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11710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DB98-D01A-6ED6-CDED-78C2D407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EC676D4-936E-0485-951F-540150688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647700"/>
            <a:ext cx="7019925" cy="55626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1BE1C28-7C03-8B69-80BD-479E71820180}"/>
              </a:ext>
            </a:extLst>
          </p:cNvPr>
          <p:cNvSpPr txBox="1"/>
          <p:nvPr/>
        </p:nvSpPr>
        <p:spPr>
          <a:xfrm>
            <a:off x="0" y="6401275"/>
            <a:ext cx="7686136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US" sz="1200" noProof="0" dirty="0">
                <a:solidFill>
                  <a:srgbClr val="000000"/>
                </a:solidFill>
                <a:latin typeface="Lucida Grande"/>
              </a:rPr>
              <a:t>MARO: Learning Stronger Reasoning from Social Interaction (2026)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92291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全屏显示(4:3)</PresentationFormat>
  <Paragraphs>19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Lucida Grande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2026-07-05T20:13:11Z</dcterms:modified>
  <cp:category/>
</cp:coreProperties>
</file>