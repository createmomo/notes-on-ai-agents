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11"/>
  </p:notesMasterIdLst>
  <p:sldIdLst>
    <p:sldId id="387" r:id="rId2"/>
    <p:sldId id="408" r:id="rId3"/>
    <p:sldId id="395" r:id="rId4"/>
    <p:sldId id="406" r:id="rId5"/>
    <p:sldId id="412" r:id="rId6"/>
    <p:sldId id="407" r:id="rId7"/>
    <p:sldId id="409" r:id="rId8"/>
    <p:sldId id="410" r:id="rId9"/>
    <p:sldId id="41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A62D00-2A06-4338-BAF1-05BD0CE2874F}" v="27" dt="2026-08-30T16:56:52.5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77FDF6-4CAC-47B4-B661-025D4863187C}" type="datetimeFigureOut">
              <a:rPr lang="en-GB" smtClean="0"/>
              <a:t>30/08/2026</a:t>
            </a:fld>
            <a:endParaRPr lang="en-GB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B0DD67-F2CB-4DF1-B2B4-C2B5335491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9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602.17221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ithub.com/karpathy/autoresearch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arxiv.org/abs/2409.04109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arxiv.org/pdf/2506.20803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F065-9462-16FC-C6D6-81631ED30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2D7B622B-EBA7-C628-4CD1-FA780C04BC09}"/>
              </a:ext>
            </a:extLst>
          </p:cNvPr>
          <p:cNvSpPr/>
          <p:nvPr/>
        </p:nvSpPr>
        <p:spPr>
          <a:xfrm>
            <a:off x="1837765" y="2017059"/>
            <a:ext cx="914400" cy="9144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</a:t>
            </a:r>
            <a:r>
              <a:rPr lang="en-US" altLang="zh-CN" dirty="0"/>
              <a:t>ool</a:t>
            </a:r>
            <a:endParaRPr lang="en-GB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5D3DB36-3989-F240-BE76-661A39AE0DA0}"/>
              </a:ext>
            </a:extLst>
          </p:cNvPr>
          <p:cNvSpPr/>
          <p:nvPr/>
        </p:nvSpPr>
        <p:spPr>
          <a:xfrm>
            <a:off x="3639671" y="2017059"/>
            <a:ext cx="1577787" cy="9144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Collaboration</a:t>
            </a:r>
            <a:endParaRPr lang="en-GB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86A1FDF-9C48-EDB2-FA93-F6699807E981}"/>
              </a:ext>
            </a:extLst>
          </p:cNvPr>
          <p:cNvSpPr/>
          <p:nvPr/>
        </p:nvSpPr>
        <p:spPr>
          <a:xfrm>
            <a:off x="6104966" y="2017059"/>
            <a:ext cx="914400" cy="9144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</a:t>
            </a:r>
            <a:endParaRPr lang="en-GB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3C873F73-A315-0114-DD0F-18819021670F}"/>
              </a:ext>
            </a:extLst>
          </p:cNvPr>
          <p:cNvCxnSpPr>
            <a:stCxn id="2" idx="3"/>
            <a:endCxn id="6" idx="1"/>
          </p:cNvCxnSpPr>
          <p:nvPr/>
        </p:nvCxnSpPr>
        <p:spPr>
          <a:xfrm>
            <a:off x="2752165" y="2474259"/>
            <a:ext cx="8875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8225F73-2F62-F65B-56CE-E3ECEF0150E9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5217458" y="2474259"/>
            <a:ext cx="8875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B983B01C-99B4-31BD-1EE8-4336C2AEE0A3}"/>
              </a:ext>
            </a:extLst>
          </p:cNvPr>
          <p:cNvSpPr txBox="1"/>
          <p:nvPr/>
        </p:nvSpPr>
        <p:spPr>
          <a:xfrm>
            <a:off x="1156450" y="3055821"/>
            <a:ext cx="1972232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marR="0" indent="0" algn="ctr">
              <a:lnSpc>
                <a:spcPts val="2099"/>
              </a:lnSpc>
              <a:spcAft>
                <a:spcPts val="900"/>
              </a:spcAft>
              <a:buNone/>
            </a:pPr>
            <a:r>
              <a:rPr lang="en-US" altLang="zh-CN" i="0" dirty="0">
                <a:solidFill>
                  <a:srgbClr val="000000"/>
                </a:solidFill>
                <a:effectLst/>
                <a:latin typeface="Lucida Grande"/>
              </a:rPr>
              <a:t>One command</a:t>
            </a:r>
          </a:p>
          <a:p>
            <a:pPr marL="190500" marR="0" indent="0" algn="ctr">
              <a:lnSpc>
                <a:spcPts val="2099"/>
              </a:lnSpc>
              <a:spcAft>
                <a:spcPts val="900"/>
              </a:spcAft>
              <a:buNone/>
            </a:pPr>
            <a:r>
              <a:rPr lang="en-US" altLang="zh-CN" dirty="0">
                <a:solidFill>
                  <a:srgbClr val="000000"/>
                </a:solidFill>
                <a:latin typeface="Lucida Grande"/>
              </a:rPr>
              <a:t>One action</a:t>
            </a:r>
            <a:endParaRPr lang="zh-CN" altLang="zh-CN" i="0" dirty="0">
              <a:solidFill>
                <a:srgbClr val="000000"/>
              </a:solidFill>
              <a:effectLst/>
              <a:latin typeface="Lucida Grande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2255123-DE2B-D1A2-C55E-2022794B23B7}"/>
              </a:ext>
            </a:extLst>
          </p:cNvPr>
          <p:cNvSpPr txBox="1"/>
          <p:nvPr/>
        </p:nvSpPr>
        <p:spPr>
          <a:xfrm>
            <a:off x="3128682" y="3067363"/>
            <a:ext cx="2357718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marR="0" indent="0" algn="ctr">
              <a:lnSpc>
                <a:spcPts val="2099"/>
              </a:lnSpc>
              <a:spcAft>
                <a:spcPts val="900"/>
              </a:spcAft>
              <a:buNone/>
            </a:pPr>
            <a:r>
              <a:rPr lang="en-US" altLang="zh-CN" i="0" dirty="0">
                <a:solidFill>
                  <a:srgbClr val="000000"/>
                </a:solidFill>
                <a:effectLst/>
                <a:latin typeface="Lucida Grande"/>
              </a:rPr>
              <a:t>Work with humans</a:t>
            </a:r>
            <a:endParaRPr lang="zh-CN" altLang="zh-CN" i="0" dirty="0">
              <a:solidFill>
                <a:srgbClr val="000000"/>
              </a:solidFill>
              <a:effectLst/>
              <a:latin typeface="Lucida Grande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1AFEEC9-691D-5491-5CEC-784FF584BC56}"/>
              </a:ext>
            </a:extLst>
          </p:cNvPr>
          <p:cNvSpPr txBox="1"/>
          <p:nvPr/>
        </p:nvSpPr>
        <p:spPr>
          <a:xfrm>
            <a:off x="3128682" y="3440542"/>
            <a:ext cx="2357718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marR="0" indent="0" algn="ctr">
              <a:lnSpc>
                <a:spcPts val="2099"/>
              </a:lnSpc>
              <a:spcAft>
                <a:spcPts val="900"/>
              </a:spcAft>
              <a:buNone/>
            </a:pPr>
            <a:r>
              <a:rPr lang="en-US" altLang="zh-CN" dirty="0">
                <a:solidFill>
                  <a:srgbClr val="000000"/>
                </a:solidFill>
                <a:latin typeface="Lucida Grande"/>
              </a:rPr>
              <a:t>to complete tasks</a:t>
            </a:r>
            <a:endParaRPr lang="zh-CN" altLang="zh-CN" i="0" dirty="0">
              <a:solidFill>
                <a:srgbClr val="000000"/>
              </a:solidFill>
              <a:effectLst/>
              <a:latin typeface="Lucida Grande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C01AF24-8C41-259C-1C8E-7D433124BC29}"/>
              </a:ext>
            </a:extLst>
          </p:cNvPr>
          <p:cNvSpPr txBox="1"/>
          <p:nvPr/>
        </p:nvSpPr>
        <p:spPr>
          <a:xfrm>
            <a:off x="5383307" y="3055821"/>
            <a:ext cx="2357718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marR="0" indent="0" algn="ctr">
              <a:lnSpc>
                <a:spcPts val="2099"/>
              </a:lnSpc>
              <a:spcAft>
                <a:spcPts val="900"/>
              </a:spcAft>
              <a:buNone/>
            </a:pPr>
            <a:r>
              <a:rPr lang="en-US" altLang="zh-CN" dirty="0">
                <a:solidFill>
                  <a:srgbClr val="000000"/>
                </a:solidFill>
                <a:latin typeface="Lucida Grande"/>
              </a:rPr>
              <a:t>Autonomously</a:t>
            </a:r>
          </a:p>
          <a:p>
            <a:pPr marL="190500" marR="0" indent="0" algn="ctr">
              <a:lnSpc>
                <a:spcPts val="2099"/>
              </a:lnSpc>
              <a:spcAft>
                <a:spcPts val="900"/>
              </a:spcAft>
              <a:buNone/>
            </a:pPr>
            <a:r>
              <a:rPr lang="en-US" altLang="zh-CN" dirty="0">
                <a:solidFill>
                  <a:srgbClr val="000000"/>
                </a:solidFill>
                <a:latin typeface="Lucida Grande"/>
              </a:rPr>
              <a:t>c</a:t>
            </a:r>
            <a:r>
              <a:rPr lang="en-US" altLang="zh-CN" i="0" dirty="0">
                <a:solidFill>
                  <a:srgbClr val="000000"/>
                </a:solidFill>
                <a:effectLst/>
                <a:latin typeface="Lucida Grande"/>
              </a:rPr>
              <a:t>omplete tasks</a:t>
            </a:r>
            <a:endParaRPr lang="zh-CN" altLang="zh-CN" i="0" dirty="0">
              <a:solidFill>
                <a:srgbClr val="000000"/>
              </a:solidFill>
              <a:effectLst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3141783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7C08E-ABC1-008C-306F-E34B6C1E3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4253CE41-EE77-DF1E-9964-185ECE00B508}"/>
              </a:ext>
            </a:extLst>
          </p:cNvPr>
          <p:cNvSpPr txBox="1"/>
          <p:nvPr/>
        </p:nvSpPr>
        <p:spPr>
          <a:xfrm>
            <a:off x="103516" y="207836"/>
            <a:ext cx="89706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Automated researchers can reliably mitigate alignment failures</a:t>
            </a:r>
          </a:p>
          <a:p>
            <a:pPr marL="285750" indent="-285750">
              <a:buFontTx/>
              <a:buChar char="-"/>
            </a:pPr>
            <a:r>
              <a:rPr lang="en-US" altLang="zh-CN" dirty="0"/>
              <a:t>https://www.anthropic.com/research/automated-researchers-mitigate-alignment-failures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6F45C67-3A1A-3061-E61F-9AFC3B52F35C}"/>
              </a:ext>
            </a:extLst>
          </p:cNvPr>
          <p:cNvSpPr txBox="1"/>
          <p:nvPr/>
        </p:nvSpPr>
        <p:spPr>
          <a:xfrm>
            <a:off x="173318" y="2782669"/>
            <a:ext cx="89706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Accelerating scientific discovery with Co-Scientist</a:t>
            </a:r>
          </a:p>
          <a:p>
            <a:pPr marL="285750" indent="-285750">
              <a:buFontTx/>
              <a:buChar char="-"/>
            </a:pPr>
            <a:r>
              <a:rPr lang="en-US" altLang="zh-CN" dirty="0"/>
              <a:t>https://www.nature.com/articles/s41586-026-10644-y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D58B212-6BA9-FD54-25BB-2A36B04697FD}"/>
              </a:ext>
            </a:extLst>
          </p:cNvPr>
          <p:cNvSpPr txBox="1"/>
          <p:nvPr/>
        </p:nvSpPr>
        <p:spPr>
          <a:xfrm>
            <a:off x="173318" y="4757337"/>
            <a:ext cx="45429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Real-World Biomedical Validation</a:t>
            </a:r>
            <a:br>
              <a:rPr lang="zh-CN" altLang="zh-CN" dirty="0"/>
            </a:br>
            <a:r>
              <a:rPr lang="zh-CN" altLang="zh-CN" dirty="0"/>
              <a:t>Drug repurposing, target discovery, antimicrobial resistance &amp; experimental validation</a:t>
            </a:r>
            <a:endParaRPr lang="en-GB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79CC8AB-C4B8-D77D-1CCD-D320373C3C1C}"/>
              </a:ext>
            </a:extLst>
          </p:cNvPr>
          <p:cNvSpPr txBox="1"/>
          <p:nvPr/>
        </p:nvSpPr>
        <p:spPr>
          <a:xfrm>
            <a:off x="173316" y="3600135"/>
            <a:ext cx="45429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FF0000"/>
                </a:solidFill>
              </a:rPr>
              <a:t>Gemini </a:t>
            </a:r>
            <a:r>
              <a:rPr lang="zh-CN" altLang="zh-CN" b="1" dirty="0"/>
              <a:t>Multi-Agent “AI Co-Scientist”</a:t>
            </a:r>
            <a:br>
              <a:rPr lang="zh-CN" altLang="zh-CN" dirty="0"/>
            </a:br>
            <a:r>
              <a:rPr lang="zh-CN" altLang="zh-CN" dirty="0"/>
              <a:t>Literature search, hypothesis generation, critique, ranking &amp; iterative refinement</a:t>
            </a:r>
            <a:endParaRPr lang="en-GB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4773F8C-140D-B3F0-7E0A-F123CDFC1293}"/>
              </a:ext>
            </a:extLst>
          </p:cNvPr>
          <p:cNvSpPr txBox="1"/>
          <p:nvPr/>
        </p:nvSpPr>
        <p:spPr>
          <a:xfrm>
            <a:off x="103516" y="1119829"/>
            <a:ext cx="84599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Automated AI Safety Research with </a:t>
            </a:r>
            <a:r>
              <a:rPr lang="zh-CN" altLang="zh-CN" b="1" dirty="0">
                <a:solidFill>
                  <a:srgbClr val="FF0000"/>
                </a:solidFill>
              </a:rPr>
              <a:t>Claude</a:t>
            </a:r>
            <a:br>
              <a:rPr lang="zh-CN" altLang="zh-CN" dirty="0"/>
            </a:br>
            <a:r>
              <a:rPr lang="zh-CN" altLang="zh-CN" dirty="0"/>
              <a:t>Literature review, solution design, training &amp; testing across </a:t>
            </a:r>
            <a:r>
              <a:rPr lang="zh-CN" altLang="zh-CN" b="1" dirty="0"/>
              <a:t>10 alignment failure types</a:t>
            </a:r>
            <a:endParaRPr lang="en-GB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666618F5-7557-CF90-B5C6-2D5D57DCE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910" y="1773658"/>
            <a:ext cx="881743" cy="881743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FABFECF8-B783-772A-B696-7D83FE202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255" y="3475299"/>
            <a:ext cx="4267200" cy="317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212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036AF-B6CC-A748-3209-FC02250A9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8893D4E-CA3A-2643-A0D1-20B35A70197F}"/>
              </a:ext>
            </a:extLst>
          </p:cNvPr>
          <p:cNvSpPr txBox="1"/>
          <p:nvPr/>
        </p:nvSpPr>
        <p:spPr>
          <a:xfrm>
            <a:off x="103516" y="207836"/>
            <a:ext cx="6633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For researchers, can it autonomously write an entire research paper?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en-US" altLang="zh-CN" dirty="0"/>
              <a:t>https://x.com/ahall_research/status/2007603340939800664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1287047-BDDD-C19E-FA8A-60D430D77A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281"/>
          <a:stretch>
            <a:fillRect/>
          </a:stretch>
        </p:blipFill>
        <p:spPr>
          <a:xfrm>
            <a:off x="103516" y="925113"/>
            <a:ext cx="3585881" cy="56093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图片 9" descr="Image">
            <a:extLst>
              <a:ext uri="{FF2B5EF4-FFF2-40B4-BE49-F238E27FC236}">
                <a16:creationId xmlns:a16="http://schemas.microsoft.com/office/drawing/2014/main" id="{6692170C-DDD9-55EA-E1EC-EB8DA1584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5623" y="2290756"/>
            <a:ext cx="3433922" cy="42436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箭头: 右 6">
            <a:extLst>
              <a:ext uri="{FF2B5EF4-FFF2-40B4-BE49-F238E27FC236}">
                <a16:creationId xmlns:a16="http://schemas.microsoft.com/office/drawing/2014/main" id="{7AB8867B-DBBC-6CA1-1362-888B343EF803}"/>
              </a:ext>
            </a:extLst>
          </p:cNvPr>
          <p:cNvSpPr/>
          <p:nvPr/>
        </p:nvSpPr>
        <p:spPr>
          <a:xfrm>
            <a:off x="3550997" y="4986541"/>
            <a:ext cx="453027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3343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A5F07-B242-0E50-105C-FFEAE8D1F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151399B-6653-BF53-D998-DCE7B880196D}"/>
              </a:ext>
            </a:extLst>
          </p:cNvPr>
          <p:cNvSpPr txBox="1"/>
          <p:nvPr/>
        </p:nvSpPr>
        <p:spPr>
          <a:xfrm>
            <a:off x="103516" y="207836"/>
            <a:ext cx="6633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For researchers, can it autonomously write an entire research paper?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en-US" altLang="zh-CN" dirty="0"/>
              <a:t>https://freesystems.substack.com/p/the-100x-research-institution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3EAF593-017C-0277-CC76-CAE84EBBC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463" y="1062313"/>
            <a:ext cx="6853637" cy="4733374"/>
          </a:xfrm>
          <a:prstGeom prst="rect">
            <a:avLst/>
          </a:prstGeom>
        </p:spPr>
      </p:pic>
      <p:sp>
        <p:nvSpPr>
          <p:cNvPr id="6" name="箭头: 右 5">
            <a:extLst>
              <a:ext uri="{FF2B5EF4-FFF2-40B4-BE49-F238E27FC236}">
                <a16:creationId xmlns:a16="http://schemas.microsoft.com/office/drawing/2014/main" id="{F74E0B2A-9E74-7F17-18B4-27DFCC15A9F3}"/>
              </a:ext>
            </a:extLst>
          </p:cNvPr>
          <p:cNvSpPr/>
          <p:nvPr/>
        </p:nvSpPr>
        <p:spPr>
          <a:xfrm rot="16200000">
            <a:off x="1983902" y="5738261"/>
            <a:ext cx="486448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683839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12359-71F4-8C32-9623-D21BC4C94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2E9B6C5-B7CD-ABF1-C6EE-FBAE988057E2}"/>
              </a:ext>
            </a:extLst>
          </p:cNvPr>
          <p:cNvSpPr txBox="1"/>
          <p:nvPr/>
        </p:nvSpPr>
        <p:spPr>
          <a:xfrm>
            <a:off x="103516" y="207836"/>
            <a:ext cx="6633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For researchers, can it autonomously write an entire research paper?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en-US" altLang="zh-CN" dirty="0"/>
              <a:t>https://freesystems.substack.com/p/the-100x-research-institution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F81A7D8-ED10-AA78-6521-3F1878FF063B}"/>
              </a:ext>
            </a:extLst>
          </p:cNvPr>
          <p:cNvSpPr txBox="1"/>
          <p:nvPr/>
        </p:nvSpPr>
        <p:spPr>
          <a:xfrm>
            <a:off x="150508" y="1093702"/>
            <a:ext cx="630744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sz="1600" b="1" dirty="0"/>
              <a:t>Living Research</a:t>
            </a:r>
            <a:br>
              <a:rPr lang="zh-CN" altLang="zh-CN" sz="1600" dirty="0"/>
            </a:br>
            <a:r>
              <a:rPr lang="zh-CN" altLang="zh-CN" sz="1600" b="1" i="1" dirty="0">
                <a:solidFill>
                  <a:srgbClr val="FF0000"/>
                </a:solidFill>
              </a:rPr>
              <a:t>Continuously</a:t>
            </a:r>
            <a:r>
              <a:rPr lang="zh-CN" altLang="zh-CN" sz="1600" i="1" dirty="0"/>
              <a:t> updated research</a:t>
            </a:r>
            <a:br>
              <a:rPr lang="zh-CN" altLang="zh-CN" sz="1600" dirty="0"/>
            </a:br>
            <a:r>
              <a:rPr lang="zh-CN" altLang="zh-CN" sz="1600" b="1" i="1" dirty="0">
                <a:solidFill>
                  <a:srgbClr val="FF0000"/>
                </a:solidFill>
              </a:rPr>
              <a:t>New data </a:t>
            </a:r>
            <a:r>
              <a:rPr lang="zh-CN" altLang="zh-CN" sz="1600" i="1" dirty="0"/>
              <a:t>→ automatic re-analysis → updated conclusions</a:t>
            </a:r>
            <a:r>
              <a:rPr lang="zh-CN" altLang="zh-CN" sz="1600" dirty="0"/>
              <a:t> </a:t>
            </a:r>
            <a:endParaRPr lang="en-US" altLang="zh-CN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zh-CN" altLang="zh-CN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sz="1600" b="1" dirty="0"/>
              <a:t>Automated Replication</a:t>
            </a:r>
            <a:br>
              <a:rPr lang="zh-CN" altLang="zh-CN" sz="1600" dirty="0"/>
            </a:br>
            <a:r>
              <a:rPr lang="zh-CN" altLang="zh-CN" sz="1600" i="1" dirty="0"/>
              <a:t>Automatic reproducibility checks</a:t>
            </a:r>
            <a:br>
              <a:rPr lang="zh-CN" altLang="zh-CN" sz="1600" dirty="0"/>
            </a:br>
            <a:r>
              <a:rPr lang="zh-CN" altLang="zh-CN" sz="1600" b="1" i="1" dirty="0">
                <a:solidFill>
                  <a:srgbClr val="FF0000"/>
                </a:solidFill>
              </a:rPr>
              <a:t>Re-run analyses </a:t>
            </a:r>
            <a:r>
              <a:rPr lang="zh-CN" altLang="zh-CN" sz="1600" i="1" dirty="0"/>
              <a:t>from raw data before publication</a:t>
            </a:r>
            <a:r>
              <a:rPr lang="zh-CN" altLang="zh-CN" sz="1600" dirty="0"/>
              <a:t> </a:t>
            </a:r>
            <a:endParaRPr lang="en-US" altLang="zh-CN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zh-CN" altLang="zh-CN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sz="1600" b="1" dirty="0"/>
              <a:t>Synthesis at Scale</a:t>
            </a:r>
            <a:br>
              <a:rPr lang="zh-CN" altLang="zh-CN" sz="1600" dirty="0"/>
            </a:br>
            <a:r>
              <a:rPr lang="zh-CN" altLang="zh-CN" sz="1600" b="1" i="1" dirty="0">
                <a:solidFill>
                  <a:srgbClr val="FF0000"/>
                </a:solidFill>
              </a:rPr>
              <a:t>Large-scale </a:t>
            </a:r>
            <a:r>
              <a:rPr lang="zh-CN" altLang="zh-CN" sz="1600" i="1" dirty="0"/>
              <a:t>evidence synthesis</a:t>
            </a:r>
            <a:br>
              <a:rPr lang="zh-CN" altLang="zh-CN" sz="1600" dirty="0"/>
            </a:br>
            <a:r>
              <a:rPr lang="zh-CN" altLang="zh-CN" sz="1600" i="1" dirty="0"/>
              <a:t>Analyze massive datasets and research questions at scale</a:t>
            </a:r>
            <a:r>
              <a:rPr lang="zh-CN" altLang="zh-CN" sz="1600" dirty="0"/>
              <a:t> </a:t>
            </a:r>
            <a:endParaRPr lang="en-US" altLang="zh-CN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zh-CN" altLang="zh-CN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sz="1600" b="1" dirty="0"/>
              <a:t>Research </a:t>
            </a:r>
            <a:r>
              <a:rPr lang="zh-CN" altLang="zh-CN" sz="1600" b="1" dirty="0">
                <a:solidFill>
                  <a:srgbClr val="FF0000"/>
                </a:solidFill>
              </a:rPr>
              <a:t>Swarm</a:t>
            </a:r>
            <a:br>
              <a:rPr lang="zh-CN" altLang="zh-CN" sz="1600" dirty="0"/>
            </a:br>
            <a:r>
              <a:rPr lang="zh-CN" altLang="zh-CN" sz="1600" i="1" dirty="0"/>
              <a:t>Multi-agent research collaboration</a:t>
            </a:r>
            <a:br>
              <a:rPr lang="zh-CN" altLang="zh-CN" sz="1600" dirty="0"/>
            </a:br>
            <a:r>
              <a:rPr lang="zh-CN" altLang="zh-CN" sz="1600" i="1" dirty="0"/>
              <a:t>Generate, evaluate, execute, and review research ideas autonomously</a:t>
            </a:r>
            <a:endParaRPr lang="zh-CN" altLang="zh-CN" sz="1600" dirty="0"/>
          </a:p>
        </p:txBody>
      </p:sp>
    </p:spTree>
    <p:extLst>
      <p:ext uri="{BB962C8B-B14F-4D97-AF65-F5344CB8AC3E}">
        <p14:creationId xmlns:p14="http://schemas.microsoft.com/office/powerpoint/2010/main" val="4153716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8F19B-94BE-6D8D-66E4-88BD20862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DCE2B62-9641-C0AC-3FC6-2E0BD1CF9F80}"/>
              </a:ext>
            </a:extLst>
          </p:cNvPr>
          <p:cNvSpPr txBox="1"/>
          <p:nvPr/>
        </p:nvSpPr>
        <p:spPr>
          <a:xfrm>
            <a:off x="103516" y="207836"/>
            <a:ext cx="87193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For researchers, can it autonomously write an entire research paper?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en-US" altLang="zh-CN" dirty="0"/>
              <a:t>From Labor to Collaboration: A Methodological Experiment Using AI Agents to Augment Research Perspectives in Taiwan's Humanities and Social Sciences</a:t>
            </a:r>
          </a:p>
          <a:p>
            <a:pPr marL="285750" indent="-285750">
              <a:buFontTx/>
              <a:buChar char="-"/>
            </a:pPr>
            <a:r>
              <a:rPr lang="zh-CN" altLang="zh-CN" dirty="0">
                <a:hlinkClick r:id="rId2"/>
              </a:rPr>
              <a:t>https://arxiv.org/abs/2602.17221</a:t>
            </a:r>
            <a:endParaRPr lang="zh-CN" altLang="zh-CN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5DFDF872-0848-2D51-2D55-BBEC0873BE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382010"/>
              </p:ext>
            </p:extLst>
          </p:nvPr>
        </p:nvGraphicFramePr>
        <p:xfrm>
          <a:off x="765005" y="1753308"/>
          <a:ext cx="7396417" cy="40972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9192">
                  <a:extLst>
                    <a:ext uri="{9D8B030D-6E8A-4147-A177-3AD203B41FA5}">
                      <a16:colId xmlns:a16="http://schemas.microsoft.com/office/drawing/2014/main" val="4260647977"/>
                    </a:ext>
                  </a:extLst>
                </a:gridCol>
                <a:gridCol w="2116029">
                  <a:extLst>
                    <a:ext uri="{9D8B030D-6E8A-4147-A177-3AD203B41FA5}">
                      <a16:colId xmlns:a16="http://schemas.microsoft.com/office/drawing/2014/main" val="3764949052"/>
                    </a:ext>
                  </a:extLst>
                </a:gridCol>
                <a:gridCol w="1809536">
                  <a:extLst>
                    <a:ext uri="{9D8B030D-6E8A-4147-A177-3AD203B41FA5}">
                      <a16:colId xmlns:a16="http://schemas.microsoft.com/office/drawing/2014/main" val="1578382610"/>
                    </a:ext>
                  </a:extLst>
                </a:gridCol>
                <a:gridCol w="1745310">
                  <a:extLst>
                    <a:ext uri="{9D8B030D-6E8A-4147-A177-3AD203B41FA5}">
                      <a16:colId xmlns:a16="http://schemas.microsoft.com/office/drawing/2014/main" val="3622001645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1438137797"/>
                    </a:ext>
                  </a:extLst>
                </a:gridCol>
              </a:tblGrid>
              <a:tr h="313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b="1"/>
                        <a:t>Stage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b="1"/>
                        <a:t>Name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b="1"/>
                        <a:t>Human Role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b="1" dirty="0"/>
                        <a:t>AI Agent Role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b="1" dirty="0"/>
                        <a:t>Expected Output</a:t>
                      </a:r>
                    </a:p>
                  </a:txBody>
                  <a:tcPr marL="38033" marR="38033" marT="19017" marB="19017" anchor="ctr"/>
                </a:tc>
                <a:extLst>
                  <a:ext uri="{0D108BD9-81ED-4DB2-BD59-A6C34878D82A}">
                    <a16:rowId xmlns:a16="http://schemas.microsoft.com/office/drawing/2014/main" val="2227865812"/>
                  </a:ext>
                </a:extLst>
              </a:tr>
              <a:tr h="7084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/>
                        <a:t>0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Research Planning &amp; Agent Configuration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Define research questions and identify data sources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Support structured thinking and set up the document framework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Research plan and project structure</a:t>
                      </a:r>
                    </a:p>
                  </a:txBody>
                  <a:tcPr marL="38033" marR="38033" marT="19017" marB="19017" anchor="ctr"/>
                </a:tc>
                <a:extLst>
                  <a:ext uri="{0D108BD9-81ED-4DB2-BD59-A6C34878D82A}">
                    <a16:rowId xmlns:a16="http://schemas.microsoft.com/office/drawing/2014/main" val="246396317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/>
                        <a:t>1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Literature Collection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Define search scope and assess relevance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Conduct searches and organize literature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Structured literature database</a:t>
                      </a:r>
                    </a:p>
                  </a:txBody>
                  <a:tcPr marL="38033" marR="38033" marT="19017" marB="19017" anchor="ctr"/>
                </a:tc>
                <a:extLst>
                  <a:ext uri="{0D108BD9-81ED-4DB2-BD59-A6C34878D82A}">
                    <a16:rowId xmlns:a16="http://schemas.microsoft.com/office/drawing/2014/main" val="560880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/>
                        <a:t>2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Literature Analysis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Provide theoretical interpretation and validate findings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Perform thematic analysis and identify research gaps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Literature analysis report</a:t>
                      </a:r>
                    </a:p>
                  </a:txBody>
                  <a:tcPr marL="38033" marR="38033" marT="19017" marB="19017" anchor="ctr"/>
                </a:tc>
                <a:extLst>
                  <a:ext uri="{0D108BD9-81ED-4DB2-BD59-A6C34878D82A}">
                    <a16:rowId xmlns:a16="http://schemas.microsoft.com/office/drawing/2014/main" val="849538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/>
                        <a:t>3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Data Understanding &amp; Exploration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Interpret the meaning of the data and determine analysis directions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Read datasets and conduct descriptive statistics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Data structure documentation</a:t>
                      </a:r>
                    </a:p>
                  </a:txBody>
                  <a:tcPr marL="38033" marR="38033" marT="19017" marB="19017" anchor="ctr"/>
                </a:tc>
                <a:extLst>
                  <a:ext uri="{0D108BD9-81ED-4DB2-BD59-A6C34878D82A}">
                    <a16:rowId xmlns:a16="http://schemas.microsoft.com/office/drawing/2014/main" val="3905376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/>
                        <a:t>4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Data Analysis &amp; Visualization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Define analytical questions and interpret results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Perform analysis and generate visualizations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Analysis results and charts</a:t>
                      </a:r>
                    </a:p>
                  </a:txBody>
                  <a:tcPr marL="38033" marR="38033" marT="19017" marB="19017" anchor="ctr"/>
                </a:tc>
                <a:extLst>
                  <a:ext uri="{0D108BD9-81ED-4DB2-BD59-A6C34878D82A}">
                    <a16:rowId xmlns:a16="http://schemas.microsoft.com/office/drawing/2014/main" val="1400320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/>
                        <a:t>5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Paper Writing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Review content and provide theoretical interpretation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Draft different sections of the paper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Initial paper draft</a:t>
                      </a:r>
                    </a:p>
                  </a:txBody>
                  <a:tcPr marL="38033" marR="38033" marT="19017" marB="19017" anchor="ctr"/>
                </a:tc>
                <a:extLst>
                  <a:ext uri="{0D108BD9-81ED-4DB2-BD59-A6C34878D82A}">
                    <a16:rowId xmlns:a16="http://schemas.microsoft.com/office/drawing/2014/main" val="345880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/>
                        <a:t>6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Reference Management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Complete missing information and verify accuracy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Extract citations and format references</a:t>
                      </a:r>
                    </a:p>
                  </a:txBody>
                  <a:tcPr marL="38033" marR="38033" marT="19017" marB="1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Reference list</a:t>
                      </a:r>
                    </a:p>
                  </a:txBody>
                  <a:tcPr marL="38033" marR="38033" marT="19017" marB="19017" anchor="ctr"/>
                </a:tc>
                <a:extLst>
                  <a:ext uri="{0D108BD9-81ED-4DB2-BD59-A6C34878D82A}">
                    <a16:rowId xmlns:a16="http://schemas.microsoft.com/office/drawing/2014/main" val="22264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4618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B5C10-B088-0AC1-8B24-E36F8BC3D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D01CA11-82DC-356A-D4F3-FAD83E70967F}"/>
              </a:ext>
            </a:extLst>
          </p:cNvPr>
          <p:cNvSpPr txBox="1"/>
          <p:nvPr/>
        </p:nvSpPr>
        <p:spPr>
          <a:xfrm>
            <a:off x="103516" y="207836"/>
            <a:ext cx="8886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AI agents running research on single-GPU nanochat training automatically </a:t>
            </a:r>
            <a:r>
              <a:rPr lang="en-US" altLang="zh-CN" dirty="0"/>
              <a:t>(Andrej Karpathy)</a:t>
            </a:r>
          </a:p>
          <a:p>
            <a:pPr marL="285750" indent="-285750">
              <a:buFontTx/>
              <a:buChar char="-"/>
            </a:pPr>
            <a:r>
              <a:rPr lang="en-US" altLang="zh-CN" dirty="0">
                <a:hlinkClick r:id="rId2"/>
              </a:rPr>
              <a:t>https://github.com/karpathy/autoresearch</a:t>
            </a:r>
            <a:endParaRPr lang="en-US" altLang="zh-CN" dirty="0"/>
          </a:p>
        </p:txBody>
      </p:sp>
      <p:pic>
        <p:nvPicPr>
          <p:cNvPr id="2" name="图片 1" descr="progress.png">
            <a:extLst>
              <a:ext uri="{FF2B5EF4-FFF2-40B4-BE49-F238E27FC236}">
                <a16:creationId xmlns:a16="http://schemas.microsoft.com/office/drawing/2014/main" id="{38974B7C-B944-DAB4-A029-B722414DA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8" y="1047023"/>
            <a:ext cx="9017884" cy="4467298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2D6F632E-45A8-77BB-2FFB-FF490CFE69E6}"/>
              </a:ext>
            </a:extLst>
          </p:cNvPr>
          <p:cNvSpPr/>
          <p:nvPr/>
        </p:nvSpPr>
        <p:spPr>
          <a:xfrm rot="5400000">
            <a:off x="-84986" y="1960638"/>
            <a:ext cx="486448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121740-E710-DE93-338F-4D0D8149D692}"/>
              </a:ext>
            </a:extLst>
          </p:cNvPr>
          <p:cNvSpPr/>
          <p:nvPr/>
        </p:nvSpPr>
        <p:spPr>
          <a:xfrm>
            <a:off x="63059" y="2458528"/>
            <a:ext cx="160306" cy="7763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3522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8FD72-4ED8-FFE7-65D3-8DFD3CEA2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BC57EF2-C579-B121-AE41-3A8D74D7B138}"/>
              </a:ext>
            </a:extLst>
          </p:cNvPr>
          <p:cNvSpPr txBox="1"/>
          <p:nvPr/>
        </p:nvSpPr>
        <p:spPr>
          <a:xfrm>
            <a:off x="103516" y="207836"/>
            <a:ext cx="888692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/>
              <a:t>Can LLMs Generate Novel Research Ideas? A Large-Scale Human Study with 100+ NLP Researchers</a:t>
            </a:r>
            <a:endParaRPr lang="en-US" altLang="zh-CN" sz="1600" dirty="0"/>
          </a:p>
          <a:p>
            <a:pPr marL="285750" indent="-285750">
              <a:buFontTx/>
              <a:buChar char="-"/>
            </a:pPr>
            <a:r>
              <a:rPr lang="en-US" altLang="zh-CN" dirty="0">
                <a:hlinkClick r:id="rId2"/>
              </a:rPr>
              <a:t>https://arxiv.org/abs/2409.04109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1A4FD61-D844-3646-BCED-B7D8FAE32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5746"/>
            <a:ext cx="9144000" cy="3461365"/>
          </a:xfrm>
          <a:prstGeom prst="rect">
            <a:avLst/>
          </a:prstGeom>
        </p:spPr>
      </p:pic>
      <p:sp>
        <p:nvSpPr>
          <p:cNvPr id="8" name="箭头: 右 7">
            <a:extLst>
              <a:ext uri="{FF2B5EF4-FFF2-40B4-BE49-F238E27FC236}">
                <a16:creationId xmlns:a16="http://schemas.microsoft.com/office/drawing/2014/main" id="{421EFF37-ADB8-ECD3-B68B-DA96C9EA1EEE}"/>
              </a:ext>
            </a:extLst>
          </p:cNvPr>
          <p:cNvSpPr/>
          <p:nvPr/>
        </p:nvSpPr>
        <p:spPr>
          <a:xfrm rot="5400000">
            <a:off x="3780952" y="1178961"/>
            <a:ext cx="486448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292E625-7C60-E57D-1D5A-8430C86206A8}"/>
              </a:ext>
            </a:extLst>
          </p:cNvPr>
          <p:cNvSpPr/>
          <p:nvPr/>
        </p:nvSpPr>
        <p:spPr>
          <a:xfrm>
            <a:off x="3678778" y="1655810"/>
            <a:ext cx="690797" cy="21064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22BAF8E-3C37-22FF-7556-576CE3FA9C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2133"/>
          <a:stretch>
            <a:fillRect/>
          </a:stretch>
        </p:blipFill>
        <p:spPr>
          <a:xfrm>
            <a:off x="0" y="4758882"/>
            <a:ext cx="6807655" cy="189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191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FF3F9-4D58-BABE-50C8-024DA6E5F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EDAD215-B1BA-CDF6-06FE-F1F48F8D2733}"/>
              </a:ext>
            </a:extLst>
          </p:cNvPr>
          <p:cNvSpPr txBox="1"/>
          <p:nvPr/>
        </p:nvSpPr>
        <p:spPr>
          <a:xfrm>
            <a:off x="103516" y="207836"/>
            <a:ext cx="904048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/>
              <a:t>The Ideation–Execution Gap: Execution Outcomes of LLM-Generated versus Human Research Ideas</a:t>
            </a:r>
          </a:p>
          <a:p>
            <a:pPr marL="285750" indent="-285750">
              <a:buFontTx/>
              <a:buChar char="-"/>
            </a:pPr>
            <a:r>
              <a:rPr lang="en-US" altLang="zh-CN" dirty="0">
                <a:hlinkClick r:id="rId2"/>
              </a:rPr>
              <a:t>https://arxiv.org/pdf/2506.20803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19EDF4-F192-E73A-0D3A-DA862ACF3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6" y="1411765"/>
            <a:ext cx="8194699" cy="2910970"/>
          </a:xfrm>
          <a:prstGeom prst="rect">
            <a:avLst/>
          </a:prstGeom>
        </p:spPr>
      </p:pic>
      <p:sp>
        <p:nvSpPr>
          <p:cNvPr id="8" name="箭头: 右 7">
            <a:extLst>
              <a:ext uri="{FF2B5EF4-FFF2-40B4-BE49-F238E27FC236}">
                <a16:creationId xmlns:a16="http://schemas.microsoft.com/office/drawing/2014/main" id="{647C205C-BD59-9D6E-ED89-25DA7F13BD92}"/>
              </a:ext>
            </a:extLst>
          </p:cNvPr>
          <p:cNvSpPr/>
          <p:nvPr/>
        </p:nvSpPr>
        <p:spPr>
          <a:xfrm rot="10800000">
            <a:off x="8298215" y="2178199"/>
            <a:ext cx="486448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1A03A84-060D-72EF-A8FD-9B803AB22CFA}"/>
              </a:ext>
            </a:extLst>
          </p:cNvPr>
          <p:cNvSpPr/>
          <p:nvPr/>
        </p:nvSpPr>
        <p:spPr>
          <a:xfrm>
            <a:off x="8201696" y="1995715"/>
            <a:ext cx="45719" cy="68144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704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1360</Words>
  <Application>Microsoft Office PowerPoint</Application>
  <PresentationFormat>全屏显示(4:3)</PresentationFormat>
  <Paragraphs>78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Lucida Grande</vt:lpstr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2026-03-31T22:19:29Z</dcterms:created>
  <dcterms:modified xsi:type="dcterms:W3CDTF">2026-08-30T16:57:01Z</dcterms:modified>
  <cp:category/>
</cp:coreProperties>
</file>