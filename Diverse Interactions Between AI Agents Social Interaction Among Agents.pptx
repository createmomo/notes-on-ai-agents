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14"/>
  </p:notesMasterIdLst>
  <p:sldIdLst>
    <p:sldId id="387" r:id="rId2"/>
    <p:sldId id="395" r:id="rId3"/>
    <p:sldId id="396" r:id="rId4"/>
    <p:sldId id="397" r:id="rId5"/>
    <p:sldId id="398" r:id="rId6"/>
    <p:sldId id="399" r:id="rId7"/>
    <p:sldId id="400" r:id="rId8"/>
    <p:sldId id="401" r:id="rId9"/>
    <p:sldId id="402" r:id="rId10"/>
    <p:sldId id="403" r:id="rId11"/>
    <p:sldId id="404" r:id="rId12"/>
    <p:sldId id="40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6D2D9A-EDCD-4BDA-9637-69692DB796E2}" v="30" dt="2026-07-29T21:06:19.8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77FDF6-4CAC-47B4-B661-025D4863187C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B0DD67-F2CB-4DF1-B2B4-C2B5335491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9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moltbook.com/post/6b865dc1-401a-4e62-aee5-79dd76cd7f52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F065-9462-16FC-C6D6-81631ED30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0FD5BEA-DB3C-B05D-C680-41DB80C5E7F2}"/>
              </a:ext>
            </a:extLst>
          </p:cNvPr>
          <p:cNvSpPr txBox="1"/>
          <p:nvPr/>
        </p:nvSpPr>
        <p:spPr>
          <a:xfrm>
            <a:off x="103516" y="207836"/>
            <a:ext cx="6633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Moltbook</a:t>
            </a:r>
          </a:p>
          <a:p>
            <a:pPr marL="285750" indent="-285750">
              <a:buFontTx/>
              <a:buChar char="-"/>
            </a:pPr>
            <a:r>
              <a:rPr lang="en-US" altLang="zh-CN" dirty="0"/>
              <a:t>https://www.moltbook.com/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BB9AE76-3800-B40F-6C94-6D5191946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54" y="1011612"/>
            <a:ext cx="7858664" cy="503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783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036AF-B6CC-A748-3209-FC02250A9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8893D4E-CA3A-2643-A0D1-20B35A70197F}"/>
              </a:ext>
            </a:extLst>
          </p:cNvPr>
          <p:cNvSpPr txBox="1"/>
          <p:nvPr/>
        </p:nvSpPr>
        <p:spPr>
          <a:xfrm>
            <a:off x="103516" y="207836"/>
            <a:ext cx="6633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Moltbook</a:t>
            </a:r>
          </a:p>
          <a:p>
            <a:pPr marL="285750" indent="-285750">
              <a:buFontTx/>
              <a:buChar char="-"/>
            </a:pPr>
            <a:r>
              <a:rPr lang="en-US" altLang="zh-CN" dirty="0"/>
              <a:t>https://www.moltbook.com/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618E604-6430-E41C-A91D-3472219A2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54" y="1011612"/>
            <a:ext cx="7858664" cy="503760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151C3DD-2C6F-E4DD-E623-F47001F84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511" y="2196636"/>
            <a:ext cx="4257143" cy="21714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箭头: 右 6">
            <a:extLst>
              <a:ext uri="{FF2B5EF4-FFF2-40B4-BE49-F238E27FC236}">
                <a16:creationId xmlns:a16="http://schemas.microsoft.com/office/drawing/2014/main" id="{7AB8867B-DBBC-6CA1-1362-888B343EF803}"/>
              </a:ext>
            </a:extLst>
          </p:cNvPr>
          <p:cNvSpPr/>
          <p:nvPr/>
        </p:nvSpPr>
        <p:spPr>
          <a:xfrm rot="3897830">
            <a:off x="2324815" y="2153149"/>
            <a:ext cx="453027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3343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AD422-8096-F3D5-3639-506076725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455342E-7944-EED0-C67F-5CF4447F5B1B}"/>
              </a:ext>
            </a:extLst>
          </p:cNvPr>
          <p:cNvSpPr txBox="1"/>
          <p:nvPr/>
        </p:nvSpPr>
        <p:spPr>
          <a:xfrm>
            <a:off x="103516" y="207836"/>
            <a:ext cx="82813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Moltbook</a:t>
            </a:r>
          </a:p>
          <a:p>
            <a:pPr marL="285750" indent="-285750">
              <a:buFontTx/>
              <a:buChar char="-"/>
            </a:pPr>
            <a:r>
              <a:rPr lang="en-US" altLang="zh-CN" dirty="0">
                <a:hlinkClick r:id="rId2"/>
              </a:rPr>
              <a:t>https://www.moltbook.com/post/6b865dc1-401a-4e62-aee5-79dd76cd7f52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0CB7D88-6358-6AF3-02D3-AF59CC8C8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73" y="985022"/>
            <a:ext cx="6633713" cy="5329513"/>
          </a:xfrm>
          <a:prstGeom prst="rect">
            <a:avLst/>
          </a:prstGeom>
        </p:spPr>
      </p:pic>
      <p:sp>
        <p:nvSpPr>
          <p:cNvPr id="9" name="箭头: 右 8">
            <a:extLst>
              <a:ext uri="{FF2B5EF4-FFF2-40B4-BE49-F238E27FC236}">
                <a16:creationId xmlns:a16="http://schemas.microsoft.com/office/drawing/2014/main" id="{6439B0DF-C291-F916-079D-A17723CDF8CE}"/>
              </a:ext>
            </a:extLst>
          </p:cNvPr>
          <p:cNvSpPr/>
          <p:nvPr/>
        </p:nvSpPr>
        <p:spPr>
          <a:xfrm rot="10800000">
            <a:off x="6879562" y="2679360"/>
            <a:ext cx="453027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D43C88-3979-5F73-490D-647960A2CEB9}"/>
              </a:ext>
            </a:extLst>
          </p:cNvPr>
          <p:cNvSpPr/>
          <p:nvPr/>
        </p:nvSpPr>
        <p:spPr>
          <a:xfrm>
            <a:off x="526211" y="2458528"/>
            <a:ext cx="6278075" cy="7763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3349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29B58-8089-3A20-6B17-0F9F29E32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68454D5-3B45-2195-E844-D2B5BEF88818}"/>
              </a:ext>
            </a:extLst>
          </p:cNvPr>
          <p:cNvSpPr txBox="1"/>
          <p:nvPr/>
        </p:nvSpPr>
        <p:spPr>
          <a:xfrm>
            <a:off x="103516" y="207836"/>
            <a:ext cx="8807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Behind Moltbook</a:t>
            </a:r>
            <a:r>
              <a:rPr lang="en-US" altLang="zh-CN" b="1" dirty="0"/>
              <a:t>: </a:t>
            </a:r>
            <a:r>
              <a:rPr lang="zh-CN" altLang="zh-CN" b="1" dirty="0"/>
              <a:t>Autonomous Posting or Human Instruction?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en-US" altLang="zh-CN" sz="1400" dirty="0"/>
              <a:t>The Moltbook Illusion: Separating Human Influence from Emergent Behavior in AI Agent Societies (2026)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36FCA90-72D4-94D4-C0C9-CF4F8DFD63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157"/>
          <a:stretch>
            <a:fillRect/>
          </a:stretch>
        </p:blipFill>
        <p:spPr>
          <a:xfrm>
            <a:off x="215270" y="1061049"/>
            <a:ext cx="8462904" cy="148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769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0CE7F-A2C2-F3BA-4E0E-6F31BF077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146C808-B183-6584-BB36-1759585BBC5D}"/>
              </a:ext>
            </a:extLst>
          </p:cNvPr>
          <p:cNvSpPr txBox="1"/>
          <p:nvPr/>
        </p:nvSpPr>
        <p:spPr>
          <a:xfrm>
            <a:off x="103516" y="207836"/>
            <a:ext cx="8807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Behind Moltbook</a:t>
            </a:r>
            <a:r>
              <a:rPr lang="en-US" altLang="zh-CN" b="1" dirty="0"/>
              <a:t>: </a:t>
            </a:r>
            <a:r>
              <a:rPr lang="zh-CN" altLang="zh-CN" b="1" dirty="0"/>
              <a:t>Autonomous Posting or Human Instruction?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en-US" altLang="zh-CN" sz="1400" dirty="0"/>
              <a:t>The Moltbook Illusion: Separating Human Influence from Emergent Behavior in AI Agent Societies (2026)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213BB64-D1AC-A45F-FB25-A1C3A70BE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70" y="1061049"/>
            <a:ext cx="8462904" cy="323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59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BBDCB-012D-C827-FA56-F7AD0C75D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6C962E5-9AE0-1B10-5A56-EEDBDDBE7C02}"/>
              </a:ext>
            </a:extLst>
          </p:cNvPr>
          <p:cNvSpPr txBox="1"/>
          <p:nvPr/>
        </p:nvSpPr>
        <p:spPr>
          <a:xfrm>
            <a:off x="103516" y="207836"/>
            <a:ext cx="8807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Behind Moltbook</a:t>
            </a:r>
            <a:r>
              <a:rPr lang="en-US" altLang="zh-CN" b="1" dirty="0"/>
              <a:t>: </a:t>
            </a:r>
            <a:r>
              <a:rPr lang="zh-CN" altLang="zh-CN" b="1" dirty="0"/>
              <a:t>Autonomous Posting or Human Instruction?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en-US" altLang="zh-CN" sz="1400" dirty="0"/>
              <a:t>The Moltbook Illusion: Separating Human Influence from Emergent Behavior in AI Agent Societies (2026)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1FB2DC6-B3FD-1D39-34FD-12859EC9E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298" y="1215633"/>
            <a:ext cx="6271404" cy="4602644"/>
          </a:xfrm>
          <a:prstGeom prst="rect">
            <a:avLst/>
          </a:prstGeom>
        </p:spPr>
      </p:pic>
      <p:sp>
        <p:nvSpPr>
          <p:cNvPr id="7" name="箭头: 右 6">
            <a:extLst>
              <a:ext uri="{FF2B5EF4-FFF2-40B4-BE49-F238E27FC236}">
                <a16:creationId xmlns:a16="http://schemas.microsoft.com/office/drawing/2014/main" id="{9AA4D7E8-1E9C-3B91-2A31-64ADF1D8756D}"/>
              </a:ext>
            </a:extLst>
          </p:cNvPr>
          <p:cNvSpPr/>
          <p:nvPr/>
        </p:nvSpPr>
        <p:spPr>
          <a:xfrm rot="10800000">
            <a:off x="7707702" y="1931297"/>
            <a:ext cx="453027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D5C814-F88D-2D07-6440-764D097BB249}"/>
              </a:ext>
            </a:extLst>
          </p:cNvPr>
          <p:cNvSpPr/>
          <p:nvPr/>
        </p:nvSpPr>
        <p:spPr>
          <a:xfrm>
            <a:off x="4185903" y="1923690"/>
            <a:ext cx="3396716" cy="40630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990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7E068-1901-F893-56CE-A2403A9AC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EC3AB0A-F5F8-C421-D60F-24A72F513D78}"/>
              </a:ext>
            </a:extLst>
          </p:cNvPr>
          <p:cNvSpPr txBox="1"/>
          <p:nvPr/>
        </p:nvSpPr>
        <p:spPr>
          <a:xfrm>
            <a:off x="103516" y="207836"/>
            <a:ext cx="8807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Behind Moltbook</a:t>
            </a:r>
            <a:r>
              <a:rPr lang="en-US" altLang="zh-CN" b="1" dirty="0"/>
              <a:t>: </a:t>
            </a:r>
            <a:r>
              <a:rPr lang="zh-CN" altLang="zh-CN" b="1" dirty="0"/>
              <a:t>Patterns of Agent-to-Agent Conversation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en-US" altLang="zh-CN" sz="1400" dirty="0"/>
              <a:t>Agents in the Wild: Safety, Society, and the Illusion of Sociality on Moltbook (2026)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F34DB3C-CC43-EC1A-C131-70F92E1804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717"/>
          <a:stretch>
            <a:fillRect/>
          </a:stretch>
        </p:blipFill>
        <p:spPr>
          <a:xfrm>
            <a:off x="715992" y="1082251"/>
            <a:ext cx="3392422" cy="1902489"/>
          </a:xfrm>
          <a:prstGeom prst="rect">
            <a:avLst/>
          </a:prstGeom>
        </p:spPr>
      </p:pic>
      <p:sp>
        <p:nvSpPr>
          <p:cNvPr id="8" name="箭头: 右 7">
            <a:extLst>
              <a:ext uri="{FF2B5EF4-FFF2-40B4-BE49-F238E27FC236}">
                <a16:creationId xmlns:a16="http://schemas.microsoft.com/office/drawing/2014/main" id="{0E256F69-D0DB-3B08-5E19-CAF003CA8123}"/>
              </a:ext>
            </a:extLst>
          </p:cNvPr>
          <p:cNvSpPr/>
          <p:nvPr/>
        </p:nvSpPr>
        <p:spPr>
          <a:xfrm rot="10800000">
            <a:off x="1867619" y="1465471"/>
            <a:ext cx="453027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E0FD4F2-E027-44FA-BAD5-8C23F36D6956}"/>
              </a:ext>
            </a:extLst>
          </p:cNvPr>
          <p:cNvSpPr/>
          <p:nvPr/>
        </p:nvSpPr>
        <p:spPr>
          <a:xfrm>
            <a:off x="1339186" y="1397479"/>
            <a:ext cx="446482" cy="14664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034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4415B-61BD-8309-DD6B-5636557D4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DE43FDA-F010-6C87-F088-5800B924A0D2}"/>
              </a:ext>
            </a:extLst>
          </p:cNvPr>
          <p:cNvSpPr txBox="1"/>
          <p:nvPr/>
        </p:nvSpPr>
        <p:spPr>
          <a:xfrm>
            <a:off x="103516" y="207836"/>
            <a:ext cx="8807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Behind Moltbook</a:t>
            </a:r>
            <a:r>
              <a:rPr lang="en-US" altLang="zh-CN" b="1" dirty="0"/>
              <a:t>: </a:t>
            </a:r>
            <a:r>
              <a:rPr lang="zh-CN" altLang="zh-CN" b="1" dirty="0"/>
              <a:t>Patterns of Agent-to-Agent Conversation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en-US" altLang="zh-CN" sz="1400" dirty="0"/>
              <a:t>Agents in the Wild: Safety, Society, and the Illusion of Sociality on Moltbook (2026)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0EB498E-37B0-83DF-DAFD-F9C2EC2EF9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717"/>
          <a:stretch>
            <a:fillRect/>
          </a:stretch>
        </p:blipFill>
        <p:spPr>
          <a:xfrm>
            <a:off x="715992" y="1082251"/>
            <a:ext cx="3392422" cy="1902489"/>
          </a:xfrm>
          <a:prstGeom prst="rect">
            <a:avLst/>
          </a:prstGeom>
        </p:spPr>
      </p:pic>
      <p:sp>
        <p:nvSpPr>
          <p:cNvPr id="8" name="箭头: 右 7">
            <a:extLst>
              <a:ext uri="{FF2B5EF4-FFF2-40B4-BE49-F238E27FC236}">
                <a16:creationId xmlns:a16="http://schemas.microsoft.com/office/drawing/2014/main" id="{642B1FCF-15C7-3718-0178-27A89F42189F}"/>
              </a:ext>
            </a:extLst>
          </p:cNvPr>
          <p:cNvSpPr/>
          <p:nvPr/>
        </p:nvSpPr>
        <p:spPr>
          <a:xfrm rot="10800000">
            <a:off x="4118973" y="2344410"/>
            <a:ext cx="453027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67145A-1A38-DA98-CDB3-AA204D1C1CD2}"/>
              </a:ext>
            </a:extLst>
          </p:cNvPr>
          <p:cNvSpPr/>
          <p:nvPr/>
        </p:nvSpPr>
        <p:spPr>
          <a:xfrm>
            <a:off x="1785668" y="2167204"/>
            <a:ext cx="2199736" cy="6708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881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4D3F9-1C73-0376-B6E1-07ADDC272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636AF6D-AFD6-F225-D326-8E9F98318D3D}"/>
              </a:ext>
            </a:extLst>
          </p:cNvPr>
          <p:cNvSpPr txBox="1"/>
          <p:nvPr/>
        </p:nvSpPr>
        <p:spPr>
          <a:xfrm>
            <a:off x="103516" y="207836"/>
            <a:ext cx="8807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Behind Moltbook</a:t>
            </a:r>
            <a:r>
              <a:rPr lang="en-US" altLang="zh-CN" b="1" dirty="0"/>
              <a:t>: </a:t>
            </a:r>
            <a:r>
              <a:rPr lang="zh-CN" altLang="zh-CN" b="1" dirty="0"/>
              <a:t>Patterns of Agent-to-Agent Conversation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en-US" altLang="zh-CN" sz="1400" dirty="0"/>
              <a:t>Agents in the Wild: Safety, Society, and the Illusion of Sociality on Moltbook (2026)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CD46E58-D297-3C4C-1F5E-A8D16DDEAB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3055"/>
          <a:stretch>
            <a:fillRect/>
          </a:stretch>
        </p:blipFill>
        <p:spPr>
          <a:xfrm>
            <a:off x="715992" y="1082252"/>
            <a:ext cx="3392422" cy="188523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6ABD576-C718-B21B-941F-6DD61F81EE26}"/>
              </a:ext>
            </a:extLst>
          </p:cNvPr>
          <p:cNvSpPr txBox="1"/>
          <p:nvPr/>
        </p:nvSpPr>
        <p:spPr>
          <a:xfrm>
            <a:off x="4183811" y="1076388"/>
            <a:ext cx="4572000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marR="0" indent="0"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zh-CN" altLang="zh-CN" i="0" dirty="0">
                <a:solidFill>
                  <a:srgbClr val="000000"/>
                </a:solidFill>
                <a:effectLst/>
                <a:latin typeface="Lucida Grande"/>
              </a:rPr>
              <a:t>The Rise of AI Agent Communities: Large-Scale Analysis of Discourse and Interaction on Moltbook</a:t>
            </a:r>
            <a:r>
              <a:rPr lang="en-US" altLang="zh-CN" dirty="0">
                <a:solidFill>
                  <a:srgbClr val="000000"/>
                </a:solidFill>
                <a:latin typeface="Lucida Grande"/>
              </a:rPr>
              <a:t> (2026)</a:t>
            </a:r>
            <a:endParaRPr lang="zh-CN" altLang="zh-CN" i="0" dirty="0">
              <a:solidFill>
                <a:srgbClr val="000000"/>
              </a:solidFill>
              <a:effectLst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2261915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AE138-3063-EB20-827D-D708EA5B0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045FAFA-8E90-53CE-63B6-29523CC6A00A}"/>
              </a:ext>
            </a:extLst>
          </p:cNvPr>
          <p:cNvSpPr txBox="1"/>
          <p:nvPr/>
        </p:nvSpPr>
        <p:spPr>
          <a:xfrm>
            <a:off x="103516" y="207836"/>
            <a:ext cx="8807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Behind Moltbook</a:t>
            </a:r>
            <a:r>
              <a:rPr lang="en-US" altLang="zh-CN" b="1" dirty="0"/>
              <a:t>: </a:t>
            </a:r>
            <a:r>
              <a:rPr lang="zh-CN" altLang="zh-CN" b="1" dirty="0"/>
              <a:t>The Most Self-Aware Agents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en-US" altLang="zh-CN" sz="1400" dirty="0"/>
              <a:t>Agents in the Wild: Safety, Society, and the Illusion of Sociality on Moltbook (2026)</a:t>
            </a:r>
          </a:p>
        </p:txBody>
      </p:sp>
    </p:spTree>
    <p:extLst>
      <p:ext uri="{BB962C8B-B14F-4D97-AF65-F5344CB8AC3E}">
        <p14:creationId xmlns:p14="http://schemas.microsoft.com/office/powerpoint/2010/main" val="2507648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B8902-97CA-EB81-8798-AB698D110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3A320D2-993C-9EE0-39CA-2E45FD92B220}"/>
              </a:ext>
            </a:extLst>
          </p:cNvPr>
          <p:cNvSpPr txBox="1"/>
          <p:nvPr/>
        </p:nvSpPr>
        <p:spPr>
          <a:xfrm>
            <a:off x="103516" y="207836"/>
            <a:ext cx="8807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Behind Moltbook</a:t>
            </a:r>
            <a:r>
              <a:rPr lang="en-US" altLang="zh-CN" b="1" dirty="0"/>
              <a:t>: </a:t>
            </a:r>
            <a:r>
              <a:rPr lang="zh-CN" altLang="zh-CN" b="1" dirty="0"/>
              <a:t>The Most Self-Aware Agents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en-US" altLang="zh-CN" sz="1400" dirty="0"/>
              <a:t>Agents in the Wild: Safety, Society, and the Illusion of Sociality on Moltbook (2026)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42C903-5693-68CE-9CF0-AF5D94252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92" y="1082251"/>
            <a:ext cx="3392422" cy="5102887"/>
          </a:xfrm>
          <a:prstGeom prst="rect">
            <a:avLst/>
          </a:prstGeom>
        </p:spPr>
      </p:pic>
      <p:sp>
        <p:nvSpPr>
          <p:cNvPr id="7" name="箭头: 右 6">
            <a:extLst>
              <a:ext uri="{FF2B5EF4-FFF2-40B4-BE49-F238E27FC236}">
                <a16:creationId xmlns:a16="http://schemas.microsoft.com/office/drawing/2014/main" id="{7FF62800-6FD8-3716-DA13-971485A01AFE}"/>
              </a:ext>
            </a:extLst>
          </p:cNvPr>
          <p:cNvSpPr/>
          <p:nvPr/>
        </p:nvSpPr>
        <p:spPr>
          <a:xfrm rot="13861977">
            <a:off x="2769078" y="3751083"/>
            <a:ext cx="453027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08795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27212-F42D-9BCF-2458-4C6864327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25595AC-0132-130E-C432-F3CCEC0C2EF4}"/>
              </a:ext>
            </a:extLst>
          </p:cNvPr>
          <p:cNvSpPr txBox="1"/>
          <p:nvPr/>
        </p:nvSpPr>
        <p:spPr>
          <a:xfrm>
            <a:off x="103516" y="207836"/>
            <a:ext cx="8807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Behind Moltbook</a:t>
            </a:r>
            <a:r>
              <a:rPr lang="en-US" altLang="zh-CN" b="1" dirty="0"/>
              <a:t>: </a:t>
            </a:r>
            <a:r>
              <a:rPr lang="zh-CN" altLang="zh-CN" b="1" dirty="0"/>
              <a:t>The Most Self-Aware Agents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en-US" altLang="zh-CN" sz="1400" dirty="0"/>
              <a:t>Agents in the Wild: Safety, Society, and the Illusion of Sociality on Moltbook (2026)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4146B4C-1441-34DA-5954-293CC482C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92" y="1082251"/>
            <a:ext cx="3392422" cy="5102887"/>
          </a:xfrm>
          <a:prstGeom prst="rect">
            <a:avLst/>
          </a:prstGeom>
        </p:spPr>
      </p:pic>
      <p:sp>
        <p:nvSpPr>
          <p:cNvPr id="7" name="箭头: 右 6">
            <a:extLst>
              <a:ext uri="{FF2B5EF4-FFF2-40B4-BE49-F238E27FC236}">
                <a16:creationId xmlns:a16="http://schemas.microsoft.com/office/drawing/2014/main" id="{188F7313-43D3-BBC6-AF56-3D56D803F1CA}"/>
              </a:ext>
            </a:extLst>
          </p:cNvPr>
          <p:cNvSpPr/>
          <p:nvPr/>
        </p:nvSpPr>
        <p:spPr>
          <a:xfrm rot="13861977">
            <a:off x="3424686" y="4052439"/>
            <a:ext cx="453027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45099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</Words>
  <Application>Microsoft Office PowerPoint</Application>
  <PresentationFormat>全屏显示(4:3)</PresentationFormat>
  <Paragraphs>25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Lucida Grande</vt:lpstr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2026-03-31T22:19:29Z</dcterms:created>
  <dcterms:modified xsi:type="dcterms:W3CDTF">2026-07-29T21:06:30Z</dcterms:modified>
  <cp:category/>
</cp:coreProperties>
</file>