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303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6" r:id="rId41"/>
    <p:sldId id="297" r:id="rId42"/>
    <p:sldId id="298" r:id="rId43"/>
    <p:sldId id="299" r:id="rId44"/>
    <p:sldId id="300" r:id="rId45"/>
    <p:sldId id="301" r:id="rId46"/>
    <p:sldId id="302" r:id="rId4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FA643CF-4016-414B-961D-0BFB239D47FF}" v="193" dt="2026-03-31T22:19:29.8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48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357308" y="2438400"/>
            <a:ext cx="2468880" cy="2011680"/>
          </a:xfrm>
          <a:prstGeom prst="roundRect">
            <a:avLst/>
          </a:prstGeom>
          <a:noFill/>
          <a:ln w="57150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r>
              <a:rPr lang="de-AT" b="0" noProof="0" dirty="0">
                <a:latin typeface="Calibri"/>
              </a:rPr>
              <a:t>WhatsApp</a:t>
            </a:r>
          </a:p>
          <a:p>
            <a:pPr algn="ctr"/>
            <a:r>
              <a:rPr lang="de-AT" b="0" noProof="0" dirty="0">
                <a:latin typeface="Calibri"/>
              </a:rPr>
              <a:t>Telegram</a:t>
            </a:r>
          </a:p>
          <a:p>
            <a:pPr algn="ctr"/>
            <a:r>
              <a:rPr lang="de-AT" b="0" noProof="0" dirty="0">
                <a:latin typeface="Calibri"/>
              </a:rPr>
              <a:t>Discord</a:t>
            </a:r>
          </a:p>
          <a:p>
            <a:pPr algn="ctr"/>
            <a:r>
              <a:rPr lang="de-AT" noProof="0" dirty="0">
                <a:latin typeface="Calibri"/>
              </a:rPr>
              <a:t>WeChat</a:t>
            </a:r>
          </a:p>
          <a:p>
            <a:pPr algn="ctr"/>
            <a:r>
              <a:rPr lang="de-AT" b="0" noProof="0" dirty="0">
                <a:latin typeface="Calibri"/>
              </a:rPr>
              <a:t>QQ</a:t>
            </a:r>
          </a:p>
          <a:p>
            <a:pPr algn="ctr"/>
            <a:r>
              <a:rPr lang="de-AT" b="0" noProof="0" dirty="0">
                <a:latin typeface="Calibri"/>
              </a:rPr>
              <a:t>Web UI</a:t>
            </a:r>
          </a:p>
          <a:p>
            <a:pPr algn="ctr"/>
            <a:r>
              <a:rPr lang="de-AT" noProof="0" dirty="0">
                <a:latin typeface="Calibri"/>
              </a:rPr>
              <a:t>…</a:t>
            </a:r>
            <a:endParaRPr lang="de-AT" b="0" noProof="0" dirty="0">
              <a:latin typeface="Calibri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283388" y="2438400"/>
            <a:ext cx="2468880" cy="2011680"/>
          </a:xfrm>
          <a:prstGeom prst="roundRect">
            <a:avLst/>
          </a:prstGeom>
          <a:noFill/>
          <a:ln w="57150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r>
              <a:rPr lang="de-AT" b="0" noProof="0" dirty="0">
                <a:latin typeface="Calibri"/>
              </a:rPr>
              <a:t>Memory System</a:t>
            </a:r>
          </a:p>
          <a:p>
            <a:pPr algn="ctr"/>
            <a:r>
              <a:rPr lang="de-AT" b="0" noProof="0" dirty="0">
                <a:latin typeface="Calibri"/>
              </a:rPr>
              <a:t>Task Management</a:t>
            </a:r>
          </a:p>
          <a:p>
            <a:pPr algn="ctr"/>
            <a:r>
              <a:rPr lang="de-AT" b="0" noProof="0" dirty="0" err="1">
                <a:latin typeface="Calibri"/>
              </a:rPr>
              <a:t>Local</a:t>
            </a:r>
            <a:r>
              <a:rPr lang="de-AT" b="0" noProof="0" dirty="0">
                <a:latin typeface="Calibri"/>
              </a:rPr>
              <a:t> </a:t>
            </a:r>
            <a:r>
              <a:rPr lang="de-AT" b="0" noProof="0" dirty="0" err="1">
                <a:latin typeface="Calibri"/>
              </a:rPr>
              <a:t>Execution</a:t>
            </a:r>
            <a:endParaRPr lang="de-AT" b="0" noProof="0" dirty="0">
              <a:latin typeface="Calibri"/>
            </a:endParaRPr>
          </a:p>
          <a:p>
            <a:pPr algn="ctr"/>
            <a:r>
              <a:rPr lang="de-AT" noProof="0" dirty="0">
                <a:latin typeface="Calibri"/>
              </a:rPr>
              <a:t>…</a:t>
            </a:r>
            <a:endParaRPr lang="de-AT" b="0" noProof="0" dirty="0">
              <a:latin typeface="Calibri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209468" y="2438400"/>
            <a:ext cx="2468880" cy="2011680"/>
          </a:xfrm>
          <a:prstGeom prst="roundRect">
            <a:avLst/>
          </a:prstGeom>
          <a:noFill/>
          <a:ln w="57150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r>
              <a:rPr lang="de-AT" b="0" noProof="0" dirty="0">
                <a:latin typeface="Calibri"/>
              </a:rPr>
              <a:t>Claude</a:t>
            </a:r>
          </a:p>
          <a:p>
            <a:pPr algn="ctr"/>
            <a:r>
              <a:rPr lang="de-AT" b="0" noProof="0" dirty="0">
                <a:latin typeface="Calibri"/>
              </a:rPr>
              <a:t>GPT</a:t>
            </a:r>
          </a:p>
          <a:p>
            <a:pPr algn="ctr"/>
            <a:r>
              <a:rPr lang="de-AT" b="0" noProof="0" dirty="0">
                <a:latin typeface="Calibri"/>
              </a:rPr>
              <a:t>Gemini</a:t>
            </a:r>
          </a:p>
          <a:p>
            <a:pPr algn="ctr"/>
            <a:r>
              <a:rPr lang="de-AT" noProof="0" dirty="0">
                <a:latin typeface="Calibri"/>
              </a:rPr>
              <a:t>…</a:t>
            </a:r>
            <a:endParaRPr lang="de-AT" b="0" noProof="0" dirty="0">
              <a:latin typeface="Calibri"/>
            </a:endParaRPr>
          </a:p>
        </p:txBody>
      </p:sp>
      <p:pic>
        <p:nvPicPr>
          <p:cNvPr id="1026" name="Picture 2" descr="Man ">
            <a:extLst>
              <a:ext uri="{FF2B5EF4-FFF2-40B4-BE49-F238E27FC236}">
                <a16:creationId xmlns:a16="http://schemas.microsoft.com/office/drawing/2014/main" id="{78A9AAF2-0356-5101-5F99-4FC349F119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156" y="1077685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Big data ">
            <a:extLst>
              <a:ext uri="{FF2B5EF4-FFF2-40B4-BE49-F238E27FC236}">
                <a16:creationId xmlns:a16="http://schemas.microsoft.com/office/drawing/2014/main" id="{7C80B7C0-C8F1-3BA1-9B5F-0DA927BEA6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4308" y="1077685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EEA2BDD0-5155-F68C-18BD-03585BB87945}"/>
              </a:ext>
            </a:extLst>
          </p:cNvPr>
          <p:cNvSpPr txBox="1"/>
          <p:nvPr/>
        </p:nvSpPr>
        <p:spPr>
          <a:xfrm>
            <a:off x="3944594" y="1977890"/>
            <a:ext cx="1146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noProof="0" dirty="0">
                <a:latin typeface="Calibri"/>
              </a:rPr>
              <a:t>OpenClaw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B6451F0-40CE-B265-514F-E700DF79385C}"/>
              </a:ext>
            </a:extLst>
          </p:cNvPr>
          <p:cNvSpPr txBox="1"/>
          <p:nvPr/>
        </p:nvSpPr>
        <p:spPr>
          <a:xfrm>
            <a:off x="3157199" y="4627601"/>
            <a:ext cx="2721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noProof="0" dirty="0"/>
              <a:t>Runs </a:t>
            </a:r>
            <a:r>
              <a:rPr lang="de-AT" noProof="0" dirty="0" err="1"/>
              <a:t>locally</a:t>
            </a:r>
            <a:r>
              <a:rPr lang="de-AT" noProof="0" dirty="0"/>
              <a:t> on </a:t>
            </a:r>
            <a:r>
              <a:rPr lang="de-AT" noProof="0" dirty="0" err="1"/>
              <a:t>your</a:t>
            </a:r>
            <a:r>
              <a:rPr lang="de-AT" noProof="0" dirty="0"/>
              <a:t> </a:t>
            </a:r>
            <a:r>
              <a:rPr lang="de-AT" noProof="0" dirty="0" err="1"/>
              <a:t>device</a:t>
            </a:r>
            <a:endParaRPr lang="de-AT" noProof="0" dirty="0">
              <a:latin typeface="Calibri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AC55B2C-5027-84A1-ACF0-BCEF79CCDCE0}"/>
              </a:ext>
            </a:extLst>
          </p:cNvPr>
          <p:cNvSpPr txBox="1"/>
          <p:nvPr/>
        </p:nvSpPr>
        <p:spPr>
          <a:xfrm>
            <a:off x="6150349" y="4627601"/>
            <a:ext cx="25871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noProof="0" dirty="0"/>
              <a:t>Cloud / </a:t>
            </a:r>
            <a:r>
              <a:rPr lang="de-AT" noProof="0" dirty="0" err="1"/>
              <a:t>Local</a:t>
            </a:r>
            <a:r>
              <a:rPr lang="de-AT" noProof="0" dirty="0"/>
              <a:t> </a:t>
            </a:r>
            <a:r>
              <a:rPr lang="de-AT" noProof="0" dirty="0" err="1"/>
              <a:t>deployment</a:t>
            </a:r>
            <a:endParaRPr lang="de-AT" noProof="0" dirty="0">
              <a:latin typeface="Calibri"/>
            </a:endParaRPr>
          </a:p>
        </p:txBody>
      </p: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49D91FA4-B863-5994-7C86-58B442C4CF22}"/>
              </a:ext>
            </a:extLst>
          </p:cNvPr>
          <p:cNvCxnSpPr/>
          <p:nvPr/>
        </p:nvCxnSpPr>
        <p:spPr>
          <a:xfrm>
            <a:off x="2826188" y="3074276"/>
            <a:ext cx="4572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06B92CDA-B913-A4CA-E764-B790920B97E6}"/>
              </a:ext>
            </a:extLst>
          </p:cNvPr>
          <p:cNvCxnSpPr/>
          <p:nvPr/>
        </p:nvCxnSpPr>
        <p:spPr>
          <a:xfrm>
            <a:off x="5752268" y="3053255"/>
            <a:ext cx="4572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D2D0B60E-4137-FFFA-9AFE-D9635ABD9BBD}"/>
              </a:ext>
            </a:extLst>
          </p:cNvPr>
          <p:cNvCxnSpPr>
            <a:cxnSpLocks/>
            <a:stCxn id="5" idx="1"/>
            <a:endCxn id="4" idx="3"/>
          </p:cNvCxnSpPr>
          <p:nvPr/>
        </p:nvCxnSpPr>
        <p:spPr>
          <a:xfrm flipH="1">
            <a:off x="5752268" y="3444240"/>
            <a:ext cx="4572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2C1E9364-2ACC-ECEE-24AB-1C747576FF8D}"/>
              </a:ext>
            </a:extLst>
          </p:cNvPr>
          <p:cNvCxnSpPr>
            <a:cxnSpLocks/>
          </p:cNvCxnSpPr>
          <p:nvPr/>
        </p:nvCxnSpPr>
        <p:spPr>
          <a:xfrm flipH="1">
            <a:off x="2826188" y="3360157"/>
            <a:ext cx="4572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15BC8F-DDF5-53AD-474B-46BED2D1FE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536DDCCD-5D37-2D5B-1DDB-0BD528D63EB1}"/>
              </a:ext>
            </a:extLst>
          </p:cNvPr>
          <p:cNvSpPr/>
          <p:nvPr/>
        </p:nvSpPr>
        <p:spPr>
          <a:xfrm>
            <a:off x="357308" y="2438400"/>
            <a:ext cx="1447844" cy="2011680"/>
          </a:xfrm>
          <a:prstGeom prst="roundRect">
            <a:avLst/>
          </a:prstGeom>
          <a:noFill/>
          <a:ln w="57150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r>
              <a:rPr lang="de-AT" b="0" noProof="0" dirty="0">
                <a:latin typeface="Calibri"/>
              </a:rPr>
              <a:t>WhatsApp</a:t>
            </a:r>
          </a:p>
          <a:p>
            <a:pPr algn="ctr"/>
            <a:r>
              <a:rPr lang="de-AT" b="0" noProof="0" dirty="0">
                <a:latin typeface="Calibri"/>
              </a:rPr>
              <a:t>Telegram</a:t>
            </a:r>
          </a:p>
          <a:p>
            <a:pPr algn="ctr"/>
            <a:r>
              <a:rPr lang="de-AT" b="0" noProof="0" dirty="0">
                <a:latin typeface="Calibri"/>
              </a:rPr>
              <a:t>Discord</a:t>
            </a:r>
          </a:p>
          <a:p>
            <a:pPr algn="ctr"/>
            <a:r>
              <a:rPr lang="de-AT" noProof="0" dirty="0">
                <a:latin typeface="Calibri"/>
              </a:rPr>
              <a:t>WeChat</a:t>
            </a:r>
          </a:p>
          <a:p>
            <a:pPr algn="ctr"/>
            <a:r>
              <a:rPr lang="de-AT" b="0" noProof="0" dirty="0">
                <a:latin typeface="Calibri"/>
              </a:rPr>
              <a:t>QQ</a:t>
            </a:r>
          </a:p>
          <a:p>
            <a:pPr algn="ctr"/>
            <a:r>
              <a:rPr lang="de-AT" b="0" noProof="0" dirty="0">
                <a:latin typeface="Calibri"/>
              </a:rPr>
              <a:t>Web UI</a:t>
            </a:r>
          </a:p>
          <a:p>
            <a:pPr algn="ctr"/>
            <a:r>
              <a:rPr lang="de-AT" noProof="0" dirty="0">
                <a:latin typeface="Calibri"/>
              </a:rPr>
              <a:t>…</a:t>
            </a:r>
            <a:endParaRPr lang="de-AT" b="0" noProof="0" dirty="0">
              <a:latin typeface="Calibri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157B2DD0-AF59-F450-1C9B-F0AB6EC0EAE8}"/>
              </a:ext>
            </a:extLst>
          </p:cNvPr>
          <p:cNvSpPr/>
          <p:nvPr/>
        </p:nvSpPr>
        <p:spPr>
          <a:xfrm>
            <a:off x="2422154" y="2815459"/>
            <a:ext cx="1288612" cy="544698"/>
          </a:xfrm>
          <a:prstGeom prst="roundRect">
            <a:avLst/>
          </a:prstGeom>
          <a:noFill/>
          <a:ln w="57150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r>
              <a:rPr lang="de-AT" noProof="0" dirty="0"/>
              <a:t>OpenClaw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CCAC4F84-2AF7-238A-7D55-096DCD32CC5D}"/>
              </a:ext>
            </a:extLst>
          </p:cNvPr>
          <p:cNvSpPr/>
          <p:nvPr/>
        </p:nvSpPr>
        <p:spPr>
          <a:xfrm>
            <a:off x="7748752" y="2438400"/>
            <a:ext cx="1037940" cy="2011680"/>
          </a:xfrm>
          <a:prstGeom prst="roundRect">
            <a:avLst/>
          </a:prstGeom>
          <a:noFill/>
          <a:ln w="57150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r>
              <a:rPr lang="de-AT" b="0" noProof="0" dirty="0">
                <a:latin typeface="Calibri"/>
              </a:rPr>
              <a:t>Claude</a:t>
            </a:r>
          </a:p>
          <a:p>
            <a:pPr algn="ctr"/>
            <a:r>
              <a:rPr lang="de-AT" b="0" noProof="0" dirty="0">
                <a:latin typeface="Calibri"/>
              </a:rPr>
              <a:t>GPT</a:t>
            </a:r>
          </a:p>
          <a:p>
            <a:pPr algn="ctr"/>
            <a:r>
              <a:rPr lang="de-AT" b="0" noProof="0" dirty="0">
                <a:latin typeface="Calibri"/>
              </a:rPr>
              <a:t>Gemini</a:t>
            </a:r>
          </a:p>
          <a:p>
            <a:pPr algn="ctr"/>
            <a:r>
              <a:rPr lang="de-AT" noProof="0" dirty="0">
                <a:latin typeface="Calibri"/>
              </a:rPr>
              <a:t>…</a:t>
            </a:r>
            <a:endParaRPr lang="de-AT" b="0" noProof="0" dirty="0">
              <a:latin typeface="Calibri"/>
            </a:endParaRPr>
          </a:p>
        </p:txBody>
      </p:sp>
      <p:pic>
        <p:nvPicPr>
          <p:cNvPr id="1026" name="Picture 2" descr="Man ">
            <a:extLst>
              <a:ext uri="{FF2B5EF4-FFF2-40B4-BE49-F238E27FC236}">
                <a16:creationId xmlns:a16="http://schemas.microsoft.com/office/drawing/2014/main" id="{C85F1C13-04D3-C8B7-69D9-161A8E9E27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892" y="1077685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Big data ">
            <a:extLst>
              <a:ext uri="{FF2B5EF4-FFF2-40B4-BE49-F238E27FC236}">
                <a16:creationId xmlns:a16="http://schemas.microsoft.com/office/drawing/2014/main" id="{7A39B6BB-BF1F-7885-1EF9-135FA238BF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8122" y="1219200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8ED561A1-792C-AB31-39E4-C6C881017B73}"/>
              </a:ext>
            </a:extLst>
          </p:cNvPr>
          <p:cNvSpPr txBox="1"/>
          <p:nvPr/>
        </p:nvSpPr>
        <p:spPr>
          <a:xfrm>
            <a:off x="2283553" y="3370589"/>
            <a:ext cx="15658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AT" noProof="0" dirty="0"/>
              <a:t>Runs </a:t>
            </a:r>
            <a:r>
              <a:rPr lang="de-AT" noProof="0" dirty="0" err="1"/>
              <a:t>locally</a:t>
            </a:r>
            <a:r>
              <a:rPr lang="de-AT" noProof="0" dirty="0"/>
              <a:t> </a:t>
            </a:r>
          </a:p>
          <a:p>
            <a:pPr algn="ctr"/>
            <a:r>
              <a:rPr lang="de-AT" noProof="0" dirty="0"/>
              <a:t>on </a:t>
            </a:r>
            <a:r>
              <a:rPr lang="de-AT" noProof="0" dirty="0" err="1"/>
              <a:t>your</a:t>
            </a:r>
            <a:r>
              <a:rPr lang="de-AT" noProof="0" dirty="0"/>
              <a:t> </a:t>
            </a:r>
            <a:r>
              <a:rPr lang="de-AT" noProof="0" dirty="0" err="1"/>
              <a:t>device</a:t>
            </a:r>
            <a:endParaRPr lang="de-AT" noProof="0" dirty="0">
              <a:latin typeface="Calibri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7110E74-E6C2-88C3-5993-4D12CEE4ACEF}"/>
              </a:ext>
            </a:extLst>
          </p:cNvPr>
          <p:cNvSpPr txBox="1"/>
          <p:nvPr/>
        </p:nvSpPr>
        <p:spPr>
          <a:xfrm>
            <a:off x="7476297" y="4530221"/>
            <a:ext cx="14010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noProof="0" dirty="0"/>
              <a:t>Cloud / </a:t>
            </a:r>
            <a:r>
              <a:rPr lang="de-AT" noProof="0" dirty="0" err="1"/>
              <a:t>Local</a:t>
            </a:r>
            <a:endParaRPr lang="de-AT" noProof="0" dirty="0">
              <a:latin typeface="Calibri"/>
            </a:endParaRPr>
          </a:p>
        </p:txBody>
      </p: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4BFB107E-225C-1820-C9C3-898DD03EF8CD}"/>
              </a:ext>
            </a:extLst>
          </p:cNvPr>
          <p:cNvCxnSpPr>
            <a:cxnSpLocks/>
          </p:cNvCxnSpPr>
          <p:nvPr/>
        </p:nvCxnSpPr>
        <p:spPr>
          <a:xfrm flipV="1">
            <a:off x="3046905" y="4016920"/>
            <a:ext cx="0" cy="29631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5FFAFAF6-9E62-3C8B-614F-BC1C74D8116B}"/>
              </a:ext>
            </a:extLst>
          </p:cNvPr>
          <p:cNvSpPr txBox="1"/>
          <p:nvPr/>
        </p:nvSpPr>
        <p:spPr>
          <a:xfrm>
            <a:off x="2027809" y="4437888"/>
            <a:ext cx="2038192" cy="923330"/>
          </a:xfrm>
          <a:prstGeom prst="rect">
            <a:avLst/>
          </a:prstGeom>
          <a:noFill/>
          <a:ln w="2857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wrap="square">
            <a:spAutoFit/>
          </a:bodyPr>
          <a:lstStyle/>
          <a:p>
            <a:pPr algn="ctr"/>
            <a:r>
              <a:rPr lang="de-AT" noProof="0" dirty="0"/>
              <a:t>“Personal” </a:t>
            </a:r>
            <a:r>
              <a:rPr lang="de-AT" noProof="0" dirty="0" err="1"/>
              <a:t>documents</a:t>
            </a:r>
            <a:r>
              <a:rPr lang="de-AT" noProof="0" dirty="0"/>
              <a:t> and </a:t>
            </a:r>
            <a:r>
              <a:rPr lang="de-AT" noProof="0" dirty="0" err="1"/>
              <a:t>data</a:t>
            </a:r>
            <a:endParaRPr lang="de-AT" noProof="0" dirty="0"/>
          </a:p>
        </p:txBody>
      </p:sp>
    </p:spTree>
    <p:extLst>
      <p:ext uri="{BB962C8B-B14F-4D97-AF65-F5344CB8AC3E}">
        <p14:creationId xmlns:p14="http://schemas.microsoft.com/office/powerpoint/2010/main" val="549187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C14C90-9BB3-8A2B-D47A-0A64400A50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E054393D-0A75-2245-9178-FD8A1D69D8DF}"/>
              </a:ext>
            </a:extLst>
          </p:cNvPr>
          <p:cNvSpPr/>
          <p:nvPr/>
        </p:nvSpPr>
        <p:spPr>
          <a:xfrm>
            <a:off x="357308" y="2438400"/>
            <a:ext cx="1447844" cy="2011680"/>
          </a:xfrm>
          <a:prstGeom prst="roundRect">
            <a:avLst/>
          </a:prstGeom>
          <a:noFill/>
          <a:ln w="57150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r>
              <a:rPr lang="de-AT" b="0" noProof="0" dirty="0">
                <a:latin typeface="Calibri"/>
              </a:rPr>
              <a:t>WhatsApp</a:t>
            </a:r>
          </a:p>
          <a:p>
            <a:pPr algn="ctr"/>
            <a:r>
              <a:rPr lang="de-AT" b="0" noProof="0" dirty="0">
                <a:latin typeface="Calibri"/>
              </a:rPr>
              <a:t>Telegram</a:t>
            </a:r>
          </a:p>
          <a:p>
            <a:pPr algn="ctr"/>
            <a:r>
              <a:rPr lang="de-AT" b="0" noProof="0" dirty="0">
                <a:latin typeface="Calibri"/>
              </a:rPr>
              <a:t>Discord</a:t>
            </a:r>
          </a:p>
          <a:p>
            <a:pPr algn="ctr"/>
            <a:r>
              <a:rPr lang="de-AT" noProof="0" dirty="0">
                <a:latin typeface="Calibri"/>
              </a:rPr>
              <a:t>WeChat</a:t>
            </a:r>
          </a:p>
          <a:p>
            <a:pPr algn="ctr"/>
            <a:r>
              <a:rPr lang="de-AT" b="0" noProof="0" dirty="0">
                <a:latin typeface="Calibri"/>
              </a:rPr>
              <a:t>QQ</a:t>
            </a:r>
          </a:p>
          <a:p>
            <a:pPr algn="ctr"/>
            <a:r>
              <a:rPr lang="de-AT" b="0" noProof="0" dirty="0">
                <a:latin typeface="Calibri"/>
              </a:rPr>
              <a:t>Web UI</a:t>
            </a:r>
          </a:p>
          <a:p>
            <a:pPr algn="ctr"/>
            <a:r>
              <a:rPr lang="de-AT" noProof="0" dirty="0">
                <a:latin typeface="Calibri"/>
              </a:rPr>
              <a:t>…</a:t>
            </a:r>
            <a:endParaRPr lang="de-AT" b="0" noProof="0" dirty="0">
              <a:latin typeface="Calibri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202D555D-4270-E914-B4DB-CEB47C63C39A}"/>
              </a:ext>
            </a:extLst>
          </p:cNvPr>
          <p:cNvSpPr/>
          <p:nvPr/>
        </p:nvSpPr>
        <p:spPr>
          <a:xfrm>
            <a:off x="2422154" y="2815459"/>
            <a:ext cx="1288612" cy="544698"/>
          </a:xfrm>
          <a:prstGeom prst="roundRect">
            <a:avLst/>
          </a:prstGeom>
          <a:noFill/>
          <a:ln w="57150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r>
              <a:rPr lang="de-AT" noProof="0" dirty="0"/>
              <a:t>OpenClaw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211563E-EEA0-455B-8EA0-5CE2D7146C4F}"/>
              </a:ext>
            </a:extLst>
          </p:cNvPr>
          <p:cNvSpPr/>
          <p:nvPr/>
        </p:nvSpPr>
        <p:spPr>
          <a:xfrm>
            <a:off x="7748752" y="2438400"/>
            <a:ext cx="1037940" cy="2011680"/>
          </a:xfrm>
          <a:prstGeom prst="roundRect">
            <a:avLst/>
          </a:prstGeom>
          <a:noFill/>
          <a:ln w="57150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r>
              <a:rPr lang="de-AT" b="0" noProof="0" dirty="0">
                <a:latin typeface="Calibri"/>
              </a:rPr>
              <a:t>Claude</a:t>
            </a:r>
          </a:p>
          <a:p>
            <a:pPr algn="ctr"/>
            <a:r>
              <a:rPr lang="de-AT" b="0" noProof="0" dirty="0">
                <a:latin typeface="Calibri"/>
              </a:rPr>
              <a:t>GPT</a:t>
            </a:r>
          </a:p>
          <a:p>
            <a:pPr algn="ctr"/>
            <a:r>
              <a:rPr lang="de-AT" b="0" noProof="0" dirty="0">
                <a:latin typeface="Calibri"/>
              </a:rPr>
              <a:t>Gemini</a:t>
            </a:r>
          </a:p>
          <a:p>
            <a:pPr algn="ctr"/>
            <a:r>
              <a:rPr lang="de-AT" noProof="0" dirty="0">
                <a:latin typeface="Calibri"/>
              </a:rPr>
              <a:t>…</a:t>
            </a:r>
            <a:endParaRPr lang="de-AT" b="0" noProof="0" dirty="0">
              <a:latin typeface="Calibri"/>
            </a:endParaRPr>
          </a:p>
        </p:txBody>
      </p:sp>
      <p:pic>
        <p:nvPicPr>
          <p:cNvPr id="1026" name="Picture 2" descr="Man ">
            <a:extLst>
              <a:ext uri="{FF2B5EF4-FFF2-40B4-BE49-F238E27FC236}">
                <a16:creationId xmlns:a16="http://schemas.microsoft.com/office/drawing/2014/main" id="{395DC302-B5F8-F683-5D21-196E95ADDD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892" y="1077685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Big data ">
            <a:extLst>
              <a:ext uri="{FF2B5EF4-FFF2-40B4-BE49-F238E27FC236}">
                <a16:creationId xmlns:a16="http://schemas.microsoft.com/office/drawing/2014/main" id="{ADD5245E-58DA-BA29-E5C5-363C1F3721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8122" y="1219200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7B2D6E3C-97DF-866C-63D2-EFF47BBCC08D}"/>
              </a:ext>
            </a:extLst>
          </p:cNvPr>
          <p:cNvSpPr txBox="1"/>
          <p:nvPr/>
        </p:nvSpPr>
        <p:spPr>
          <a:xfrm>
            <a:off x="2283553" y="3370589"/>
            <a:ext cx="15658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AT" noProof="0" dirty="0"/>
              <a:t>Runs </a:t>
            </a:r>
            <a:r>
              <a:rPr lang="de-AT" noProof="0" dirty="0" err="1"/>
              <a:t>locally</a:t>
            </a:r>
            <a:r>
              <a:rPr lang="de-AT" noProof="0" dirty="0"/>
              <a:t> </a:t>
            </a:r>
          </a:p>
          <a:p>
            <a:pPr algn="ctr"/>
            <a:r>
              <a:rPr lang="de-AT" noProof="0" dirty="0"/>
              <a:t>on </a:t>
            </a:r>
            <a:r>
              <a:rPr lang="de-AT" noProof="0" dirty="0" err="1"/>
              <a:t>your</a:t>
            </a:r>
            <a:r>
              <a:rPr lang="de-AT" noProof="0" dirty="0"/>
              <a:t> </a:t>
            </a:r>
            <a:r>
              <a:rPr lang="de-AT" noProof="0" dirty="0" err="1"/>
              <a:t>device</a:t>
            </a:r>
            <a:endParaRPr lang="de-AT" noProof="0" dirty="0">
              <a:latin typeface="Calibri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CC0F986-E87F-825C-3076-532DACDD2C61}"/>
              </a:ext>
            </a:extLst>
          </p:cNvPr>
          <p:cNvSpPr txBox="1"/>
          <p:nvPr/>
        </p:nvSpPr>
        <p:spPr>
          <a:xfrm>
            <a:off x="7476297" y="4530221"/>
            <a:ext cx="14010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noProof="0" dirty="0"/>
              <a:t>Cloud / </a:t>
            </a:r>
            <a:r>
              <a:rPr lang="de-AT" noProof="0" dirty="0" err="1"/>
              <a:t>Local</a:t>
            </a:r>
            <a:endParaRPr lang="de-AT" noProof="0" dirty="0">
              <a:latin typeface="Calibri"/>
            </a:endParaRPr>
          </a:p>
        </p:txBody>
      </p: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CEFF5D33-75FF-6E4A-48A9-E3B4A517E267}"/>
              </a:ext>
            </a:extLst>
          </p:cNvPr>
          <p:cNvCxnSpPr>
            <a:cxnSpLocks/>
          </p:cNvCxnSpPr>
          <p:nvPr/>
        </p:nvCxnSpPr>
        <p:spPr>
          <a:xfrm flipV="1">
            <a:off x="3046905" y="4016920"/>
            <a:ext cx="0" cy="29631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331F970D-BFC2-DB06-4E8F-CE61CEEEB7AD}"/>
              </a:ext>
            </a:extLst>
          </p:cNvPr>
          <p:cNvSpPr txBox="1"/>
          <p:nvPr/>
        </p:nvSpPr>
        <p:spPr>
          <a:xfrm>
            <a:off x="2027809" y="4437888"/>
            <a:ext cx="2038192" cy="923330"/>
          </a:xfrm>
          <a:prstGeom prst="rect">
            <a:avLst/>
          </a:prstGeom>
          <a:noFill/>
          <a:ln w="2857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wrap="square">
            <a:spAutoFit/>
          </a:bodyPr>
          <a:lstStyle/>
          <a:p>
            <a:pPr algn="ctr"/>
            <a:r>
              <a:rPr lang="de-AT" noProof="0" dirty="0"/>
              <a:t>“Personal” </a:t>
            </a:r>
            <a:r>
              <a:rPr lang="de-AT" noProof="0" dirty="0" err="1"/>
              <a:t>documents</a:t>
            </a:r>
            <a:r>
              <a:rPr lang="de-AT" noProof="0" dirty="0"/>
              <a:t> and </a:t>
            </a:r>
            <a:r>
              <a:rPr lang="de-AT" noProof="0" dirty="0" err="1"/>
              <a:t>data</a:t>
            </a:r>
            <a:endParaRPr lang="de-AT" noProof="0" dirty="0"/>
          </a:p>
        </p:txBody>
      </p:sp>
      <p:cxnSp>
        <p:nvCxnSpPr>
          <p:cNvPr id="2" name="直接箭头连接符 1">
            <a:extLst>
              <a:ext uri="{FF2B5EF4-FFF2-40B4-BE49-F238E27FC236}">
                <a16:creationId xmlns:a16="http://schemas.microsoft.com/office/drawing/2014/main" id="{C2177AB3-5507-21E1-FF85-01219FBCE166}"/>
              </a:ext>
            </a:extLst>
          </p:cNvPr>
          <p:cNvCxnSpPr/>
          <p:nvPr/>
        </p:nvCxnSpPr>
        <p:spPr>
          <a:xfrm>
            <a:off x="1882198" y="2963918"/>
            <a:ext cx="4572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F054339B-00FF-19A7-8DFC-7541E18A14B5}"/>
              </a:ext>
            </a:extLst>
          </p:cNvPr>
          <p:cNvCxnSpPr>
            <a:cxnSpLocks/>
          </p:cNvCxnSpPr>
          <p:nvPr/>
        </p:nvCxnSpPr>
        <p:spPr>
          <a:xfrm>
            <a:off x="3837401" y="2963918"/>
            <a:ext cx="373793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" name="Rounded Rectangle 3">
            <a:extLst>
              <a:ext uri="{FF2B5EF4-FFF2-40B4-BE49-F238E27FC236}">
                <a16:creationId xmlns:a16="http://schemas.microsoft.com/office/drawing/2014/main" id="{18500DFA-84AD-09EE-6452-97F4E210A48C}"/>
              </a:ext>
            </a:extLst>
          </p:cNvPr>
          <p:cNvSpPr/>
          <p:nvPr/>
        </p:nvSpPr>
        <p:spPr>
          <a:xfrm>
            <a:off x="1951027" y="2302578"/>
            <a:ext cx="1115432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noProof="0" dirty="0" err="1"/>
              <a:t>message</a:t>
            </a:r>
            <a:endParaRPr lang="de-AT" noProof="0" dirty="0"/>
          </a:p>
        </p:txBody>
      </p:sp>
      <p:sp>
        <p:nvSpPr>
          <p:cNvPr id="11" name="Rounded Rectangle 3">
            <a:extLst>
              <a:ext uri="{FF2B5EF4-FFF2-40B4-BE49-F238E27FC236}">
                <a16:creationId xmlns:a16="http://schemas.microsoft.com/office/drawing/2014/main" id="{D1D1417B-6BB0-5CE3-FEDF-2634523819B0}"/>
              </a:ext>
            </a:extLst>
          </p:cNvPr>
          <p:cNvSpPr/>
          <p:nvPr/>
        </p:nvSpPr>
        <p:spPr>
          <a:xfrm>
            <a:off x="5519827" y="2302578"/>
            <a:ext cx="1115432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noProof="0" dirty="0" err="1"/>
              <a:t>message</a:t>
            </a:r>
            <a:endParaRPr lang="de-AT" noProof="0" dirty="0"/>
          </a:p>
        </p:txBody>
      </p:sp>
      <p:sp>
        <p:nvSpPr>
          <p:cNvPr id="12" name="Rounded Rectangle 3">
            <a:extLst>
              <a:ext uri="{FF2B5EF4-FFF2-40B4-BE49-F238E27FC236}">
                <a16:creationId xmlns:a16="http://schemas.microsoft.com/office/drawing/2014/main" id="{29783267-8518-CB37-22EA-CBFA11759506}"/>
              </a:ext>
            </a:extLst>
          </p:cNvPr>
          <p:cNvSpPr/>
          <p:nvPr/>
        </p:nvSpPr>
        <p:spPr>
          <a:xfrm>
            <a:off x="5519827" y="1568669"/>
            <a:ext cx="1115432" cy="657077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noProof="0" dirty="0"/>
              <a:t>System prompt</a:t>
            </a:r>
          </a:p>
        </p:txBody>
      </p:sp>
    </p:spTree>
    <p:extLst>
      <p:ext uri="{BB962C8B-B14F-4D97-AF65-F5344CB8AC3E}">
        <p14:creationId xmlns:p14="http://schemas.microsoft.com/office/powerpoint/2010/main" val="30671915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7E1A73-EBFE-8802-9FDC-99EC13B4E0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57816FFA-B396-587E-4C25-9AA35C7EF811}"/>
              </a:ext>
            </a:extLst>
          </p:cNvPr>
          <p:cNvSpPr/>
          <p:nvPr/>
        </p:nvSpPr>
        <p:spPr>
          <a:xfrm>
            <a:off x="357308" y="2438400"/>
            <a:ext cx="1447844" cy="2011680"/>
          </a:xfrm>
          <a:prstGeom prst="roundRect">
            <a:avLst/>
          </a:prstGeom>
          <a:noFill/>
          <a:ln w="57150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r>
              <a:rPr lang="de-AT" b="0" noProof="0" dirty="0">
                <a:latin typeface="Calibri"/>
              </a:rPr>
              <a:t>WhatsApp</a:t>
            </a:r>
          </a:p>
          <a:p>
            <a:pPr algn="ctr"/>
            <a:r>
              <a:rPr lang="de-AT" b="0" noProof="0" dirty="0">
                <a:latin typeface="Calibri"/>
              </a:rPr>
              <a:t>Telegram</a:t>
            </a:r>
          </a:p>
          <a:p>
            <a:pPr algn="ctr"/>
            <a:r>
              <a:rPr lang="de-AT" b="0" noProof="0" dirty="0">
                <a:latin typeface="Calibri"/>
              </a:rPr>
              <a:t>Discord</a:t>
            </a:r>
          </a:p>
          <a:p>
            <a:pPr algn="ctr"/>
            <a:r>
              <a:rPr lang="de-AT" noProof="0" dirty="0">
                <a:latin typeface="Calibri"/>
              </a:rPr>
              <a:t>WeChat</a:t>
            </a:r>
          </a:p>
          <a:p>
            <a:pPr algn="ctr"/>
            <a:r>
              <a:rPr lang="de-AT" b="0" noProof="0" dirty="0">
                <a:latin typeface="Calibri"/>
              </a:rPr>
              <a:t>QQ</a:t>
            </a:r>
          </a:p>
          <a:p>
            <a:pPr algn="ctr"/>
            <a:r>
              <a:rPr lang="de-AT" b="0" noProof="0" dirty="0">
                <a:latin typeface="Calibri"/>
              </a:rPr>
              <a:t>Web UI</a:t>
            </a:r>
          </a:p>
          <a:p>
            <a:pPr algn="ctr"/>
            <a:r>
              <a:rPr lang="de-AT" noProof="0" dirty="0">
                <a:latin typeface="Calibri"/>
              </a:rPr>
              <a:t>…</a:t>
            </a:r>
            <a:endParaRPr lang="de-AT" b="0" noProof="0" dirty="0">
              <a:latin typeface="Calibri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E6D5EFE7-3705-C4E5-6F39-2F810911C749}"/>
              </a:ext>
            </a:extLst>
          </p:cNvPr>
          <p:cNvSpPr/>
          <p:nvPr/>
        </p:nvSpPr>
        <p:spPr>
          <a:xfrm>
            <a:off x="2422154" y="2815459"/>
            <a:ext cx="1288612" cy="544698"/>
          </a:xfrm>
          <a:prstGeom prst="roundRect">
            <a:avLst/>
          </a:prstGeom>
          <a:noFill/>
          <a:ln w="57150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r>
              <a:rPr lang="de-AT" noProof="0" dirty="0"/>
              <a:t>OpenClaw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DE6F7EE4-4E1C-8F12-5FD8-238EF2D1C18B}"/>
              </a:ext>
            </a:extLst>
          </p:cNvPr>
          <p:cNvSpPr/>
          <p:nvPr/>
        </p:nvSpPr>
        <p:spPr>
          <a:xfrm>
            <a:off x="7748752" y="2438400"/>
            <a:ext cx="1037940" cy="2011680"/>
          </a:xfrm>
          <a:prstGeom prst="roundRect">
            <a:avLst/>
          </a:prstGeom>
          <a:noFill/>
          <a:ln w="57150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r>
              <a:rPr lang="de-AT" b="0" noProof="0" dirty="0">
                <a:latin typeface="Calibri"/>
              </a:rPr>
              <a:t>Claude</a:t>
            </a:r>
          </a:p>
          <a:p>
            <a:pPr algn="ctr"/>
            <a:r>
              <a:rPr lang="de-AT" b="0" noProof="0" dirty="0">
                <a:latin typeface="Calibri"/>
              </a:rPr>
              <a:t>GPT</a:t>
            </a:r>
          </a:p>
          <a:p>
            <a:pPr algn="ctr"/>
            <a:r>
              <a:rPr lang="de-AT" b="0" noProof="0" dirty="0">
                <a:latin typeface="Calibri"/>
              </a:rPr>
              <a:t>Gemini</a:t>
            </a:r>
          </a:p>
          <a:p>
            <a:pPr algn="ctr"/>
            <a:r>
              <a:rPr lang="de-AT" noProof="0" dirty="0">
                <a:latin typeface="Calibri"/>
              </a:rPr>
              <a:t>…</a:t>
            </a:r>
            <a:endParaRPr lang="de-AT" b="0" noProof="0" dirty="0">
              <a:latin typeface="Calibri"/>
            </a:endParaRPr>
          </a:p>
        </p:txBody>
      </p:sp>
      <p:pic>
        <p:nvPicPr>
          <p:cNvPr id="1026" name="Picture 2" descr="Man ">
            <a:extLst>
              <a:ext uri="{FF2B5EF4-FFF2-40B4-BE49-F238E27FC236}">
                <a16:creationId xmlns:a16="http://schemas.microsoft.com/office/drawing/2014/main" id="{A5AE5A36-DFD7-FF04-5A28-EB9CA94DCE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892" y="1077685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Big data ">
            <a:extLst>
              <a:ext uri="{FF2B5EF4-FFF2-40B4-BE49-F238E27FC236}">
                <a16:creationId xmlns:a16="http://schemas.microsoft.com/office/drawing/2014/main" id="{3DD03B2D-BBBA-7E7D-F118-5126259CED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8122" y="1219200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107EFAD9-8F9E-FCD7-E7DE-03D01DDDBC27}"/>
              </a:ext>
            </a:extLst>
          </p:cNvPr>
          <p:cNvSpPr txBox="1"/>
          <p:nvPr/>
        </p:nvSpPr>
        <p:spPr>
          <a:xfrm>
            <a:off x="2283553" y="3370589"/>
            <a:ext cx="15658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AT" noProof="0" dirty="0"/>
              <a:t>Runs </a:t>
            </a:r>
            <a:r>
              <a:rPr lang="de-AT" noProof="0" dirty="0" err="1"/>
              <a:t>locally</a:t>
            </a:r>
            <a:r>
              <a:rPr lang="de-AT" noProof="0" dirty="0"/>
              <a:t> </a:t>
            </a:r>
          </a:p>
          <a:p>
            <a:pPr algn="ctr"/>
            <a:r>
              <a:rPr lang="de-AT" noProof="0" dirty="0"/>
              <a:t>on </a:t>
            </a:r>
            <a:r>
              <a:rPr lang="de-AT" noProof="0" dirty="0" err="1"/>
              <a:t>your</a:t>
            </a:r>
            <a:r>
              <a:rPr lang="de-AT" noProof="0" dirty="0"/>
              <a:t> </a:t>
            </a:r>
            <a:r>
              <a:rPr lang="de-AT" noProof="0" dirty="0" err="1"/>
              <a:t>device</a:t>
            </a:r>
            <a:endParaRPr lang="de-AT" noProof="0" dirty="0">
              <a:latin typeface="Calibri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DFC0FA8-EA21-C60D-7E49-4C63B787979F}"/>
              </a:ext>
            </a:extLst>
          </p:cNvPr>
          <p:cNvSpPr txBox="1"/>
          <p:nvPr/>
        </p:nvSpPr>
        <p:spPr>
          <a:xfrm>
            <a:off x="7476297" y="4530221"/>
            <a:ext cx="14010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noProof="0" dirty="0"/>
              <a:t>Cloud / </a:t>
            </a:r>
            <a:r>
              <a:rPr lang="de-AT" noProof="0" dirty="0" err="1"/>
              <a:t>Local</a:t>
            </a:r>
            <a:endParaRPr lang="de-AT" noProof="0" dirty="0">
              <a:latin typeface="Calibri"/>
            </a:endParaRPr>
          </a:p>
        </p:txBody>
      </p: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BDE0119F-5CAA-B921-4FA5-8B85B41DC51F}"/>
              </a:ext>
            </a:extLst>
          </p:cNvPr>
          <p:cNvCxnSpPr>
            <a:cxnSpLocks/>
          </p:cNvCxnSpPr>
          <p:nvPr/>
        </p:nvCxnSpPr>
        <p:spPr>
          <a:xfrm flipV="1">
            <a:off x="3046905" y="4016920"/>
            <a:ext cx="0" cy="29631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43C426CB-E6C3-03FA-DCD5-50EE05B4B729}"/>
              </a:ext>
            </a:extLst>
          </p:cNvPr>
          <p:cNvSpPr txBox="1"/>
          <p:nvPr/>
        </p:nvSpPr>
        <p:spPr>
          <a:xfrm>
            <a:off x="2027809" y="4437888"/>
            <a:ext cx="2038192" cy="923330"/>
          </a:xfrm>
          <a:prstGeom prst="rect">
            <a:avLst/>
          </a:prstGeom>
          <a:noFill/>
          <a:ln w="2857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wrap="square">
            <a:spAutoFit/>
          </a:bodyPr>
          <a:lstStyle/>
          <a:p>
            <a:pPr algn="ctr"/>
            <a:r>
              <a:rPr lang="de-AT" noProof="0" dirty="0"/>
              <a:t>“Personal” </a:t>
            </a:r>
            <a:r>
              <a:rPr lang="de-AT" noProof="0" dirty="0" err="1"/>
              <a:t>documents</a:t>
            </a:r>
            <a:r>
              <a:rPr lang="de-AT" noProof="0" dirty="0"/>
              <a:t> and </a:t>
            </a:r>
            <a:r>
              <a:rPr lang="de-AT" noProof="0" dirty="0" err="1"/>
              <a:t>data</a:t>
            </a:r>
            <a:endParaRPr lang="de-AT" noProof="0" dirty="0"/>
          </a:p>
        </p:txBody>
      </p:sp>
      <p:cxnSp>
        <p:nvCxnSpPr>
          <p:cNvPr id="2" name="直接箭头连接符 1">
            <a:extLst>
              <a:ext uri="{FF2B5EF4-FFF2-40B4-BE49-F238E27FC236}">
                <a16:creationId xmlns:a16="http://schemas.microsoft.com/office/drawing/2014/main" id="{85E3F205-D5A9-A1E7-B226-4C7D089345E2}"/>
              </a:ext>
            </a:extLst>
          </p:cNvPr>
          <p:cNvCxnSpPr/>
          <p:nvPr/>
        </p:nvCxnSpPr>
        <p:spPr>
          <a:xfrm>
            <a:off x="1882198" y="2963918"/>
            <a:ext cx="4572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17E92079-4F07-3E57-C148-2C9CC1A83BCB}"/>
              </a:ext>
            </a:extLst>
          </p:cNvPr>
          <p:cNvCxnSpPr>
            <a:cxnSpLocks/>
          </p:cNvCxnSpPr>
          <p:nvPr/>
        </p:nvCxnSpPr>
        <p:spPr>
          <a:xfrm>
            <a:off x="3837401" y="2963918"/>
            <a:ext cx="373793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" name="Rounded Rectangle 3">
            <a:extLst>
              <a:ext uri="{FF2B5EF4-FFF2-40B4-BE49-F238E27FC236}">
                <a16:creationId xmlns:a16="http://schemas.microsoft.com/office/drawing/2014/main" id="{86415B46-865B-AADE-7FAD-CA2769879230}"/>
              </a:ext>
            </a:extLst>
          </p:cNvPr>
          <p:cNvSpPr/>
          <p:nvPr/>
        </p:nvSpPr>
        <p:spPr>
          <a:xfrm>
            <a:off x="1951027" y="2302578"/>
            <a:ext cx="1115432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noProof="0" dirty="0" err="1"/>
              <a:t>message</a:t>
            </a:r>
            <a:endParaRPr lang="de-AT" noProof="0" dirty="0"/>
          </a:p>
        </p:txBody>
      </p:sp>
      <p:sp>
        <p:nvSpPr>
          <p:cNvPr id="11" name="Rounded Rectangle 3">
            <a:extLst>
              <a:ext uri="{FF2B5EF4-FFF2-40B4-BE49-F238E27FC236}">
                <a16:creationId xmlns:a16="http://schemas.microsoft.com/office/drawing/2014/main" id="{DBD87AC0-87A5-CE52-1D8B-1BF4D050C74E}"/>
              </a:ext>
            </a:extLst>
          </p:cNvPr>
          <p:cNvSpPr/>
          <p:nvPr/>
        </p:nvSpPr>
        <p:spPr>
          <a:xfrm>
            <a:off x="5519827" y="2302578"/>
            <a:ext cx="1115432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noProof="0" dirty="0" err="1"/>
              <a:t>message</a:t>
            </a:r>
            <a:endParaRPr lang="de-AT" noProof="0" dirty="0"/>
          </a:p>
        </p:txBody>
      </p:sp>
      <p:sp>
        <p:nvSpPr>
          <p:cNvPr id="12" name="Rounded Rectangle 3">
            <a:extLst>
              <a:ext uri="{FF2B5EF4-FFF2-40B4-BE49-F238E27FC236}">
                <a16:creationId xmlns:a16="http://schemas.microsoft.com/office/drawing/2014/main" id="{56DB14A3-EDB4-B137-680A-9FF709F0501B}"/>
              </a:ext>
            </a:extLst>
          </p:cNvPr>
          <p:cNvSpPr/>
          <p:nvPr/>
        </p:nvSpPr>
        <p:spPr>
          <a:xfrm>
            <a:off x="5519827" y="1568669"/>
            <a:ext cx="1115432" cy="657077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noProof="0" dirty="0"/>
              <a:t>System prompt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E703FE7-ACEE-5A1A-1857-75AF7E1C10E0}"/>
              </a:ext>
            </a:extLst>
          </p:cNvPr>
          <p:cNvSpPr txBox="1"/>
          <p:nvPr/>
        </p:nvSpPr>
        <p:spPr>
          <a:xfrm>
            <a:off x="4002547" y="31732"/>
            <a:ext cx="4033948" cy="1384995"/>
          </a:xfrm>
          <a:prstGeom prst="rect">
            <a:avLst/>
          </a:prstGeom>
          <a:noFill/>
          <a:ln w="2857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AT" sz="1200" noProof="0" dirty="0">
                <a:solidFill>
                  <a:schemeClr val="accent6">
                    <a:lumMod val="75000"/>
                  </a:schemeClr>
                </a:solidFill>
                <a:latin typeface="Calibri"/>
              </a:rPr>
              <a:t>Identity-</a:t>
            </a:r>
            <a:r>
              <a:rPr lang="de-AT" sz="1200" noProof="0" dirty="0" err="1">
                <a:solidFill>
                  <a:schemeClr val="accent6">
                    <a:lumMod val="75000"/>
                  </a:schemeClr>
                </a:solidFill>
                <a:latin typeface="Calibri"/>
              </a:rPr>
              <a:t>related</a:t>
            </a:r>
            <a:r>
              <a:rPr lang="de-AT" sz="1200" noProof="0" dirty="0">
                <a:solidFill>
                  <a:schemeClr val="accent6">
                    <a:lumMod val="75000"/>
                  </a:schemeClr>
                </a:solidFill>
                <a:latin typeface="Calibri"/>
              </a:rPr>
              <a:t> </a:t>
            </a:r>
            <a:r>
              <a:rPr lang="de-AT" sz="1200" noProof="0" dirty="0" err="1">
                <a:solidFill>
                  <a:schemeClr val="accent6">
                    <a:lumMod val="75000"/>
                  </a:schemeClr>
                </a:solidFill>
                <a:latin typeface="Calibri"/>
              </a:rPr>
              <a:t>information</a:t>
            </a:r>
            <a:br>
              <a:rPr lang="de-AT" sz="1200" noProof="0" dirty="0">
                <a:solidFill>
                  <a:schemeClr val="accent6">
                    <a:lumMod val="75000"/>
                  </a:schemeClr>
                </a:solidFill>
                <a:latin typeface="Calibri"/>
              </a:rPr>
            </a:br>
            <a:r>
              <a:rPr lang="de-AT" sz="1200" noProof="0" dirty="0">
                <a:solidFill>
                  <a:schemeClr val="accent6">
                    <a:lumMod val="75000"/>
                  </a:schemeClr>
                </a:solidFill>
                <a:latin typeface="Calibri"/>
              </a:rPr>
              <a:t>(SOUL.md, IDENTITY.md, USER.md, MEMORY.md)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AT" sz="1200" noProof="0" dirty="0" err="1">
                <a:solidFill>
                  <a:schemeClr val="accent6">
                    <a:lumMod val="75000"/>
                  </a:schemeClr>
                </a:solidFill>
                <a:latin typeface="Calibri"/>
              </a:rPr>
              <a:t>Available</a:t>
            </a:r>
            <a:r>
              <a:rPr lang="de-AT" sz="1200" noProof="0" dirty="0">
                <a:solidFill>
                  <a:schemeClr val="accent6">
                    <a:lumMod val="75000"/>
                  </a:schemeClr>
                </a:solidFill>
                <a:latin typeface="Calibri"/>
              </a:rPr>
              <a:t> </a:t>
            </a:r>
            <a:r>
              <a:rPr lang="de-AT" sz="1200" noProof="0" dirty="0" err="1">
                <a:solidFill>
                  <a:schemeClr val="accent6">
                    <a:lumMod val="75000"/>
                  </a:schemeClr>
                </a:solidFill>
                <a:latin typeface="Calibri"/>
              </a:rPr>
              <a:t>tools</a:t>
            </a:r>
            <a:r>
              <a:rPr lang="de-AT" sz="1200" noProof="0" dirty="0">
                <a:solidFill>
                  <a:schemeClr val="accent6">
                    <a:lumMod val="75000"/>
                  </a:schemeClr>
                </a:solidFill>
                <a:latin typeface="Calibri"/>
              </a:rPr>
              <a:t> and </a:t>
            </a:r>
            <a:r>
              <a:rPr lang="de-AT" sz="1200" noProof="0" dirty="0" err="1">
                <a:solidFill>
                  <a:schemeClr val="accent6">
                    <a:lumMod val="75000"/>
                  </a:schemeClr>
                </a:solidFill>
                <a:latin typeface="Calibri"/>
              </a:rPr>
              <a:t>how</a:t>
            </a:r>
            <a:r>
              <a:rPr lang="de-AT" sz="1200" noProof="0" dirty="0">
                <a:solidFill>
                  <a:schemeClr val="accent6">
                    <a:lumMod val="75000"/>
                  </a:schemeClr>
                </a:solidFill>
                <a:latin typeface="Calibri"/>
              </a:rPr>
              <a:t> </a:t>
            </a:r>
            <a:r>
              <a:rPr lang="de-AT" sz="1200" noProof="0" dirty="0" err="1">
                <a:solidFill>
                  <a:schemeClr val="accent6">
                    <a:lumMod val="75000"/>
                  </a:schemeClr>
                </a:solidFill>
                <a:latin typeface="Calibri"/>
              </a:rPr>
              <a:t>to</a:t>
            </a:r>
            <a:r>
              <a:rPr lang="de-AT" sz="1200" noProof="0" dirty="0">
                <a:solidFill>
                  <a:schemeClr val="accent6">
                    <a:lumMod val="75000"/>
                  </a:schemeClr>
                </a:solidFill>
                <a:latin typeface="Calibri"/>
              </a:rPr>
              <a:t> </a:t>
            </a:r>
            <a:r>
              <a:rPr lang="de-AT" sz="1200" noProof="0" dirty="0" err="1">
                <a:solidFill>
                  <a:schemeClr val="accent6">
                    <a:lumMod val="75000"/>
                  </a:schemeClr>
                </a:solidFill>
                <a:latin typeface="Calibri"/>
              </a:rPr>
              <a:t>use</a:t>
            </a:r>
            <a:r>
              <a:rPr lang="de-AT" sz="1200" noProof="0" dirty="0">
                <a:solidFill>
                  <a:schemeClr val="accent6">
                    <a:lumMod val="75000"/>
                  </a:schemeClr>
                </a:solidFill>
                <a:latin typeface="Calibri"/>
              </a:rPr>
              <a:t> </a:t>
            </a:r>
            <a:r>
              <a:rPr lang="de-AT" sz="1200" noProof="0" dirty="0" err="1">
                <a:solidFill>
                  <a:schemeClr val="accent6">
                    <a:lumMod val="75000"/>
                  </a:schemeClr>
                </a:solidFill>
                <a:latin typeface="Calibri"/>
              </a:rPr>
              <a:t>them</a:t>
            </a:r>
            <a:r>
              <a:rPr lang="de-AT" sz="1200" noProof="0" dirty="0">
                <a:solidFill>
                  <a:schemeClr val="accent6">
                    <a:lumMod val="75000"/>
                  </a:schemeClr>
                </a:solidFill>
                <a:latin typeface="Calibri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AT" sz="1200" noProof="0" dirty="0">
                <a:solidFill>
                  <a:schemeClr val="accent6">
                    <a:lumMod val="75000"/>
                  </a:schemeClr>
                </a:solidFill>
                <a:latin typeface="Calibri"/>
              </a:rPr>
              <a:t>Model </a:t>
            </a:r>
            <a:r>
              <a:rPr lang="de-AT" sz="1200" noProof="0" dirty="0" err="1">
                <a:solidFill>
                  <a:schemeClr val="accent6">
                    <a:lumMod val="75000"/>
                  </a:schemeClr>
                </a:solidFill>
                <a:latin typeface="Calibri"/>
              </a:rPr>
              <a:t>behavior</a:t>
            </a:r>
            <a:r>
              <a:rPr lang="de-AT" sz="1200" noProof="0" dirty="0">
                <a:solidFill>
                  <a:schemeClr val="accent6">
                    <a:lumMod val="75000"/>
                  </a:schemeClr>
                </a:solidFill>
                <a:latin typeface="Calibri"/>
              </a:rPr>
              <a:t> (AGENTS.md)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AT" sz="1200" noProof="0" dirty="0" err="1">
                <a:solidFill>
                  <a:schemeClr val="accent6">
                    <a:lumMod val="75000"/>
                  </a:schemeClr>
                </a:solidFill>
                <a:latin typeface="Calibri"/>
              </a:rPr>
              <a:t>Available</a:t>
            </a:r>
            <a:r>
              <a:rPr lang="de-AT" sz="1200" noProof="0" dirty="0">
                <a:solidFill>
                  <a:schemeClr val="accent6">
                    <a:lumMod val="75000"/>
                  </a:schemeClr>
                </a:solidFill>
                <a:latin typeface="Calibri"/>
              </a:rPr>
              <a:t> SKILLs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AT" sz="1200" noProof="0" dirty="0" err="1">
                <a:solidFill>
                  <a:schemeClr val="accent6">
                    <a:lumMod val="75000"/>
                  </a:schemeClr>
                </a:solidFill>
                <a:latin typeface="Calibri"/>
              </a:rPr>
              <a:t>Where</a:t>
            </a:r>
            <a:r>
              <a:rPr lang="de-AT" sz="1200" noProof="0" dirty="0">
                <a:solidFill>
                  <a:schemeClr val="accent6">
                    <a:lumMod val="75000"/>
                  </a:schemeClr>
                </a:solidFill>
                <a:latin typeface="Calibri"/>
              </a:rPr>
              <a:t> </a:t>
            </a:r>
            <a:r>
              <a:rPr lang="de-AT" sz="1200" noProof="0" dirty="0" err="1">
                <a:solidFill>
                  <a:schemeClr val="accent6">
                    <a:lumMod val="75000"/>
                  </a:schemeClr>
                </a:solidFill>
                <a:latin typeface="Calibri"/>
              </a:rPr>
              <a:t>to</a:t>
            </a:r>
            <a:r>
              <a:rPr lang="de-AT" sz="1200" noProof="0" dirty="0">
                <a:solidFill>
                  <a:schemeClr val="accent6">
                    <a:lumMod val="75000"/>
                  </a:schemeClr>
                </a:solidFill>
                <a:latin typeface="Calibri"/>
              </a:rPr>
              <a:t> find </a:t>
            </a:r>
            <a:r>
              <a:rPr lang="de-AT" sz="1200" noProof="0" dirty="0" err="1">
                <a:solidFill>
                  <a:schemeClr val="accent6">
                    <a:lumMod val="75000"/>
                  </a:schemeClr>
                </a:solidFill>
                <a:latin typeface="Calibri"/>
              </a:rPr>
              <a:t>previous</a:t>
            </a:r>
            <a:r>
              <a:rPr lang="de-AT" sz="1200" noProof="0" dirty="0">
                <a:solidFill>
                  <a:schemeClr val="accent6">
                    <a:lumMod val="75000"/>
                  </a:schemeClr>
                </a:solidFill>
                <a:latin typeface="Calibri"/>
              </a:rPr>
              <a:t> </a:t>
            </a:r>
            <a:r>
              <a:rPr lang="de-AT" sz="1200" noProof="0" dirty="0" err="1">
                <a:solidFill>
                  <a:schemeClr val="accent6">
                    <a:lumMod val="75000"/>
                  </a:schemeClr>
                </a:solidFill>
                <a:latin typeface="Calibri"/>
              </a:rPr>
              <a:t>memories</a:t>
            </a:r>
            <a:endParaRPr lang="de-AT" sz="1200" noProof="0" dirty="0">
              <a:solidFill>
                <a:schemeClr val="accent6">
                  <a:lumMod val="75000"/>
                </a:schemeClr>
              </a:solidFill>
              <a:latin typeface="Calibr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AT" sz="1200" noProof="0" dirty="0">
                <a:solidFill>
                  <a:schemeClr val="accent6">
                    <a:lumMod val="75000"/>
                  </a:schemeClr>
                </a:solidFill>
                <a:latin typeface="Calibri"/>
              </a:rPr>
              <a:t>… </a:t>
            </a:r>
          </a:p>
        </p:txBody>
      </p:sp>
      <p:sp>
        <p:nvSpPr>
          <p:cNvPr id="13" name="右大括号 12">
            <a:extLst>
              <a:ext uri="{FF2B5EF4-FFF2-40B4-BE49-F238E27FC236}">
                <a16:creationId xmlns:a16="http://schemas.microsoft.com/office/drawing/2014/main" id="{D59E44A5-71DF-C702-27E5-8AAEA8BFA3F6}"/>
              </a:ext>
            </a:extLst>
          </p:cNvPr>
          <p:cNvSpPr/>
          <p:nvPr/>
        </p:nvSpPr>
        <p:spPr>
          <a:xfrm rot="5400000">
            <a:off x="6018186" y="812754"/>
            <a:ext cx="118713" cy="1294634"/>
          </a:xfrm>
          <a:prstGeom prst="rightBrac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AT" noProof="0" dirty="0"/>
          </a:p>
        </p:txBody>
      </p:sp>
    </p:spTree>
    <p:extLst>
      <p:ext uri="{BB962C8B-B14F-4D97-AF65-F5344CB8AC3E}">
        <p14:creationId xmlns:p14="http://schemas.microsoft.com/office/powerpoint/2010/main" val="22161811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012540-8E41-D2C8-4695-29A69441C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A51A718F-4B9F-DCD2-2741-7A27BA37CD1C}"/>
              </a:ext>
            </a:extLst>
          </p:cNvPr>
          <p:cNvSpPr/>
          <p:nvPr/>
        </p:nvSpPr>
        <p:spPr>
          <a:xfrm>
            <a:off x="357308" y="2438400"/>
            <a:ext cx="1447844" cy="2011680"/>
          </a:xfrm>
          <a:prstGeom prst="roundRect">
            <a:avLst/>
          </a:prstGeom>
          <a:noFill/>
          <a:ln w="57150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r>
              <a:rPr lang="de-AT" b="0" noProof="0" dirty="0">
                <a:latin typeface="Calibri"/>
              </a:rPr>
              <a:t>WhatsApp</a:t>
            </a:r>
          </a:p>
          <a:p>
            <a:pPr algn="ctr"/>
            <a:r>
              <a:rPr lang="de-AT" b="0" noProof="0" dirty="0">
                <a:latin typeface="Calibri"/>
              </a:rPr>
              <a:t>Telegram</a:t>
            </a:r>
          </a:p>
          <a:p>
            <a:pPr algn="ctr"/>
            <a:r>
              <a:rPr lang="de-AT" b="0" noProof="0" dirty="0">
                <a:latin typeface="Calibri"/>
              </a:rPr>
              <a:t>Discord</a:t>
            </a:r>
          </a:p>
          <a:p>
            <a:pPr algn="ctr"/>
            <a:r>
              <a:rPr lang="de-AT" noProof="0" dirty="0">
                <a:latin typeface="Calibri"/>
              </a:rPr>
              <a:t>WeChat</a:t>
            </a:r>
          </a:p>
          <a:p>
            <a:pPr algn="ctr"/>
            <a:r>
              <a:rPr lang="de-AT" b="0" noProof="0" dirty="0">
                <a:latin typeface="Calibri"/>
              </a:rPr>
              <a:t>QQ</a:t>
            </a:r>
          </a:p>
          <a:p>
            <a:pPr algn="ctr"/>
            <a:r>
              <a:rPr lang="de-AT" b="0" noProof="0" dirty="0">
                <a:latin typeface="Calibri"/>
              </a:rPr>
              <a:t>Web UI</a:t>
            </a:r>
          </a:p>
          <a:p>
            <a:pPr algn="ctr"/>
            <a:r>
              <a:rPr lang="de-AT" noProof="0" dirty="0">
                <a:latin typeface="Calibri"/>
              </a:rPr>
              <a:t>…</a:t>
            </a:r>
            <a:endParaRPr lang="de-AT" b="0" noProof="0" dirty="0">
              <a:latin typeface="Calibri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D164ADB0-7572-20E1-18DB-A1C230C507A4}"/>
              </a:ext>
            </a:extLst>
          </p:cNvPr>
          <p:cNvSpPr/>
          <p:nvPr/>
        </p:nvSpPr>
        <p:spPr>
          <a:xfrm>
            <a:off x="2422154" y="2815459"/>
            <a:ext cx="1288612" cy="544698"/>
          </a:xfrm>
          <a:prstGeom prst="roundRect">
            <a:avLst/>
          </a:prstGeom>
          <a:noFill/>
          <a:ln w="57150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r>
              <a:rPr lang="de-AT" noProof="0" dirty="0"/>
              <a:t>OpenClaw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B8A37309-C26F-828E-1A34-B70969175A8F}"/>
              </a:ext>
            </a:extLst>
          </p:cNvPr>
          <p:cNvSpPr/>
          <p:nvPr/>
        </p:nvSpPr>
        <p:spPr>
          <a:xfrm>
            <a:off x="7748752" y="2438400"/>
            <a:ext cx="1037940" cy="2011680"/>
          </a:xfrm>
          <a:prstGeom prst="roundRect">
            <a:avLst/>
          </a:prstGeom>
          <a:noFill/>
          <a:ln w="57150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r>
              <a:rPr lang="de-AT" b="0" noProof="0" dirty="0">
                <a:latin typeface="Calibri"/>
              </a:rPr>
              <a:t>Claude</a:t>
            </a:r>
          </a:p>
          <a:p>
            <a:pPr algn="ctr"/>
            <a:r>
              <a:rPr lang="de-AT" b="0" noProof="0" dirty="0">
                <a:latin typeface="Calibri"/>
              </a:rPr>
              <a:t>GPT</a:t>
            </a:r>
          </a:p>
          <a:p>
            <a:pPr algn="ctr"/>
            <a:r>
              <a:rPr lang="de-AT" b="0" noProof="0" dirty="0">
                <a:latin typeface="Calibri"/>
              </a:rPr>
              <a:t>Gemini</a:t>
            </a:r>
          </a:p>
          <a:p>
            <a:pPr algn="ctr"/>
            <a:r>
              <a:rPr lang="de-AT" noProof="0" dirty="0">
                <a:latin typeface="Calibri"/>
              </a:rPr>
              <a:t>…</a:t>
            </a:r>
            <a:endParaRPr lang="de-AT" b="0" noProof="0" dirty="0">
              <a:latin typeface="Calibri"/>
            </a:endParaRPr>
          </a:p>
        </p:txBody>
      </p:sp>
      <p:pic>
        <p:nvPicPr>
          <p:cNvPr id="1026" name="Picture 2" descr="Man ">
            <a:extLst>
              <a:ext uri="{FF2B5EF4-FFF2-40B4-BE49-F238E27FC236}">
                <a16:creationId xmlns:a16="http://schemas.microsoft.com/office/drawing/2014/main" id="{44C9D9EB-F704-76CD-E839-A54CB74315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892" y="1077685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Big data ">
            <a:extLst>
              <a:ext uri="{FF2B5EF4-FFF2-40B4-BE49-F238E27FC236}">
                <a16:creationId xmlns:a16="http://schemas.microsoft.com/office/drawing/2014/main" id="{06742C73-8B3A-768A-B0C8-6B97D58E78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8122" y="1219200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3DAF5D0A-5FC0-152A-976B-8DDB800040E9}"/>
              </a:ext>
            </a:extLst>
          </p:cNvPr>
          <p:cNvSpPr txBox="1"/>
          <p:nvPr/>
        </p:nvSpPr>
        <p:spPr>
          <a:xfrm>
            <a:off x="2283553" y="3370589"/>
            <a:ext cx="15658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AT" noProof="0" dirty="0"/>
              <a:t>Runs </a:t>
            </a:r>
            <a:r>
              <a:rPr lang="de-AT" noProof="0" dirty="0" err="1"/>
              <a:t>locally</a:t>
            </a:r>
            <a:r>
              <a:rPr lang="de-AT" noProof="0" dirty="0"/>
              <a:t> </a:t>
            </a:r>
          </a:p>
          <a:p>
            <a:pPr algn="ctr"/>
            <a:r>
              <a:rPr lang="de-AT" noProof="0" dirty="0"/>
              <a:t>on </a:t>
            </a:r>
            <a:r>
              <a:rPr lang="de-AT" noProof="0" dirty="0" err="1"/>
              <a:t>your</a:t>
            </a:r>
            <a:r>
              <a:rPr lang="de-AT" noProof="0" dirty="0"/>
              <a:t> </a:t>
            </a:r>
            <a:r>
              <a:rPr lang="de-AT" noProof="0" dirty="0" err="1"/>
              <a:t>device</a:t>
            </a:r>
            <a:endParaRPr lang="de-AT" noProof="0" dirty="0">
              <a:latin typeface="Calibri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AB199D7-AAE4-53C0-9727-F876FA4A09E3}"/>
              </a:ext>
            </a:extLst>
          </p:cNvPr>
          <p:cNvSpPr txBox="1"/>
          <p:nvPr/>
        </p:nvSpPr>
        <p:spPr>
          <a:xfrm>
            <a:off x="7476297" y="4530221"/>
            <a:ext cx="14010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noProof="0" dirty="0"/>
              <a:t>Cloud / </a:t>
            </a:r>
            <a:r>
              <a:rPr lang="de-AT" noProof="0" dirty="0" err="1"/>
              <a:t>Local</a:t>
            </a:r>
            <a:endParaRPr lang="de-AT" noProof="0" dirty="0">
              <a:latin typeface="Calibri"/>
            </a:endParaRPr>
          </a:p>
        </p:txBody>
      </p: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89DAEB79-E591-D23C-99C0-6729E96656A3}"/>
              </a:ext>
            </a:extLst>
          </p:cNvPr>
          <p:cNvCxnSpPr>
            <a:cxnSpLocks/>
          </p:cNvCxnSpPr>
          <p:nvPr/>
        </p:nvCxnSpPr>
        <p:spPr>
          <a:xfrm flipV="1">
            <a:off x="3046905" y="4016920"/>
            <a:ext cx="0" cy="29631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03370F6F-E366-50A3-BA02-2A2E6E002FE6}"/>
              </a:ext>
            </a:extLst>
          </p:cNvPr>
          <p:cNvSpPr txBox="1"/>
          <p:nvPr/>
        </p:nvSpPr>
        <p:spPr>
          <a:xfrm>
            <a:off x="2027809" y="4437888"/>
            <a:ext cx="2038192" cy="923330"/>
          </a:xfrm>
          <a:prstGeom prst="rect">
            <a:avLst/>
          </a:prstGeom>
          <a:noFill/>
          <a:ln w="2857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wrap="square">
            <a:spAutoFit/>
          </a:bodyPr>
          <a:lstStyle/>
          <a:p>
            <a:pPr algn="ctr"/>
            <a:r>
              <a:rPr lang="de-AT" noProof="0" dirty="0"/>
              <a:t>“Personal” </a:t>
            </a:r>
            <a:r>
              <a:rPr lang="de-AT" noProof="0" dirty="0" err="1"/>
              <a:t>documents</a:t>
            </a:r>
            <a:r>
              <a:rPr lang="de-AT" noProof="0" dirty="0"/>
              <a:t> and </a:t>
            </a:r>
            <a:r>
              <a:rPr lang="de-AT" noProof="0" dirty="0" err="1"/>
              <a:t>data</a:t>
            </a:r>
            <a:endParaRPr lang="de-AT" noProof="0" dirty="0"/>
          </a:p>
        </p:txBody>
      </p:sp>
      <p:cxnSp>
        <p:nvCxnSpPr>
          <p:cNvPr id="2" name="直接箭头连接符 1">
            <a:extLst>
              <a:ext uri="{FF2B5EF4-FFF2-40B4-BE49-F238E27FC236}">
                <a16:creationId xmlns:a16="http://schemas.microsoft.com/office/drawing/2014/main" id="{D31473A1-F31E-04D3-BD8C-C81F5A1F7A99}"/>
              </a:ext>
            </a:extLst>
          </p:cNvPr>
          <p:cNvCxnSpPr/>
          <p:nvPr/>
        </p:nvCxnSpPr>
        <p:spPr>
          <a:xfrm>
            <a:off x="1882198" y="2963918"/>
            <a:ext cx="4572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35F2692E-3417-F259-C670-C7AF6AA90AC1}"/>
              </a:ext>
            </a:extLst>
          </p:cNvPr>
          <p:cNvCxnSpPr>
            <a:cxnSpLocks/>
          </p:cNvCxnSpPr>
          <p:nvPr/>
        </p:nvCxnSpPr>
        <p:spPr>
          <a:xfrm>
            <a:off x="3837401" y="2963918"/>
            <a:ext cx="373793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" name="Rounded Rectangle 3">
            <a:extLst>
              <a:ext uri="{FF2B5EF4-FFF2-40B4-BE49-F238E27FC236}">
                <a16:creationId xmlns:a16="http://schemas.microsoft.com/office/drawing/2014/main" id="{D13D8AE3-73C0-7CA5-6FD6-80AD6BB52D07}"/>
              </a:ext>
            </a:extLst>
          </p:cNvPr>
          <p:cNvSpPr/>
          <p:nvPr/>
        </p:nvSpPr>
        <p:spPr>
          <a:xfrm>
            <a:off x="1951027" y="2302578"/>
            <a:ext cx="1115432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noProof="0" dirty="0" err="1"/>
              <a:t>message</a:t>
            </a:r>
            <a:endParaRPr lang="de-AT" noProof="0" dirty="0"/>
          </a:p>
        </p:txBody>
      </p:sp>
      <p:sp>
        <p:nvSpPr>
          <p:cNvPr id="11" name="Rounded Rectangle 3">
            <a:extLst>
              <a:ext uri="{FF2B5EF4-FFF2-40B4-BE49-F238E27FC236}">
                <a16:creationId xmlns:a16="http://schemas.microsoft.com/office/drawing/2014/main" id="{F24A859C-DEFF-AFC3-CEE0-672171E066B6}"/>
              </a:ext>
            </a:extLst>
          </p:cNvPr>
          <p:cNvSpPr/>
          <p:nvPr/>
        </p:nvSpPr>
        <p:spPr>
          <a:xfrm>
            <a:off x="5519827" y="2302578"/>
            <a:ext cx="1115432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noProof="0" dirty="0" err="1"/>
              <a:t>message</a:t>
            </a:r>
            <a:endParaRPr lang="de-AT" noProof="0" dirty="0"/>
          </a:p>
        </p:txBody>
      </p:sp>
      <p:sp>
        <p:nvSpPr>
          <p:cNvPr id="12" name="Rounded Rectangle 3">
            <a:extLst>
              <a:ext uri="{FF2B5EF4-FFF2-40B4-BE49-F238E27FC236}">
                <a16:creationId xmlns:a16="http://schemas.microsoft.com/office/drawing/2014/main" id="{395C4C00-576E-DE65-3F10-A601BF9F7216}"/>
              </a:ext>
            </a:extLst>
          </p:cNvPr>
          <p:cNvSpPr/>
          <p:nvPr/>
        </p:nvSpPr>
        <p:spPr>
          <a:xfrm>
            <a:off x="5519827" y="1568669"/>
            <a:ext cx="1115432" cy="657077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noProof="0" dirty="0"/>
              <a:t>System prompt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F5891D-B490-8368-02FE-BB30EDB045AD}"/>
              </a:ext>
            </a:extLst>
          </p:cNvPr>
          <p:cNvSpPr txBox="1"/>
          <p:nvPr/>
        </p:nvSpPr>
        <p:spPr>
          <a:xfrm>
            <a:off x="4002547" y="31732"/>
            <a:ext cx="4033948" cy="1384995"/>
          </a:xfrm>
          <a:prstGeom prst="rect">
            <a:avLst/>
          </a:prstGeom>
          <a:noFill/>
          <a:ln w="2857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AT" sz="1200" noProof="0" dirty="0">
                <a:solidFill>
                  <a:schemeClr val="accent6">
                    <a:lumMod val="75000"/>
                  </a:schemeClr>
                </a:solidFill>
                <a:latin typeface="Calibri"/>
              </a:rPr>
              <a:t>Identity-</a:t>
            </a:r>
            <a:r>
              <a:rPr lang="de-AT" sz="1200" noProof="0" dirty="0" err="1">
                <a:solidFill>
                  <a:schemeClr val="accent6">
                    <a:lumMod val="75000"/>
                  </a:schemeClr>
                </a:solidFill>
                <a:latin typeface="Calibri"/>
              </a:rPr>
              <a:t>related</a:t>
            </a:r>
            <a:r>
              <a:rPr lang="de-AT" sz="1200" noProof="0" dirty="0">
                <a:solidFill>
                  <a:schemeClr val="accent6">
                    <a:lumMod val="75000"/>
                  </a:schemeClr>
                </a:solidFill>
                <a:latin typeface="Calibri"/>
              </a:rPr>
              <a:t> </a:t>
            </a:r>
            <a:r>
              <a:rPr lang="de-AT" sz="1200" noProof="0" dirty="0" err="1">
                <a:solidFill>
                  <a:schemeClr val="accent6">
                    <a:lumMod val="75000"/>
                  </a:schemeClr>
                </a:solidFill>
                <a:latin typeface="Calibri"/>
              </a:rPr>
              <a:t>information</a:t>
            </a:r>
            <a:br>
              <a:rPr lang="de-AT" sz="1200" noProof="0" dirty="0">
                <a:solidFill>
                  <a:schemeClr val="accent6">
                    <a:lumMod val="75000"/>
                  </a:schemeClr>
                </a:solidFill>
                <a:latin typeface="Calibri"/>
              </a:rPr>
            </a:br>
            <a:r>
              <a:rPr lang="de-AT" sz="1200" noProof="0" dirty="0">
                <a:solidFill>
                  <a:schemeClr val="accent6">
                    <a:lumMod val="75000"/>
                  </a:schemeClr>
                </a:solidFill>
                <a:latin typeface="Calibri"/>
              </a:rPr>
              <a:t>(SOUL.md, IDENTITY.md, USER.md, MEMORY.md)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AT" sz="1200" noProof="0" dirty="0" err="1">
                <a:solidFill>
                  <a:schemeClr val="accent6">
                    <a:lumMod val="75000"/>
                  </a:schemeClr>
                </a:solidFill>
                <a:latin typeface="Calibri"/>
              </a:rPr>
              <a:t>Available</a:t>
            </a:r>
            <a:r>
              <a:rPr lang="de-AT" sz="1200" noProof="0" dirty="0">
                <a:solidFill>
                  <a:schemeClr val="accent6">
                    <a:lumMod val="75000"/>
                  </a:schemeClr>
                </a:solidFill>
                <a:latin typeface="Calibri"/>
              </a:rPr>
              <a:t> </a:t>
            </a:r>
            <a:r>
              <a:rPr lang="de-AT" sz="1200" noProof="0" dirty="0" err="1">
                <a:solidFill>
                  <a:schemeClr val="accent6">
                    <a:lumMod val="75000"/>
                  </a:schemeClr>
                </a:solidFill>
                <a:latin typeface="Calibri"/>
              </a:rPr>
              <a:t>tools</a:t>
            </a:r>
            <a:r>
              <a:rPr lang="de-AT" sz="1200" noProof="0" dirty="0">
                <a:solidFill>
                  <a:schemeClr val="accent6">
                    <a:lumMod val="75000"/>
                  </a:schemeClr>
                </a:solidFill>
                <a:latin typeface="Calibri"/>
              </a:rPr>
              <a:t> and </a:t>
            </a:r>
            <a:r>
              <a:rPr lang="de-AT" sz="1200" noProof="0" dirty="0" err="1">
                <a:solidFill>
                  <a:schemeClr val="accent6">
                    <a:lumMod val="75000"/>
                  </a:schemeClr>
                </a:solidFill>
                <a:latin typeface="Calibri"/>
              </a:rPr>
              <a:t>how</a:t>
            </a:r>
            <a:r>
              <a:rPr lang="de-AT" sz="1200" noProof="0" dirty="0">
                <a:solidFill>
                  <a:schemeClr val="accent6">
                    <a:lumMod val="75000"/>
                  </a:schemeClr>
                </a:solidFill>
                <a:latin typeface="Calibri"/>
              </a:rPr>
              <a:t> </a:t>
            </a:r>
            <a:r>
              <a:rPr lang="de-AT" sz="1200" noProof="0" dirty="0" err="1">
                <a:solidFill>
                  <a:schemeClr val="accent6">
                    <a:lumMod val="75000"/>
                  </a:schemeClr>
                </a:solidFill>
                <a:latin typeface="Calibri"/>
              </a:rPr>
              <a:t>to</a:t>
            </a:r>
            <a:r>
              <a:rPr lang="de-AT" sz="1200" noProof="0" dirty="0">
                <a:solidFill>
                  <a:schemeClr val="accent6">
                    <a:lumMod val="75000"/>
                  </a:schemeClr>
                </a:solidFill>
                <a:latin typeface="Calibri"/>
              </a:rPr>
              <a:t> </a:t>
            </a:r>
            <a:r>
              <a:rPr lang="de-AT" sz="1200" noProof="0" dirty="0" err="1">
                <a:solidFill>
                  <a:schemeClr val="accent6">
                    <a:lumMod val="75000"/>
                  </a:schemeClr>
                </a:solidFill>
                <a:latin typeface="Calibri"/>
              </a:rPr>
              <a:t>use</a:t>
            </a:r>
            <a:r>
              <a:rPr lang="de-AT" sz="1200" noProof="0" dirty="0">
                <a:solidFill>
                  <a:schemeClr val="accent6">
                    <a:lumMod val="75000"/>
                  </a:schemeClr>
                </a:solidFill>
                <a:latin typeface="Calibri"/>
              </a:rPr>
              <a:t> </a:t>
            </a:r>
            <a:r>
              <a:rPr lang="de-AT" sz="1200" noProof="0" dirty="0" err="1">
                <a:solidFill>
                  <a:schemeClr val="accent6">
                    <a:lumMod val="75000"/>
                  </a:schemeClr>
                </a:solidFill>
                <a:latin typeface="Calibri"/>
              </a:rPr>
              <a:t>them</a:t>
            </a:r>
            <a:r>
              <a:rPr lang="de-AT" sz="1200" noProof="0" dirty="0">
                <a:solidFill>
                  <a:schemeClr val="accent6">
                    <a:lumMod val="75000"/>
                  </a:schemeClr>
                </a:solidFill>
                <a:latin typeface="Calibri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AT" sz="1200" noProof="0" dirty="0">
                <a:solidFill>
                  <a:schemeClr val="accent6">
                    <a:lumMod val="75000"/>
                  </a:schemeClr>
                </a:solidFill>
                <a:latin typeface="Calibri"/>
              </a:rPr>
              <a:t>Model </a:t>
            </a:r>
            <a:r>
              <a:rPr lang="de-AT" sz="1200" noProof="0" dirty="0" err="1">
                <a:solidFill>
                  <a:schemeClr val="accent6">
                    <a:lumMod val="75000"/>
                  </a:schemeClr>
                </a:solidFill>
                <a:latin typeface="Calibri"/>
              </a:rPr>
              <a:t>behavior</a:t>
            </a:r>
            <a:r>
              <a:rPr lang="de-AT" sz="1200" noProof="0" dirty="0">
                <a:solidFill>
                  <a:schemeClr val="accent6">
                    <a:lumMod val="75000"/>
                  </a:schemeClr>
                </a:solidFill>
                <a:latin typeface="Calibri"/>
              </a:rPr>
              <a:t> (AGENTS.md)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AT" sz="1200" noProof="0" dirty="0" err="1">
                <a:solidFill>
                  <a:schemeClr val="accent6">
                    <a:lumMod val="75000"/>
                  </a:schemeClr>
                </a:solidFill>
                <a:latin typeface="Calibri"/>
              </a:rPr>
              <a:t>Available</a:t>
            </a:r>
            <a:r>
              <a:rPr lang="de-AT" sz="1200" noProof="0" dirty="0">
                <a:solidFill>
                  <a:schemeClr val="accent6">
                    <a:lumMod val="75000"/>
                  </a:schemeClr>
                </a:solidFill>
                <a:latin typeface="Calibri"/>
              </a:rPr>
              <a:t> SKILLs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AT" sz="1200" noProof="0" dirty="0" err="1">
                <a:solidFill>
                  <a:schemeClr val="accent6">
                    <a:lumMod val="75000"/>
                  </a:schemeClr>
                </a:solidFill>
                <a:latin typeface="Calibri"/>
              </a:rPr>
              <a:t>Where</a:t>
            </a:r>
            <a:r>
              <a:rPr lang="de-AT" sz="1200" noProof="0" dirty="0">
                <a:solidFill>
                  <a:schemeClr val="accent6">
                    <a:lumMod val="75000"/>
                  </a:schemeClr>
                </a:solidFill>
                <a:latin typeface="Calibri"/>
              </a:rPr>
              <a:t> </a:t>
            </a:r>
            <a:r>
              <a:rPr lang="de-AT" sz="1200" noProof="0" dirty="0" err="1">
                <a:solidFill>
                  <a:schemeClr val="accent6">
                    <a:lumMod val="75000"/>
                  </a:schemeClr>
                </a:solidFill>
                <a:latin typeface="Calibri"/>
              </a:rPr>
              <a:t>to</a:t>
            </a:r>
            <a:r>
              <a:rPr lang="de-AT" sz="1200" noProof="0" dirty="0">
                <a:solidFill>
                  <a:schemeClr val="accent6">
                    <a:lumMod val="75000"/>
                  </a:schemeClr>
                </a:solidFill>
                <a:latin typeface="Calibri"/>
              </a:rPr>
              <a:t> find </a:t>
            </a:r>
            <a:r>
              <a:rPr lang="de-AT" sz="1200" noProof="0" dirty="0" err="1">
                <a:solidFill>
                  <a:schemeClr val="accent6">
                    <a:lumMod val="75000"/>
                  </a:schemeClr>
                </a:solidFill>
                <a:latin typeface="Calibri"/>
              </a:rPr>
              <a:t>previous</a:t>
            </a:r>
            <a:r>
              <a:rPr lang="de-AT" sz="1200" noProof="0" dirty="0">
                <a:solidFill>
                  <a:schemeClr val="accent6">
                    <a:lumMod val="75000"/>
                  </a:schemeClr>
                </a:solidFill>
                <a:latin typeface="Calibri"/>
              </a:rPr>
              <a:t> </a:t>
            </a:r>
            <a:r>
              <a:rPr lang="de-AT" sz="1200" noProof="0" dirty="0" err="1">
                <a:solidFill>
                  <a:schemeClr val="accent6">
                    <a:lumMod val="75000"/>
                  </a:schemeClr>
                </a:solidFill>
                <a:latin typeface="Calibri"/>
              </a:rPr>
              <a:t>memories</a:t>
            </a:r>
            <a:endParaRPr lang="de-AT" sz="1200" noProof="0" dirty="0">
              <a:solidFill>
                <a:schemeClr val="accent6">
                  <a:lumMod val="75000"/>
                </a:schemeClr>
              </a:solidFill>
              <a:latin typeface="Calibr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AT" sz="1200" noProof="0" dirty="0">
                <a:solidFill>
                  <a:schemeClr val="accent6">
                    <a:lumMod val="75000"/>
                  </a:schemeClr>
                </a:solidFill>
                <a:latin typeface="Calibri"/>
              </a:rPr>
              <a:t>… </a:t>
            </a:r>
          </a:p>
        </p:txBody>
      </p:sp>
      <p:sp>
        <p:nvSpPr>
          <p:cNvPr id="13" name="右大括号 12">
            <a:extLst>
              <a:ext uri="{FF2B5EF4-FFF2-40B4-BE49-F238E27FC236}">
                <a16:creationId xmlns:a16="http://schemas.microsoft.com/office/drawing/2014/main" id="{EF6BA518-743B-9E08-B47B-17D87B46A2D1}"/>
              </a:ext>
            </a:extLst>
          </p:cNvPr>
          <p:cNvSpPr/>
          <p:nvPr/>
        </p:nvSpPr>
        <p:spPr>
          <a:xfrm rot="5400000">
            <a:off x="6018186" y="812754"/>
            <a:ext cx="118713" cy="1294634"/>
          </a:xfrm>
          <a:prstGeom prst="rightBrac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AT" noProof="0" dirty="0"/>
          </a:p>
        </p:txBody>
      </p:sp>
      <p:sp>
        <p:nvSpPr>
          <p:cNvPr id="17" name="对话气泡: 圆角矩形 16">
            <a:extLst>
              <a:ext uri="{FF2B5EF4-FFF2-40B4-BE49-F238E27FC236}">
                <a16:creationId xmlns:a16="http://schemas.microsoft.com/office/drawing/2014/main" id="{367DE5CF-D3B8-7C2C-1657-D3BEB712FDC9}"/>
              </a:ext>
            </a:extLst>
          </p:cNvPr>
          <p:cNvSpPr/>
          <p:nvPr/>
        </p:nvSpPr>
        <p:spPr>
          <a:xfrm>
            <a:off x="3127770" y="1505389"/>
            <a:ext cx="2108528" cy="923315"/>
          </a:xfrm>
          <a:prstGeom prst="wedgeRoundRectCallout">
            <a:avLst>
              <a:gd name="adj1" fmla="val 61257"/>
              <a:gd name="adj2" fmla="val -2385"/>
              <a:gd name="adj3" fmla="val 16667"/>
            </a:avLst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noProof="0" dirty="0"/>
              <a:t>The </a:t>
            </a:r>
            <a:r>
              <a:rPr lang="de-AT" noProof="0" dirty="0" err="1"/>
              <a:t>system</a:t>
            </a:r>
            <a:r>
              <a:rPr lang="de-AT" noProof="0" dirty="0"/>
              <a:t> prompt </a:t>
            </a:r>
            <a:r>
              <a:rPr lang="de-AT" noProof="0" dirty="0" err="1"/>
              <a:t>is</a:t>
            </a:r>
            <a:r>
              <a:rPr lang="de-AT" noProof="0" dirty="0"/>
              <a:t> </a:t>
            </a:r>
            <a:r>
              <a:rPr lang="de-AT" noProof="0" dirty="0" err="1"/>
              <a:t>sent</a:t>
            </a:r>
            <a:r>
              <a:rPr lang="de-AT" noProof="0" dirty="0"/>
              <a:t> </a:t>
            </a:r>
            <a:r>
              <a:rPr lang="de-AT" noProof="0" dirty="0" err="1"/>
              <a:t>with</a:t>
            </a:r>
            <a:r>
              <a:rPr lang="de-AT" noProof="0" dirty="0"/>
              <a:t> </a:t>
            </a:r>
            <a:r>
              <a:rPr lang="de-AT" noProof="0" dirty="0" err="1"/>
              <a:t>every</a:t>
            </a:r>
            <a:r>
              <a:rPr lang="de-AT" noProof="0" dirty="0"/>
              <a:t> </a:t>
            </a:r>
            <a:r>
              <a:rPr lang="de-AT" noProof="0" dirty="0" err="1"/>
              <a:t>model</a:t>
            </a:r>
            <a:r>
              <a:rPr lang="de-AT" noProof="0" dirty="0"/>
              <a:t> </a:t>
            </a:r>
            <a:r>
              <a:rPr lang="de-AT" noProof="0" dirty="0" err="1"/>
              <a:t>call</a:t>
            </a:r>
            <a:r>
              <a:rPr lang="de-AT" noProof="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95248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EBA797-090D-0E17-2222-C756518574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A9FED038-D188-0339-B0A4-B4EEE6A35783}"/>
              </a:ext>
            </a:extLst>
          </p:cNvPr>
          <p:cNvSpPr/>
          <p:nvPr/>
        </p:nvSpPr>
        <p:spPr>
          <a:xfrm>
            <a:off x="357308" y="2438400"/>
            <a:ext cx="1447844" cy="2011680"/>
          </a:xfrm>
          <a:prstGeom prst="roundRect">
            <a:avLst/>
          </a:prstGeom>
          <a:noFill/>
          <a:ln w="57150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r>
              <a:rPr lang="de-AT" b="0" noProof="0" dirty="0">
                <a:latin typeface="Calibri"/>
              </a:rPr>
              <a:t>WhatsApp</a:t>
            </a:r>
          </a:p>
          <a:p>
            <a:pPr algn="ctr"/>
            <a:r>
              <a:rPr lang="de-AT" b="0" noProof="0" dirty="0">
                <a:latin typeface="Calibri"/>
              </a:rPr>
              <a:t>Telegram</a:t>
            </a:r>
          </a:p>
          <a:p>
            <a:pPr algn="ctr"/>
            <a:r>
              <a:rPr lang="de-AT" b="0" noProof="0" dirty="0">
                <a:latin typeface="Calibri"/>
              </a:rPr>
              <a:t>Discord</a:t>
            </a:r>
          </a:p>
          <a:p>
            <a:pPr algn="ctr"/>
            <a:r>
              <a:rPr lang="de-AT" noProof="0" dirty="0">
                <a:latin typeface="Calibri"/>
              </a:rPr>
              <a:t>WeChat</a:t>
            </a:r>
          </a:p>
          <a:p>
            <a:pPr algn="ctr"/>
            <a:r>
              <a:rPr lang="de-AT" b="0" noProof="0" dirty="0">
                <a:latin typeface="Calibri"/>
              </a:rPr>
              <a:t>QQ</a:t>
            </a:r>
          </a:p>
          <a:p>
            <a:pPr algn="ctr"/>
            <a:r>
              <a:rPr lang="de-AT" b="0" noProof="0" dirty="0">
                <a:latin typeface="Calibri"/>
              </a:rPr>
              <a:t>Web UI</a:t>
            </a:r>
          </a:p>
          <a:p>
            <a:pPr algn="ctr"/>
            <a:r>
              <a:rPr lang="de-AT" noProof="0" dirty="0">
                <a:latin typeface="Calibri"/>
              </a:rPr>
              <a:t>…</a:t>
            </a:r>
            <a:endParaRPr lang="de-AT" b="0" noProof="0" dirty="0">
              <a:latin typeface="Calibri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B9CBF844-2E81-200E-520D-246914B72D0E}"/>
              </a:ext>
            </a:extLst>
          </p:cNvPr>
          <p:cNvSpPr/>
          <p:nvPr/>
        </p:nvSpPr>
        <p:spPr>
          <a:xfrm>
            <a:off x="2422154" y="2815459"/>
            <a:ext cx="1288612" cy="544698"/>
          </a:xfrm>
          <a:prstGeom prst="roundRect">
            <a:avLst/>
          </a:prstGeom>
          <a:noFill/>
          <a:ln w="57150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r>
              <a:rPr lang="de-AT" noProof="0" dirty="0"/>
              <a:t>OpenClaw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DAEFF669-EA5E-555C-6273-6ED30F894C57}"/>
              </a:ext>
            </a:extLst>
          </p:cNvPr>
          <p:cNvSpPr/>
          <p:nvPr/>
        </p:nvSpPr>
        <p:spPr>
          <a:xfrm>
            <a:off x="7748752" y="2438400"/>
            <a:ext cx="1037940" cy="2011680"/>
          </a:xfrm>
          <a:prstGeom prst="roundRect">
            <a:avLst/>
          </a:prstGeom>
          <a:noFill/>
          <a:ln w="57150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r>
              <a:rPr lang="de-AT" b="0" noProof="0" dirty="0">
                <a:latin typeface="Calibri"/>
              </a:rPr>
              <a:t>Claude</a:t>
            </a:r>
          </a:p>
          <a:p>
            <a:pPr algn="ctr"/>
            <a:r>
              <a:rPr lang="de-AT" b="0" noProof="0" dirty="0">
                <a:latin typeface="Calibri"/>
              </a:rPr>
              <a:t>GPT</a:t>
            </a:r>
          </a:p>
          <a:p>
            <a:pPr algn="ctr"/>
            <a:r>
              <a:rPr lang="de-AT" b="0" noProof="0" dirty="0">
                <a:latin typeface="Calibri"/>
              </a:rPr>
              <a:t>Gemini</a:t>
            </a:r>
          </a:p>
          <a:p>
            <a:pPr algn="ctr"/>
            <a:r>
              <a:rPr lang="de-AT" noProof="0" dirty="0">
                <a:latin typeface="Calibri"/>
              </a:rPr>
              <a:t>…</a:t>
            </a:r>
            <a:endParaRPr lang="de-AT" b="0" noProof="0" dirty="0">
              <a:latin typeface="Calibri"/>
            </a:endParaRPr>
          </a:p>
        </p:txBody>
      </p:sp>
      <p:pic>
        <p:nvPicPr>
          <p:cNvPr id="1026" name="Picture 2" descr="Man ">
            <a:extLst>
              <a:ext uri="{FF2B5EF4-FFF2-40B4-BE49-F238E27FC236}">
                <a16:creationId xmlns:a16="http://schemas.microsoft.com/office/drawing/2014/main" id="{B53824B5-7A47-C110-5B1E-8DC6FD80A2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892" y="1077685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Big data ">
            <a:extLst>
              <a:ext uri="{FF2B5EF4-FFF2-40B4-BE49-F238E27FC236}">
                <a16:creationId xmlns:a16="http://schemas.microsoft.com/office/drawing/2014/main" id="{53C62C1D-CA68-1AF8-EEEC-267C381DDC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8122" y="1219200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58ACA526-93D1-4008-4576-8BC2C290A77A}"/>
              </a:ext>
            </a:extLst>
          </p:cNvPr>
          <p:cNvSpPr txBox="1"/>
          <p:nvPr/>
        </p:nvSpPr>
        <p:spPr>
          <a:xfrm>
            <a:off x="2283553" y="3370589"/>
            <a:ext cx="15658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AT" noProof="0" dirty="0"/>
              <a:t>Runs </a:t>
            </a:r>
            <a:r>
              <a:rPr lang="de-AT" noProof="0" dirty="0" err="1"/>
              <a:t>locally</a:t>
            </a:r>
            <a:r>
              <a:rPr lang="de-AT" noProof="0" dirty="0"/>
              <a:t> </a:t>
            </a:r>
          </a:p>
          <a:p>
            <a:pPr algn="ctr"/>
            <a:r>
              <a:rPr lang="de-AT" noProof="0" dirty="0"/>
              <a:t>on </a:t>
            </a:r>
            <a:r>
              <a:rPr lang="de-AT" noProof="0" dirty="0" err="1"/>
              <a:t>your</a:t>
            </a:r>
            <a:r>
              <a:rPr lang="de-AT" noProof="0" dirty="0"/>
              <a:t> </a:t>
            </a:r>
            <a:r>
              <a:rPr lang="de-AT" noProof="0" dirty="0" err="1"/>
              <a:t>device</a:t>
            </a:r>
            <a:endParaRPr lang="de-AT" noProof="0" dirty="0">
              <a:latin typeface="Calibri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A34E702-74F5-64C6-EA4A-5B67F5426A24}"/>
              </a:ext>
            </a:extLst>
          </p:cNvPr>
          <p:cNvSpPr txBox="1"/>
          <p:nvPr/>
        </p:nvSpPr>
        <p:spPr>
          <a:xfrm>
            <a:off x="7476297" y="4530221"/>
            <a:ext cx="14010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noProof="0" dirty="0"/>
              <a:t>Cloud / </a:t>
            </a:r>
            <a:r>
              <a:rPr lang="de-AT" noProof="0" dirty="0" err="1"/>
              <a:t>Local</a:t>
            </a:r>
            <a:endParaRPr lang="de-AT" noProof="0" dirty="0">
              <a:latin typeface="Calibri"/>
            </a:endParaRPr>
          </a:p>
        </p:txBody>
      </p:sp>
      <p:cxnSp>
        <p:nvCxnSpPr>
          <p:cNvPr id="2" name="直接箭头连接符 1">
            <a:extLst>
              <a:ext uri="{FF2B5EF4-FFF2-40B4-BE49-F238E27FC236}">
                <a16:creationId xmlns:a16="http://schemas.microsoft.com/office/drawing/2014/main" id="{E1BF1400-1457-9A23-7BC2-4FE72C341E25}"/>
              </a:ext>
            </a:extLst>
          </p:cNvPr>
          <p:cNvCxnSpPr/>
          <p:nvPr/>
        </p:nvCxnSpPr>
        <p:spPr>
          <a:xfrm>
            <a:off x="1882198" y="2963918"/>
            <a:ext cx="4572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B2575147-3366-925E-6787-D8FC9EE60BB8}"/>
              </a:ext>
            </a:extLst>
          </p:cNvPr>
          <p:cNvCxnSpPr>
            <a:cxnSpLocks/>
          </p:cNvCxnSpPr>
          <p:nvPr/>
        </p:nvCxnSpPr>
        <p:spPr>
          <a:xfrm>
            <a:off x="3837401" y="2963918"/>
            <a:ext cx="373793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" name="Rounded Rectangle 3">
            <a:extLst>
              <a:ext uri="{FF2B5EF4-FFF2-40B4-BE49-F238E27FC236}">
                <a16:creationId xmlns:a16="http://schemas.microsoft.com/office/drawing/2014/main" id="{A1A93930-A7D5-2F2A-6F73-833D081D8B36}"/>
              </a:ext>
            </a:extLst>
          </p:cNvPr>
          <p:cNvSpPr/>
          <p:nvPr/>
        </p:nvSpPr>
        <p:spPr>
          <a:xfrm>
            <a:off x="1951027" y="2302578"/>
            <a:ext cx="1115432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noProof="0" dirty="0" err="1"/>
              <a:t>message</a:t>
            </a:r>
            <a:endParaRPr lang="de-AT" noProof="0" dirty="0"/>
          </a:p>
        </p:txBody>
      </p:sp>
      <p:sp>
        <p:nvSpPr>
          <p:cNvPr id="11" name="Rounded Rectangle 3">
            <a:extLst>
              <a:ext uri="{FF2B5EF4-FFF2-40B4-BE49-F238E27FC236}">
                <a16:creationId xmlns:a16="http://schemas.microsoft.com/office/drawing/2014/main" id="{3D9DB5C4-F436-BC87-7233-B08B760D0298}"/>
              </a:ext>
            </a:extLst>
          </p:cNvPr>
          <p:cNvSpPr/>
          <p:nvPr/>
        </p:nvSpPr>
        <p:spPr>
          <a:xfrm>
            <a:off x="5519827" y="2302578"/>
            <a:ext cx="1115432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noProof="0" dirty="0" err="1"/>
              <a:t>message</a:t>
            </a:r>
            <a:endParaRPr lang="de-AT" noProof="0" dirty="0"/>
          </a:p>
        </p:txBody>
      </p:sp>
      <p:sp>
        <p:nvSpPr>
          <p:cNvPr id="12" name="Rounded Rectangle 3">
            <a:extLst>
              <a:ext uri="{FF2B5EF4-FFF2-40B4-BE49-F238E27FC236}">
                <a16:creationId xmlns:a16="http://schemas.microsoft.com/office/drawing/2014/main" id="{57A9D9EF-2A51-5550-5A70-C1823EB8FEF3}"/>
              </a:ext>
            </a:extLst>
          </p:cNvPr>
          <p:cNvSpPr/>
          <p:nvPr/>
        </p:nvSpPr>
        <p:spPr>
          <a:xfrm>
            <a:off x="5519827" y="1568669"/>
            <a:ext cx="1115432" cy="657077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noProof="0" dirty="0"/>
              <a:t>System prompt</a:t>
            </a:r>
          </a:p>
        </p:txBody>
      </p:sp>
      <p:sp>
        <p:nvSpPr>
          <p:cNvPr id="7" name="对话气泡: 圆角矩形 6">
            <a:extLst>
              <a:ext uri="{FF2B5EF4-FFF2-40B4-BE49-F238E27FC236}">
                <a16:creationId xmlns:a16="http://schemas.microsoft.com/office/drawing/2014/main" id="{DC4C5333-F00C-92FF-47C4-B6E509751472}"/>
              </a:ext>
            </a:extLst>
          </p:cNvPr>
          <p:cNvSpPr/>
          <p:nvPr/>
        </p:nvSpPr>
        <p:spPr>
          <a:xfrm>
            <a:off x="4183227" y="656300"/>
            <a:ext cx="2108528" cy="646331"/>
          </a:xfrm>
          <a:prstGeom prst="wedgeRoundRectCallout">
            <a:avLst>
              <a:gd name="adj1" fmla="val 30602"/>
              <a:gd name="adj2" fmla="val 84087"/>
              <a:gd name="adj3" fmla="val 16667"/>
            </a:avLst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noProof="0" dirty="0" err="1"/>
              <a:t>When</a:t>
            </a:r>
            <a:r>
              <a:rPr lang="de-AT" noProof="0" dirty="0"/>
              <a:t> </a:t>
            </a:r>
            <a:r>
              <a:rPr lang="de-AT" noProof="0" dirty="0" err="1"/>
              <a:t>to</a:t>
            </a:r>
            <a:r>
              <a:rPr lang="de-AT" noProof="0" dirty="0"/>
              <a:t> </a:t>
            </a:r>
            <a:r>
              <a:rPr lang="de-AT" noProof="0" dirty="0" err="1"/>
              <a:t>use</a:t>
            </a:r>
            <a:r>
              <a:rPr lang="de-AT" noProof="0" dirty="0"/>
              <a:t> </a:t>
            </a:r>
            <a:r>
              <a:rPr lang="de-AT" noProof="0" dirty="0" err="1"/>
              <a:t>which</a:t>
            </a:r>
            <a:r>
              <a:rPr lang="de-AT" noProof="0" dirty="0"/>
              <a:t> </a:t>
            </a:r>
            <a:r>
              <a:rPr lang="de-AT" noProof="0" dirty="0" err="1"/>
              <a:t>tool</a:t>
            </a:r>
            <a:r>
              <a:rPr lang="de-AT" noProof="0" dirty="0"/>
              <a:t> </a:t>
            </a:r>
            <a:r>
              <a:rPr lang="de-AT" noProof="0" dirty="0" err="1"/>
              <a:t>or</a:t>
            </a:r>
            <a:r>
              <a:rPr lang="de-AT" noProof="0" dirty="0"/>
              <a:t> </a:t>
            </a:r>
            <a:r>
              <a:rPr lang="de-AT" noProof="0" dirty="0" err="1"/>
              <a:t>command</a:t>
            </a:r>
            <a:endParaRPr lang="de-AT" noProof="0" dirty="0"/>
          </a:p>
        </p:txBody>
      </p:sp>
    </p:spTree>
    <p:extLst>
      <p:ext uri="{BB962C8B-B14F-4D97-AF65-F5344CB8AC3E}">
        <p14:creationId xmlns:p14="http://schemas.microsoft.com/office/powerpoint/2010/main" val="10468328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C6F4D5-5FF8-5160-5E7B-E7F02BB5DC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C76C0BB1-753B-6B4C-21C3-B4F52127F1EA}"/>
              </a:ext>
            </a:extLst>
          </p:cNvPr>
          <p:cNvSpPr/>
          <p:nvPr/>
        </p:nvSpPr>
        <p:spPr>
          <a:xfrm>
            <a:off x="357308" y="2438400"/>
            <a:ext cx="1447844" cy="2011680"/>
          </a:xfrm>
          <a:prstGeom prst="roundRect">
            <a:avLst/>
          </a:prstGeom>
          <a:noFill/>
          <a:ln w="57150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r>
              <a:rPr lang="de-AT" b="0" noProof="0" dirty="0">
                <a:latin typeface="Calibri"/>
              </a:rPr>
              <a:t>WhatsApp</a:t>
            </a:r>
          </a:p>
          <a:p>
            <a:pPr algn="ctr"/>
            <a:r>
              <a:rPr lang="de-AT" b="0" noProof="0" dirty="0">
                <a:latin typeface="Calibri"/>
              </a:rPr>
              <a:t>Telegram</a:t>
            </a:r>
          </a:p>
          <a:p>
            <a:pPr algn="ctr"/>
            <a:r>
              <a:rPr lang="de-AT" b="0" noProof="0" dirty="0">
                <a:latin typeface="Calibri"/>
              </a:rPr>
              <a:t>Discord</a:t>
            </a:r>
          </a:p>
          <a:p>
            <a:pPr algn="ctr"/>
            <a:r>
              <a:rPr lang="de-AT" noProof="0" dirty="0">
                <a:latin typeface="Calibri"/>
              </a:rPr>
              <a:t>WeChat</a:t>
            </a:r>
          </a:p>
          <a:p>
            <a:pPr algn="ctr"/>
            <a:r>
              <a:rPr lang="de-AT" b="0" noProof="0" dirty="0">
                <a:latin typeface="Calibri"/>
              </a:rPr>
              <a:t>QQ</a:t>
            </a:r>
          </a:p>
          <a:p>
            <a:pPr algn="ctr"/>
            <a:r>
              <a:rPr lang="de-AT" b="0" noProof="0" dirty="0">
                <a:latin typeface="Calibri"/>
              </a:rPr>
              <a:t>Web UI</a:t>
            </a:r>
          </a:p>
          <a:p>
            <a:pPr algn="ctr"/>
            <a:r>
              <a:rPr lang="de-AT" noProof="0" dirty="0">
                <a:latin typeface="Calibri"/>
              </a:rPr>
              <a:t>…</a:t>
            </a:r>
            <a:endParaRPr lang="de-AT" b="0" noProof="0" dirty="0">
              <a:latin typeface="Calibri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5EBB5C1C-BC0D-3F83-322C-D127D903034F}"/>
              </a:ext>
            </a:extLst>
          </p:cNvPr>
          <p:cNvSpPr/>
          <p:nvPr/>
        </p:nvSpPr>
        <p:spPr>
          <a:xfrm>
            <a:off x="2422154" y="2815459"/>
            <a:ext cx="1288612" cy="544698"/>
          </a:xfrm>
          <a:prstGeom prst="roundRect">
            <a:avLst/>
          </a:prstGeom>
          <a:noFill/>
          <a:ln w="57150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r>
              <a:rPr lang="de-AT" noProof="0" dirty="0"/>
              <a:t>OpenClaw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1418C6EE-120D-09BA-2F61-C88B67778B30}"/>
              </a:ext>
            </a:extLst>
          </p:cNvPr>
          <p:cNvSpPr/>
          <p:nvPr/>
        </p:nvSpPr>
        <p:spPr>
          <a:xfrm>
            <a:off x="7748752" y="2438400"/>
            <a:ext cx="1037940" cy="2011680"/>
          </a:xfrm>
          <a:prstGeom prst="roundRect">
            <a:avLst/>
          </a:prstGeom>
          <a:noFill/>
          <a:ln w="57150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r>
              <a:rPr lang="de-AT" b="0" noProof="0" dirty="0">
                <a:latin typeface="Calibri"/>
              </a:rPr>
              <a:t>Claude</a:t>
            </a:r>
          </a:p>
          <a:p>
            <a:pPr algn="ctr"/>
            <a:r>
              <a:rPr lang="de-AT" b="0" noProof="0" dirty="0">
                <a:latin typeface="Calibri"/>
              </a:rPr>
              <a:t>GPT</a:t>
            </a:r>
          </a:p>
          <a:p>
            <a:pPr algn="ctr"/>
            <a:r>
              <a:rPr lang="de-AT" b="0" noProof="0" dirty="0">
                <a:latin typeface="Calibri"/>
              </a:rPr>
              <a:t>Gemini</a:t>
            </a:r>
          </a:p>
          <a:p>
            <a:pPr algn="ctr"/>
            <a:r>
              <a:rPr lang="de-AT" noProof="0" dirty="0">
                <a:latin typeface="Calibri"/>
              </a:rPr>
              <a:t>…</a:t>
            </a:r>
            <a:endParaRPr lang="de-AT" b="0" noProof="0" dirty="0">
              <a:latin typeface="Calibri"/>
            </a:endParaRPr>
          </a:p>
        </p:txBody>
      </p:sp>
      <p:pic>
        <p:nvPicPr>
          <p:cNvPr id="1026" name="Picture 2" descr="Man ">
            <a:extLst>
              <a:ext uri="{FF2B5EF4-FFF2-40B4-BE49-F238E27FC236}">
                <a16:creationId xmlns:a16="http://schemas.microsoft.com/office/drawing/2014/main" id="{A30C2AC6-63ED-81F3-1E79-3D127CFEEF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892" y="1077685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Big data ">
            <a:extLst>
              <a:ext uri="{FF2B5EF4-FFF2-40B4-BE49-F238E27FC236}">
                <a16:creationId xmlns:a16="http://schemas.microsoft.com/office/drawing/2014/main" id="{634FD54F-85EE-ED68-998C-A556EC0EDA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8122" y="1219200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53E4952F-18E1-C1E8-6022-9B36BFEF7671}"/>
              </a:ext>
            </a:extLst>
          </p:cNvPr>
          <p:cNvSpPr txBox="1"/>
          <p:nvPr/>
        </p:nvSpPr>
        <p:spPr>
          <a:xfrm>
            <a:off x="2283553" y="3370589"/>
            <a:ext cx="15658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AT" noProof="0" dirty="0"/>
              <a:t>Runs </a:t>
            </a:r>
            <a:r>
              <a:rPr lang="de-AT" noProof="0" dirty="0" err="1"/>
              <a:t>locally</a:t>
            </a:r>
            <a:r>
              <a:rPr lang="de-AT" noProof="0" dirty="0"/>
              <a:t> </a:t>
            </a:r>
          </a:p>
          <a:p>
            <a:pPr algn="ctr"/>
            <a:r>
              <a:rPr lang="de-AT" noProof="0" dirty="0"/>
              <a:t>on </a:t>
            </a:r>
            <a:r>
              <a:rPr lang="de-AT" noProof="0" dirty="0" err="1"/>
              <a:t>your</a:t>
            </a:r>
            <a:r>
              <a:rPr lang="de-AT" noProof="0" dirty="0"/>
              <a:t> </a:t>
            </a:r>
            <a:r>
              <a:rPr lang="de-AT" noProof="0" dirty="0" err="1"/>
              <a:t>device</a:t>
            </a:r>
            <a:endParaRPr lang="de-AT" noProof="0" dirty="0">
              <a:latin typeface="Calibri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94718EB-D187-40AD-A756-291D803544C5}"/>
              </a:ext>
            </a:extLst>
          </p:cNvPr>
          <p:cNvSpPr txBox="1"/>
          <p:nvPr/>
        </p:nvSpPr>
        <p:spPr>
          <a:xfrm>
            <a:off x="7476297" y="4530221"/>
            <a:ext cx="14010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noProof="0" dirty="0"/>
              <a:t>Cloud / </a:t>
            </a:r>
            <a:r>
              <a:rPr lang="de-AT" noProof="0" dirty="0" err="1"/>
              <a:t>Local</a:t>
            </a:r>
            <a:endParaRPr lang="de-AT" noProof="0" dirty="0">
              <a:latin typeface="Calibri"/>
            </a:endParaRPr>
          </a:p>
        </p:txBody>
      </p:sp>
      <p:cxnSp>
        <p:nvCxnSpPr>
          <p:cNvPr id="2" name="直接箭头连接符 1">
            <a:extLst>
              <a:ext uri="{FF2B5EF4-FFF2-40B4-BE49-F238E27FC236}">
                <a16:creationId xmlns:a16="http://schemas.microsoft.com/office/drawing/2014/main" id="{830B4744-9855-80FA-5B3F-AB2FAE926F2E}"/>
              </a:ext>
            </a:extLst>
          </p:cNvPr>
          <p:cNvCxnSpPr/>
          <p:nvPr/>
        </p:nvCxnSpPr>
        <p:spPr>
          <a:xfrm>
            <a:off x="1882198" y="2963918"/>
            <a:ext cx="4572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42C308F2-C3A6-D466-3F48-068390220AA7}"/>
              </a:ext>
            </a:extLst>
          </p:cNvPr>
          <p:cNvCxnSpPr>
            <a:cxnSpLocks/>
          </p:cNvCxnSpPr>
          <p:nvPr/>
        </p:nvCxnSpPr>
        <p:spPr>
          <a:xfrm>
            <a:off x="3837401" y="2963918"/>
            <a:ext cx="373793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" name="Rounded Rectangle 3">
            <a:extLst>
              <a:ext uri="{FF2B5EF4-FFF2-40B4-BE49-F238E27FC236}">
                <a16:creationId xmlns:a16="http://schemas.microsoft.com/office/drawing/2014/main" id="{11AD7D3F-2368-2431-CDE1-45913DC1A59B}"/>
              </a:ext>
            </a:extLst>
          </p:cNvPr>
          <p:cNvSpPr/>
          <p:nvPr/>
        </p:nvSpPr>
        <p:spPr>
          <a:xfrm>
            <a:off x="1951027" y="2302578"/>
            <a:ext cx="1115432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noProof="0" dirty="0" err="1"/>
              <a:t>message</a:t>
            </a:r>
            <a:endParaRPr lang="de-AT" noProof="0" dirty="0"/>
          </a:p>
        </p:txBody>
      </p:sp>
      <p:sp>
        <p:nvSpPr>
          <p:cNvPr id="11" name="Rounded Rectangle 3">
            <a:extLst>
              <a:ext uri="{FF2B5EF4-FFF2-40B4-BE49-F238E27FC236}">
                <a16:creationId xmlns:a16="http://schemas.microsoft.com/office/drawing/2014/main" id="{5E72FDD9-A4E1-93F5-5464-579C7E906ABF}"/>
              </a:ext>
            </a:extLst>
          </p:cNvPr>
          <p:cNvSpPr/>
          <p:nvPr/>
        </p:nvSpPr>
        <p:spPr>
          <a:xfrm>
            <a:off x="5519827" y="2302578"/>
            <a:ext cx="1115432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noProof="0" dirty="0" err="1"/>
              <a:t>message</a:t>
            </a:r>
            <a:endParaRPr lang="de-AT" noProof="0" dirty="0"/>
          </a:p>
        </p:txBody>
      </p:sp>
      <p:sp>
        <p:nvSpPr>
          <p:cNvPr id="12" name="Rounded Rectangle 3">
            <a:extLst>
              <a:ext uri="{FF2B5EF4-FFF2-40B4-BE49-F238E27FC236}">
                <a16:creationId xmlns:a16="http://schemas.microsoft.com/office/drawing/2014/main" id="{E9986A4B-26DA-4FC0-787A-88DB0995E2BF}"/>
              </a:ext>
            </a:extLst>
          </p:cNvPr>
          <p:cNvSpPr/>
          <p:nvPr/>
        </p:nvSpPr>
        <p:spPr>
          <a:xfrm>
            <a:off x="5519827" y="1568669"/>
            <a:ext cx="1115432" cy="657077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noProof="0" dirty="0"/>
              <a:t>System prompt</a:t>
            </a:r>
          </a:p>
        </p:txBody>
      </p:sp>
      <p:sp>
        <p:nvSpPr>
          <p:cNvPr id="7" name="对话气泡: 圆角矩形 6">
            <a:extLst>
              <a:ext uri="{FF2B5EF4-FFF2-40B4-BE49-F238E27FC236}">
                <a16:creationId xmlns:a16="http://schemas.microsoft.com/office/drawing/2014/main" id="{0DFD2071-F1D5-EEF6-EA34-2FC1C97601D5}"/>
              </a:ext>
            </a:extLst>
          </p:cNvPr>
          <p:cNvSpPr/>
          <p:nvPr/>
        </p:nvSpPr>
        <p:spPr>
          <a:xfrm>
            <a:off x="4183227" y="656300"/>
            <a:ext cx="2108528" cy="646331"/>
          </a:xfrm>
          <a:prstGeom prst="wedgeRoundRectCallout">
            <a:avLst>
              <a:gd name="adj1" fmla="val 30602"/>
              <a:gd name="adj2" fmla="val 84087"/>
              <a:gd name="adj3" fmla="val 16667"/>
            </a:avLst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noProof="0" dirty="0" err="1"/>
              <a:t>When</a:t>
            </a:r>
            <a:r>
              <a:rPr lang="de-AT" noProof="0" dirty="0"/>
              <a:t> </a:t>
            </a:r>
            <a:r>
              <a:rPr lang="de-AT" noProof="0" dirty="0" err="1"/>
              <a:t>to</a:t>
            </a:r>
            <a:r>
              <a:rPr lang="de-AT" noProof="0" dirty="0"/>
              <a:t> </a:t>
            </a:r>
            <a:r>
              <a:rPr lang="de-AT" noProof="0" dirty="0" err="1"/>
              <a:t>use</a:t>
            </a:r>
            <a:r>
              <a:rPr lang="de-AT" noProof="0" dirty="0"/>
              <a:t> </a:t>
            </a:r>
            <a:r>
              <a:rPr lang="de-AT" noProof="0" dirty="0" err="1"/>
              <a:t>which</a:t>
            </a:r>
            <a:r>
              <a:rPr lang="de-AT" noProof="0" dirty="0"/>
              <a:t> </a:t>
            </a:r>
            <a:r>
              <a:rPr lang="de-AT" noProof="0" dirty="0" err="1"/>
              <a:t>tool</a:t>
            </a:r>
            <a:r>
              <a:rPr lang="de-AT" noProof="0" dirty="0"/>
              <a:t> </a:t>
            </a:r>
            <a:r>
              <a:rPr lang="de-AT" noProof="0" dirty="0" err="1"/>
              <a:t>or</a:t>
            </a:r>
            <a:r>
              <a:rPr lang="de-AT" noProof="0" dirty="0"/>
              <a:t> </a:t>
            </a:r>
            <a:r>
              <a:rPr lang="de-AT" noProof="0" dirty="0" err="1"/>
              <a:t>command</a:t>
            </a:r>
            <a:endParaRPr lang="de-AT" noProof="0" dirty="0"/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5F2582DB-8C73-18B9-1FB6-0989788AD8EE}"/>
              </a:ext>
            </a:extLst>
          </p:cNvPr>
          <p:cNvCxnSpPr>
            <a:cxnSpLocks/>
          </p:cNvCxnSpPr>
          <p:nvPr/>
        </p:nvCxnSpPr>
        <p:spPr>
          <a:xfrm flipH="1">
            <a:off x="3837401" y="3213719"/>
            <a:ext cx="373793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07715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8AAC9D-B836-A4DD-8E71-DF20759114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518CB76F-D1DF-B1F7-980A-74E7AD7C4BCE}"/>
              </a:ext>
            </a:extLst>
          </p:cNvPr>
          <p:cNvSpPr/>
          <p:nvPr/>
        </p:nvSpPr>
        <p:spPr>
          <a:xfrm>
            <a:off x="357308" y="2438400"/>
            <a:ext cx="1447844" cy="2011680"/>
          </a:xfrm>
          <a:prstGeom prst="roundRect">
            <a:avLst/>
          </a:prstGeom>
          <a:noFill/>
          <a:ln w="57150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r>
              <a:rPr lang="de-AT" b="0" noProof="0" dirty="0">
                <a:latin typeface="Calibri"/>
              </a:rPr>
              <a:t>WhatsApp</a:t>
            </a:r>
          </a:p>
          <a:p>
            <a:pPr algn="ctr"/>
            <a:r>
              <a:rPr lang="de-AT" b="0" noProof="0" dirty="0">
                <a:latin typeface="Calibri"/>
              </a:rPr>
              <a:t>Telegram</a:t>
            </a:r>
          </a:p>
          <a:p>
            <a:pPr algn="ctr"/>
            <a:r>
              <a:rPr lang="de-AT" b="0" noProof="0" dirty="0">
                <a:latin typeface="Calibri"/>
              </a:rPr>
              <a:t>Discord</a:t>
            </a:r>
          </a:p>
          <a:p>
            <a:pPr algn="ctr"/>
            <a:r>
              <a:rPr lang="de-AT" noProof="0" dirty="0">
                <a:latin typeface="Calibri"/>
              </a:rPr>
              <a:t>WeChat</a:t>
            </a:r>
          </a:p>
          <a:p>
            <a:pPr algn="ctr"/>
            <a:r>
              <a:rPr lang="de-AT" b="0" noProof="0" dirty="0">
                <a:latin typeface="Calibri"/>
              </a:rPr>
              <a:t>QQ</a:t>
            </a:r>
          </a:p>
          <a:p>
            <a:pPr algn="ctr"/>
            <a:r>
              <a:rPr lang="de-AT" b="0" noProof="0" dirty="0">
                <a:latin typeface="Calibri"/>
              </a:rPr>
              <a:t>Web UI</a:t>
            </a:r>
          </a:p>
          <a:p>
            <a:pPr algn="ctr"/>
            <a:r>
              <a:rPr lang="de-AT" noProof="0" dirty="0">
                <a:latin typeface="Calibri"/>
              </a:rPr>
              <a:t>…</a:t>
            </a:r>
            <a:endParaRPr lang="de-AT" b="0" noProof="0" dirty="0">
              <a:latin typeface="Calibri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BCC2C056-4C58-3A6D-5F47-C05B03EF4155}"/>
              </a:ext>
            </a:extLst>
          </p:cNvPr>
          <p:cNvSpPr/>
          <p:nvPr/>
        </p:nvSpPr>
        <p:spPr>
          <a:xfrm>
            <a:off x="2422154" y="2815459"/>
            <a:ext cx="1288612" cy="544698"/>
          </a:xfrm>
          <a:prstGeom prst="roundRect">
            <a:avLst/>
          </a:prstGeom>
          <a:noFill/>
          <a:ln w="57150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r>
              <a:rPr lang="de-AT" noProof="0" dirty="0"/>
              <a:t>OpenClaw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1E7C35E1-A7B6-4DFE-B130-D1A854462551}"/>
              </a:ext>
            </a:extLst>
          </p:cNvPr>
          <p:cNvSpPr/>
          <p:nvPr/>
        </p:nvSpPr>
        <p:spPr>
          <a:xfrm>
            <a:off x="7748752" y="2438400"/>
            <a:ext cx="1037940" cy="2011680"/>
          </a:xfrm>
          <a:prstGeom prst="roundRect">
            <a:avLst/>
          </a:prstGeom>
          <a:noFill/>
          <a:ln w="57150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r>
              <a:rPr lang="de-AT" b="0" noProof="0" dirty="0">
                <a:latin typeface="Calibri"/>
              </a:rPr>
              <a:t>Claude</a:t>
            </a:r>
          </a:p>
          <a:p>
            <a:pPr algn="ctr"/>
            <a:r>
              <a:rPr lang="de-AT" b="0" noProof="0" dirty="0">
                <a:latin typeface="Calibri"/>
              </a:rPr>
              <a:t>GPT</a:t>
            </a:r>
          </a:p>
          <a:p>
            <a:pPr algn="ctr"/>
            <a:r>
              <a:rPr lang="de-AT" b="0" noProof="0" dirty="0">
                <a:latin typeface="Calibri"/>
              </a:rPr>
              <a:t>Gemini</a:t>
            </a:r>
          </a:p>
          <a:p>
            <a:pPr algn="ctr"/>
            <a:r>
              <a:rPr lang="de-AT" noProof="0" dirty="0">
                <a:latin typeface="Calibri"/>
              </a:rPr>
              <a:t>…</a:t>
            </a:r>
            <a:endParaRPr lang="de-AT" b="0" noProof="0" dirty="0">
              <a:latin typeface="Calibri"/>
            </a:endParaRPr>
          </a:p>
        </p:txBody>
      </p:sp>
      <p:pic>
        <p:nvPicPr>
          <p:cNvPr id="1026" name="Picture 2" descr="Man ">
            <a:extLst>
              <a:ext uri="{FF2B5EF4-FFF2-40B4-BE49-F238E27FC236}">
                <a16:creationId xmlns:a16="http://schemas.microsoft.com/office/drawing/2014/main" id="{B2F1AD1E-BD4B-C75E-42D0-130339489E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892" y="1077685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Big data ">
            <a:extLst>
              <a:ext uri="{FF2B5EF4-FFF2-40B4-BE49-F238E27FC236}">
                <a16:creationId xmlns:a16="http://schemas.microsoft.com/office/drawing/2014/main" id="{01B254D7-0679-E2EF-E4FA-BBB0C927AE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8122" y="1219200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DAD0460A-0515-59FD-FD4D-437740DD4D1F}"/>
              </a:ext>
            </a:extLst>
          </p:cNvPr>
          <p:cNvSpPr txBox="1"/>
          <p:nvPr/>
        </p:nvSpPr>
        <p:spPr>
          <a:xfrm>
            <a:off x="2283553" y="3370589"/>
            <a:ext cx="15658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AT" noProof="0" dirty="0"/>
              <a:t>Runs </a:t>
            </a:r>
            <a:r>
              <a:rPr lang="de-AT" noProof="0" dirty="0" err="1"/>
              <a:t>locally</a:t>
            </a:r>
            <a:r>
              <a:rPr lang="de-AT" noProof="0" dirty="0"/>
              <a:t> </a:t>
            </a:r>
          </a:p>
          <a:p>
            <a:pPr algn="ctr"/>
            <a:r>
              <a:rPr lang="de-AT" noProof="0" dirty="0"/>
              <a:t>on </a:t>
            </a:r>
            <a:r>
              <a:rPr lang="de-AT" noProof="0" dirty="0" err="1"/>
              <a:t>your</a:t>
            </a:r>
            <a:r>
              <a:rPr lang="de-AT" noProof="0" dirty="0"/>
              <a:t> </a:t>
            </a:r>
            <a:r>
              <a:rPr lang="de-AT" noProof="0" dirty="0" err="1"/>
              <a:t>device</a:t>
            </a:r>
            <a:endParaRPr lang="de-AT" noProof="0" dirty="0">
              <a:latin typeface="Calibri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3E4E33B-D3A0-180D-F598-4AE82CB1A372}"/>
              </a:ext>
            </a:extLst>
          </p:cNvPr>
          <p:cNvSpPr txBox="1"/>
          <p:nvPr/>
        </p:nvSpPr>
        <p:spPr>
          <a:xfrm>
            <a:off x="7476297" y="4530221"/>
            <a:ext cx="14010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noProof="0" dirty="0"/>
              <a:t>Cloud / </a:t>
            </a:r>
            <a:r>
              <a:rPr lang="de-AT" noProof="0" dirty="0" err="1"/>
              <a:t>Local</a:t>
            </a:r>
            <a:endParaRPr lang="de-AT" noProof="0" dirty="0">
              <a:latin typeface="Calibri"/>
            </a:endParaRPr>
          </a:p>
        </p:txBody>
      </p:sp>
      <p:cxnSp>
        <p:nvCxnSpPr>
          <p:cNvPr id="2" name="直接箭头连接符 1">
            <a:extLst>
              <a:ext uri="{FF2B5EF4-FFF2-40B4-BE49-F238E27FC236}">
                <a16:creationId xmlns:a16="http://schemas.microsoft.com/office/drawing/2014/main" id="{55147DE8-D771-B253-F309-16A04929131E}"/>
              </a:ext>
            </a:extLst>
          </p:cNvPr>
          <p:cNvCxnSpPr/>
          <p:nvPr/>
        </p:nvCxnSpPr>
        <p:spPr>
          <a:xfrm>
            <a:off x="1882198" y="2963918"/>
            <a:ext cx="4572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2E3988B4-24F9-8EC5-9474-2923D220908A}"/>
              </a:ext>
            </a:extLst>
          </p:cNvPr>
          <p:cNvCxnSpPr>
            <a:cxnSpLocks/>
          </p:cNvCxnSpPr>
          <p:nvPr/>
        </p:nvCxnSpPr>
        <p:spPr>
          <a:xfrm>
            <a:off x="3837401" y="2963918"/>
            <a:ext cx="373793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" name="Rounded Rectangle 3">
            <a:extLst>
              <a:ext uri="{FF2B5EF4-FFF2-40B4-BE49-F238E27FC236}">
                <a16:creationId xmlns:a16="http://schemas.microsoft.com/office/drawing/2014/main" id="{B4430074-E703-79D6-2364-5B48B3486EA4}"/>
              </a:ext>
            </a:extLst>
          </p:cNvPr>
          <p:cNvSpPr/>
          <p:nvPr/>
        </p:nvSpPr>
        <p:spPr>
          <a:xfrm>
            <a:off x="1951027" y="2302578"/>
            <a:ext cx="1115432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noProof="0" dirty="0" err="1"/>
              <a:t>message</a:t>
            </a:r>
            <a:endParaRPr lang="de-AT" noProof="0" dirty="0"/>
          </a:p>
        </p:txBody>
      </p:sp>
      <p:sp>
        <p:nvSpPr>
          <p:cNvPr id="11" name="Rounded Rectangle 3">
            <a:extLst>
              <a:ext uri="{FF2B5EF4-FFF2-40B4-BE49-F238E27FC236}">
                <a16:creationId xmlns:a16="http://schemas.microsoft.com/office/drawing/2014/main" id="{A00B9F9B-B7C0-85AF-ACE3-D9F4A87B77B3}"/>
              </a:ext>
            </a:extLst>
          </p:cNvPr>
          <p:cNvSpPr/>
          <p:nvPr/>
        </p:nvSpPr>
        <p:spPr>
          <a:xfrm>
            <a:off x="5519827" y="2302578"/>
            <a:ext cx="1115432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noProof="0" dirty="0" err="1"/>
              <a:t>message</a:t>
            </a:r>
            <a:endParaRPr lang="de-AT" noProof="0" dirty="0"/>
          </a:p>
        </p:txBody>
      </p:sp>
      <p:sp>
        <p:nvSpPr>
          <p:cNvPr id="12" name="Rounded Rectangle 3">
            <a:extLst>
              <a:ext uri="{FF2B5EF4-FFF2-40B4-BE49-F238E27FC236}">
                <a16:creationId xmlns:a16="http://schemas.microsoft.com/office/drawing/2014/main" id="{9C49AD40-9D3F-939B-A7C7-11B39F54C0E7}"/>
              </a:ext>
            </a:extLst>
          </p:cNvPr>
          <p:cNvSpPr/>
          <p:nvPr/>
        </p:nvSpPr>
        <p:spPr>
          <a:xfrm>
            <a:off x="5519827" y="1568669"/>
            <a:ext cx="1115432" cy="657077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noProof="0" dirty="0"/>
              <a:t>System prompt</a:t>
            </a:r>
          </a:p>
        </p:txBody>
      </p:sp>
      <p:sp>
        <p:nvSpPr>
          <p:cNvPr id="7" name="对话气泡: 圆角矩形 6">
            <a:extLst>
              <a:ext uri="{FF2B5EF4-FFF2-40B4-BE49-F238E27FC236}">
                <a16:creationId xmlns:a16="http://schemas.microsoft.com/office/drawing/2014/main" id="{BFC2A2E2-CD06-477D-6945-C337FF25559E}"/>
              </a:ext>
            </a:extLst>
          </p:cNvPr>
          <p:cNvSpPr/>
          <p:nvPr/>
        </p:nvSpPr>
        <p:spPr>
          <a:xfrm>
            <a:off x="4183227" y="656300"/>
            <a:ext cx="2108528" cy="646331"/>
          </a:xfrm>
          <a:prstGeom prst="wedgeRoundRectCallout">
            <a:avLst>
              <a:gd name="adj1" fmla="val 30602"/>
              <a:gd name="adj2" fmla="val 84087"/>
              <a:gd name="adj3" fmla="val 16667"/>
            </a:avLst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noProof="0" dirty="0" err="1"/>
              <a:t>When</a:t>
            </a:r>
            <a:r>
              <a:rPr lang="de-AT" noProof="0" dirty="0"/>
              <a:t> </a:t>
            </a:r>
            <a:r>
              <a:rPr lang="de-AT" noProof="0" dirty="0" err="1"/>
              <a:t>to</a:t>
            </a:r>
            <a:r>
              <a:rPr lang="de-AT" noProof="0" dirty="0"/>
              <a:t> </a:t>
            </a:r>
            <a:r>
              <a:rPr lang="de-AT" noProof="0" dirty="0" err="1"/>
              <a:t>use</a:t>
            </a:r>
            <a:r>
              <a:rPr lang="de-AT" noProof="0" dirty="0"/>
              <a:t> </a:t>
            </a:r>
            <a:r>
              <a:rPr lang="de-AT" noProof="0" dirty="0" err="1"/>
              <a:t>which</a:t>
            </a:r>
            <a:r>
              <a:rPr lang="de-AT" noProof="0" dirty="0"/>
              <a:t> </a:t>
            </a:r>
            <a:r>
              <a:rPr lang="de-AT" noProof="0" dirty="0" err="1"/>
              <a:t>tool</a:t>
            </a:r>
            <a:r>
              <a:rPr lang="de-AT" noProof="0" dirty="0"/>
              <a:t> </a:t>
            </a:r>
            <a:r>
              <a:rPr lang="de-AT" noProof="0" dirty="0" err="1"/>
              <a:t>or</a:t>
            </a:r>
            <a:r>
              <a:rPr lang="de-AT" noProof="0" dirty="0"/>
              <a:t> </a:t>
            </a:r>
            <a:r>
              <a:rPr lang="de-AT" noProof="0" dirty="0" err="1"/>
              <a:t>command</a:t>
            </a:r>
            <a:endParaRPr lang="de-AT" noProof="0" dirty="0"/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7FDC4275-C831-7CF3-7494-25B934F95253}"/>
              </a:ext>
            </a:extLst>
          </p:cNvPr>
          <p:cNvCxnSpPr>
            <a:cxnSpLocks/>
          </p:cNvCxnSpPr>
          <p:nvPr/>
        </p:nvCxnSpPr>
        <p:spPr>
          <a:xfrm flipH="1">
            <a:off x="3837401" y="3213719"/>
            <a:ext cx="373793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B448FAE2-D8DB-32E9-596B-35526DAE61C7}"/>
              </a:ext>
            </a:extLst>
          </p:cNvPr>
          <p:cNvCxnSpPr>
            <a:cxnSpLocks/>
          </p:cNvCxnSpPr>
          <p:nvPr/>
        </p:nvCxnSpPr>
        <p:spPr>
          <a:xfrm>
            <a:off x="3837401" y="3523571"/>
            <a:ext cx="373793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3F522789-0DDE-8EED-45F7-14E80505AC22}"/>
              </a:ext>
            </a:extLst>
          </p:cNvPr>
          <p:cNvCxnSpPr>
            <a:cxnSpLocks/>
          </p:cNvCxnSpPr>
          <p:nvPr/>
        </p:nvCxnSpPr>
        <p:spPr>
          <a:xfrm flipH="1">
            <a:off x="3837401" y="3788740"/>
            <a:ext cx="373793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2754F5BF-6DD7-CC99-E77B-77E31456D23E}"/>
              </a:ext>
            </a:extLst>
          </p:cNvPr>
          <p:cNvCxnSpPr>
            <a:cxnSpLocks/>
          </p:cNvCxnSpPr>
          <p:nvPr/>
        </p:nvCxnSpPr>
        <p:spPr>
          <a:xfrm flipH="1">
            <a:off x="1882198" y="3788740"/>
            <a:ext cx="4572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70159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AEB71D-098D-C9ED-8D54-8A5506870C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A53DE7D4-025C-3697-4525-3F7B747B5499}"/>
              </a:ext>
            </a:extLst>
          </p:cNvPr>
          <p:cNvSpPr/>
          <p:nvPr/>
        </p:nvSpPr>
        <p:spPr>
          <a:xfrm>
            <a:off x="357308" y="2438400"/>
            <a:ext cx="1447844" cy="2011680"/>
          </a:xfrm>
          <a:prstGeom prst="roundRect">
            <a:avLst/>
          </a:prstGeom>
          <a:noFill/>
          <a:ln w="57150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r>
              <a:rPr lang="de-AT" b="0" noProof="0" dirty="0">
                <a:latin typeface="Calibri"/>
              </a:rPr>
              <a:t>WhatsApp</a:t>
            </a:r>
          </a:p>
          <a:p>
            <a:pPr algn="ctr"/>
            <a:r>
              <a:rPr lang="de-AT" b="0" noProof="0" dirty="0">
                <a:latin typeface="Calibri"/>
              </a:rPr>
              <a:t>Telegram</a:t>
            </a:r>
          </a:p>
          <a:p>
            <a:pPr algn="ctr"/>
            <a:r>
              <a:rPr lang="de-AT" b="0" noProof="0" dirty="0">
                <a:latin typeface="Calibri"/>
              </a:rPr>
              <a:t>Discord</a:t>
            </a:r>
          </a:p>
          <a:p>
            <a:pPr algn="ctr"/>
            <a:r>
              <a:rPr lang="de-AT" noProof="0" dirty="0">
                <a:latin typeface="Calibri"/>
              </a:rPr>
              <a:t>WeChat</a:t>
            </a:r>
          </a:p>
          <a:p>
            <a:pPr algn="ctr"/>
            <a:r>
              <a:rPr lang="de-AT" b="0" noProof="0" dirty="0">
                <a:latin typeface="Calibri"/>
              </a:rPr>
              <a:t>QQ</a:t>
            </a:r>
          </a:p>
          <a:p>
            <a:pPr algn="ctr"/>
            <a:r>
              <a:rPr lang="de-AT" b="0" noProof="0" dirty="0">
                <a:latin typeface="Calibri"/>
              </a:rPr>
              <a:t>Web UI</a:t>
            </a:r>
          </a:p>
          <a:p>
            <a:pPr algn="ctr"/>
            <a:r>
              <a:rPr lang="de-AT" noProof="0" dirty="0">
                <a:latin typeface="Calibri"/>
              </a:rPr>
              <a:t>…</a:t>
            </a:r>
            <a:endParaRPr lang="de-AT" b="0" noProof="0" dirty="0">
              <a:latin typeface="Calibri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314AB027-F516-D98E-90C5-D9BD97311C93}"/>
              </a:ext>
            </a:extLst>
          </p:cNvPr>
          <p:cNvSpPr/>
          <p:nvPr/>
        </p:nvSpPr>
        <p:spPr>
          <a:xfrm>
            <a:off x="2422154" y="2815459"/>
            <a:ext cx="1288612" cy="544698"/>
          </a:xfrm>
          <a:prstGeom prst="roundRect">
            <a:avLst/>
          </a:prstGeom>
          <a:noFill/>
          <a:ln w="57150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r>
              <a:rPr lang="de-AT" noProof="0" dirty="0"/>
              <a:t>OpenClaw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9AC8B319-91CF-5E63-4BDA-51B07D73B8E3}"/>
              </a:ext>
            </a:extLst>
          </p:cNvPr>
          <p:cNvSpPr/>
          <p:nvPr/>
        </p:nvSpPr>
        <p:spPr>
          <a:xfrm>
            <a:off x="7748752" y="2438400"/>
            <a:ext cx="1037940" cy="2011680"/>
          </a:xfrm>
          <a:prstGeom prst="roundRect">
            <a:avLst/>
          </a:prstGeom>
          <a:noFill/>
          <a:ln w="57150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r>
              <a:rPr lang="de-AT" b="0" noProof="0" dirty="0">
                <a:latin typeface="Calibri"/>
              </a:rPr>
              <a:t>Claude</a:t>
            </a:r>
          </a:p>
          <a:p>
            <a:pPr algn="ctr"/>
            <a:r>
              <a:rPr lang="de-AT" b="0" noProof="0" dirty="0">
                <a:latin typeface="Calibri"/>
              </a:rPr>
              <a:t>GPT</a:t>
            </a:r>
          </a:p>
          <a:p>
            <a:pPr algn="ctr"/>
            <a:r>
              <a:rPr lang="de-AT" b="0" noProof="0" dirty="0">
                <a:latin typeface="Calibri"/>
              </a:rPr>
              <a:t>Gemini</a:t>
            </a:r>
          </a:p>
          <a:p>
            <a:pPr algn="ctr"/>
            <a:r>
              <a:rPr lang="de-AT" noProof="0" dirty="0">
                <a:latin typeface="Calibri"/>
              </a:rPr>
              <a:t>…</a:t>
            </a:r>
            <a:endParaRPr lang="de-AT" b="0" noProof="0" dirty="0">
              <a:latin typeface="Calibri"/>
            </a:endParaRPr>
          </a:p>
        </p:txBody>
      </p:sp>
      <p:pic>
        <p:nvPicPr>
          <p:cNvPr id="1026" name="Picture 2" descr="Man ">
            <a:extLst>
              <a:ext uri="{FF2B5EF4-FFF2-40B4-BE49-F238E27FC236}">
                <a16:creationId xmlns:a16="http://schemas.microsoft.com/office/drawing/2014/main" id="{52A47BA2-7123-8CC4-9F32-13FE4641F4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892" y="1077685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Big data ">
            <a:extLst>
              <a:ext uri="{FF2B5EF4-FFF2-40B4-BE49-F238E27FC236}">
                <a16:creationId xmlns:a16="http://schemas.microsoft.com/office/drawing/2014/main" id="{06292131-909F-B5FD-D43A-47B1EB6A7A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8122" y="1219200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C41CBF46-3C05-281C-0870-2C0B2E926271}"/>
              </a:ext>
            </a:extLst>
          </p:cNvPr>
          <p:cNvSpPr txBox="1"/>
          <p:nvPr/>
        </p:nvSpPr>
        <p:spPr>
          <a:xfrm>
            <a:off x="2214762" y="4391721"/>
            <a:ext cx="15658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AT" noProof="0" dirty="0"/>
              <a:t>Runs </a:t>
            </a:r>
            <a:r>
              <a:rPr lang="de-AT" noProof="0" dirty="0" err="1"/>
              <a:t>locally</a:t>
            </a:r>
            <a:r>
              <a:rPr lang="de-AT" noProof="0" dirty="0"/>
              <a:t> </a:t>
            </a:r>
          </a:p>
          <a:p>
            <a:pPr algn="ctr"/>
            <a:r>
              <a:rPr lang="de-AT" noProof="0" dirty="0"/>
              <a:t>on </a:t>
            </a:r>
            <a:r>
              <a:rPr lang="de-AT" noProof="0" dirty="0" err="1"/>
              <a:t>your</a:t>
            </a:r>
            <a:r>
              <a:rPr lang="de-AT" noProof="0" dirty="0"/>
              <a:t> </a:t>
            </a:r>
            <a:r>
              <a:rPr lang="de-AT" noProof="0" dirty="0" err="1"/>
              <a:t>device</a:t>
            </a:r>
            <a:endParaRPr lang="de-AT" noProof="0" dirty="0">
              <a:latin typeface="Calibri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8E1E1EA-59AB-18F7-6F98-6A88CC7D0B42}"/>
              </a:ext>
            </a:extLst>
          </p:cNvPr>
          <p:cNvSpPr txBox="1"/>
          <p:nvPr/>
        </p:nvSpPr>
        <p:spPr>
          <a:xfrm>
            <a:off x="7476297" y="4530221"/>
            <a:ext cx="14010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noProof="0" dirty="0"/>
              <a:t>Cloud / </a:t>
            </a:r>
            <a:r>
              <a:rPr lang="de-AT" noProof="0" dirty="0" err="1"/>
              <a:t>Local</a:t>
            </a:r>
            <a:endParaRPr lang="de-AT" noProof="0" dirty="0">
              <a:latin typeface="Calibri"/>
            </a:endParaRPr>
          </a:p>
        </p:txBody>
      </p:sp>
      <p:cxnSp>
        <p:nvCxnSpPr>
          <p:cNvPr id="2" name="直接箭头连接符 1">
            <a:extLst>
              <a:ext uri="{FF2B5EF4-FFF2-40B4-BE49-F238E27FC236}">
                <a16:creationId xmlns:a16="http://schemas.microsoft.com/office/drawing/2014/main" id="{F6192D93-C58A-D85B-FF8E-3343C6A41C6E}"/>
              </a:ext>
            </a:extLst>
          </p:cNvPr>
          <p:cNvCxnSpPr/>
          <p:nvPr/>
        </p:nvCxnSpPr>
        <p:spPr>
          <a:xfrm>
            <a:off x="1882198" y="2963918"/>
            <a:ext cx="4572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A6A21C13-C701-D623-6C29-AA0A93BAD3B5}"/>
              </a:ext>
            </a:extLst>
          </p:cNvPr>
          <p:cNvCxnSpPr>
            <a:cxnSpLocks/>
          </p:cNvCxnSpPr>
          <p:nvPr/>
        </p:nvCxnSpPr>
        <p:spPr>
          <a:xfrm>
            <a:off x="3837401" y="2963918"/>
            <a:ext cx="373793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" name="Rounded Rectangle 3">
            <a:extLst>
              <a:ext uri="{FF2B5EF4-FFF2-40B4-BE49-F238E27FC236}">
                <a16:creationId xmlns:a16="http://schemas.microsoft.com/office/drawing/2014/main" id="{D1250E03-D63D-C9A8-3668-B6AF06D64E06}"/>
              </a:ext>
            </a:extLst>
          </p:cNvPr>
          <p:cNvSpPr/>
          <p:nvPr/>
        </p:nvSpPr>
        <p:spPr>
          <a:xfrm>
            <a:off x="1951027" y="2302578"/>
            <a:ext cx="1115432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noProof="0" dirty="0" err="1"/>
              <a:t>message</a:t>
            </a:r>
            <a:endParaRPr lang="de-AT" noProof="0" dirty="0"/>
          </a:p>
        </p:txBody>
      </p:sp>
      <p:sp>
        <p:nvSpPr>
          <p:cNvPr id="11" name="Rounded Rectangle 3">
            <a:extLst>
              <a:ext uri="{FF2B5EF4-FFF2-40B4-BE49-F238E27FC236}">
                <a16:creationId xmlns:a16="http://schemas.microsoft.com/office/drawing/2014/main" id="{98A840D1-3794-E2FA-267F-89191275134D}"/>
              </a:ext>
            </a:extLst>
          </p:cNvPr>
          <p:cNvSpPr/>
          <p:nvPr/>
        </p:nvSpPr>
        <p:spPr>
          <a:xfrm>
            <a:off x="5519827" y="2302578"/>
            <a:ext cx="1115432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noProof="0" dirty="0" err="1"/>
              <a:t>message</a:t>
            </a:r>
            <a:endParaRPr lang="de-AT" noProof="0" dirty="0"/>
          </a:p>
        </p:txBody>
      </p:sp>
      <p:sp>
        <p:nvSpPr>
          <p:cNvPr id="12" name="Rounded Rectangle 3">
            <a:extLst>
              <a:ext uri="{FF2B5EF4-FFF2-40B4-BE49-F238E27FC236}">
                <a16:creationId xmlns:a16="http://schemas.microsoft.com/office/drawing/2014/main" id="{8FB62EF6-2B56-E5F6-3C30-38F889252C8A}"/>
              </a:ext>
            </a:extLst>
          </p:cNvPr>
          <p:cNvSpPr/>
          <p:nvPr/>
        </p:nvSpPr>
        <p:spPr>
          <a:xfrm>
            <a:off x="5519827" y="1568669"/>
            <a:ext cx="1115432" cy="657077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noProof="0" dirty="0"/>
              <a:t>System prompt</a:t>
            </a:r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4C8D9C3A-719C-C096-58D6-9A9A3C2A81A6}"/>
              </a:ext>
            </a:extLst>
          </p:cNvPr>
          <p:cNvCxnSpPr>
            <a:cxnSpLocks/>
          </p:cNvCxnSpPr>
          <p:nvPr/>
        </p:nvCxnSpPr>
        <p:spPr>
          <a:xfrm flipH="1">
            <a:off x="3837401" y="3213719"/>
            <a:ext cx="373793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6E3D6225-1899-EC95-72E8-DBC6F3A9936C}"/>
              </a:ext>
            </a:extLst>
          </p:cNvPr>
          <p:cNvCxnSpPr>
            <a:cxnSpLocks/>
          </p:cNvCxnSpPr>
          <p:nvPr/>
        </p:nvCxnSpPr>
        <p:spPr>
          <a:xfrm>
            <a:off x="3837401" y="3523571"/>
            <a:ext cx="373793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EC8FA7E4-8C1F-2C15-C534-5FC15C802D89}"/>
              </a:ext>
            </a:extLst>
          </p:cNvPr>
          <p:cNvCxnSpPr>
            <a:cxnSpLocks/>
          </p:cNvCxnSpPr>
          <p:nvPr/>
        </p:nvCxnSpPr>
        <p:spPr>
          <a:xfrm flipH="1">
            <a:off x="3837401" y="3788740"/>
            <a:ext cx="373793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71C8979D-4274-8303-DDDE-67B11D8857DB}"/>
              </a:ext>
            </a:extLst>
          </p:cNvPr>
          <p:cNvCxnSpPr>
            <a:cxnSpLocks/>
          </p:cNvCxnSpPr>
          <p:nvPr/>
        </p:nvCxnSpPr>
        <p:spPr>
          <a:xfrm>
            <a:off x="2997669" y="3416988"/>
            <a:ext cx="0" cy="40966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C8FF7E56-7989-7757-FC92-5EA8F0EB9DB2}"/>
              </a:ext>
            </a:extLst>
          </p:cNvPr>
          <p:cNvSpPr txBox="1"/>
          <p:nvPr/>
        </p:nvSpPr>
        <p:spPr>
          <a:xfrm>
            <a:off x="1978573" y="3895107"/>
            <a:ext cx="2038192" cy="369332"/>
          </a:xfrm>
          <a:prstGeom prst="rect">
            <a:avLst/>
          </a:prstGeom>
          <a:noFill/>
          <a:ln w="2857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wrap="square">
            <a:spAutoFit/>
          </a:bodyPr>
          <a:lstStyle/>
          <a:p>
            <a:pPr algn="ctr"/>
            <a:r>
              <a:rPr lang="de-AT" noProof="0" dirty="0"/>
              <a:t>Code</a:t>
            </a:r>
          </a:p>
        </p:txBody>
      </p:sp>
    </p:spTree>
    <p:extLst>
      <p:ext uri="{BB962C8B-B14F-4D97-AF65-F5344CB8AC3E}">
        <p14:creationId xmlns:p14="http://schemas.microsoft.com/office/powerpoint/2010/main" val="12681064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4246E1-FB2F-D033-4EF6-BC4E303473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D5826F3F-67C2-2154-0332-3AC12E632B78}"/>
              </a:ext>
            </a:extLst>
          </p:cNvPr>
          <p:cNvSpPr/>
          <p:nvPr/>
        </p:nvSpPr>
        <p:spPr>
          <a:xfrm>
            <a:off x="357308" y="2438400"/>
            <a:ext cx="1447844" cy="2011680"/>
          </a:xfrm>
          <a:prstGeom prst="roundRect">
            <a:avLst/>
          </a:prstGeom>
          <a:noFill/>
          <a:ln w="57150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r>
              <a:rPr lang="de-AT" b="0" noProof="0" dirty="0">
                <a:latin typeface="Calibri"/>
              </a:rPr>
              <a:t>WhatsApp</a:t>
            </a:r>
          </a:p>
          <a:p>
            <a:pPr algn="ctr"/>
            <a:r>
              <a:rPr lang="de-AT" b="0" noProof="0" dirty="0">
                <a:latin typeface="Calibri"/>
              </a:rPr>
              <a:t>Telegram</a:t>
            </a:r>
          </a:p>
          <a:p>
            <a:pPr algn="ctr"/>
            <a:r>
              <a:rPr lang="de-AT" b="0" noProof="0" dirty="0">
                <a:latin typeface="Calibri"/>
              </a:rPr>
              <a:t>Discord</a:t>
            </a:r>
          </a:p>
          <a:p>
            <a:pPr algn="ctr"/>
            <a:r>
              <a:rPr lang="de-AT" noProof="0" dirty="0">
                <a:latin typeface="Calibri"/>
              </a:rPr>
              <a:t>WeChat</a:t>
            </a:r>
          </a:p>
          <a:p>
            <a:pPr algn="ctr"/>
            <a:r>
              <a:rPr lang="de-AT" b="0" noProof="0" dirty="0">
                <a:latin typeface="Calibri"/>
              </a:rPr>
              <a:t>QQ</a:t>
            </a:r>
          </a:p>
          <a:p>
            <a:pPr algn="ctr"/>
            <a:r>
              <a:rPr lang="de-AT" b="0" noProof="0" dirty="0">
                <a:latin typeface="Calibri"/>
              </a:rPr>
              <a:t>Web UI</a:t>
            </a:r>
          </a:p>
          <a:p>
            <a:pPr algn="ctr"/>
            <a:r>
              <a:rPr lang="de-AT" noProof="0" dirty="0">
                <a:latin typeface="Calibri"/>
              </a:rPr>
              <a:t>…</a:t>
            </a:r>
            <a:endParaRPr lang="de-AT" b="0" noProof="0" dirty="0">
              <a:latin typeface="Calibri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30DD9D5F-C9AF-8D99-BF85-86FD9F436301}"/>
              </a:ext>
            </a:extLst>
          </p:cNvPr>
          <p:cNvSpPr/>
          <p:nvPr/>
        </p:nvSpPr>
        <p:spPr>
          <a:xfrm>
            <a:off x="2422154" y="2815459"/>
            <a:ext cx="1288612" cy="544698"/>
          </a:xfrm>
          <a:prstGeom prst="roundRect">
            <a:avLst/>
          </a:prstGeom>
          <a:noFill/>
          <a:ln w="57150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r>
              <a:rPr lang="de-AT" noProof="0" dirty="0"/>
              <a:t>OpenClaw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73083A6F-F460-22F4-55FF-FE2A0A6D05A6}"/>
              </a:ext>
            </a:extLst>
          </p:cNvPr>
          <p:cNvSpPr/>
          <p:nvPr/>
        </p:nvSpPr>
        <p:spPr>
          <a:xfrm>
            <a:off x="7748752" y="2438400"/>
            <a:ext cx="1037940" cy="2011680"/>
          </a:xfrm>
          <a:prstGeom prst="roundRect">
            <a:avLst/>
          </a:prstGeom>
          <a:noFill/>
          <a:ln w="57150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r>
              <a:rPr lang="de-AT" b="0" noProof="0" dirty="0">
                <a:latin typeface="Calibri"/>
              </a:rPr>
              <a:t>Claude</a:t>
            </a:r>
          </a:p>
          <a:p>
            <a:pPr algn="ctr"/>
            <a:r>
              <a:rPr lang="de-AT" b="0" noProof="0" dirty="0">
                <a:latin typeface="Calibri"/>
              </a:rPr>
              <a:t>GPT</a:t>
            </a:r>
          </a:p>
          <a:p>
            <a:pPr algn="ctr"/>
            <a:r>
              <a:rPr lang="de-AT" b="0" noProof="0" dirty="0">
                <a:latin typeface="Calibri"/>
              </a:rPr>
              <a:t>Gemini</a:t>
            </a:r>
          </a:p>
          <a:p>
            <a:pPr algn="ctr"/>
            <a:r>
              <a:rPr lang="de-AT" noProof="0" dirty="0">
                <a:latin typeface="Calibri"/>
              </a:rPr>
              <a:t>…</a:t>
            </a:r>
            <a:endParaRPr lang="de-AT" b="0" noProof="0" dirty="0">
              <a:latin typeface="Calibri"/>
            </a:endParaRPr>
          </a:p>
        </p:txBody>
      </p:sp>
      <p:pic>
        <p:nvPicPr>
          <p:cNvPr id="1026" name="Picture 2" descr="Man ">
            <a:extLst>
              <a:ext uri="{FF2B5EF4-FFF2-40B4-BE49-F238E27FC236}">
                <a16:creationId xmlns:a16="http://schemas.microsoft.com/office/drawing/2014/main" id="{B8C78287-00DF-3E5E-A1FF-ED893204DD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892" y="1077685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Big data ">
            <a:extLst>
              <a:ext uri="{FF2B5EF4-FFF2-40B4-BE49-F238E27FC236}">
                <a16:creationId xmlns:a16="http://schemas.microsoft.com/office/drawing/2014/main" id="{8BBA6EB5-5B8B-157E-8E78-052DD603C4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8122" y="1219200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CCD011B8-2E2B-3AD0-7967-06D86287A596}"/>
              </a:ext>
            </a:extLst>
          </p:cNvPr>
          <p:cNvSpPr txBox="1"/>
          <p:nvPr/>
        </p:nvSpPr>
        <p:spPr>
          <a:xfrm>
            <a:off x="7476297" y="4530221"/>
            <a:ext cx="14010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noProof="0" dirty="0"/>
              <a:t>Cloud / </a:t>
            </a:r>
            <a:r>
              <a:rPr lang="de-AT" noProof="0" dirty="0" err="1"/>
              <a:t>Local</a:t>
            </a:r>
            <a:endParaRPr lang="de-AT" noProof="0" dirty="0">
              <a:latin typeface="Calibri"/>
            </a:endParaRPr>
          </a:p>
        </p:txBody>
      </p:sp>
      <p:cxnSp>
        <p:nvCxnSpPr>
          <p:cNvPr id="2" name="直接箭头连接符 1">
            <a:extLst>
              <a:ext uri="{FF2B5EF4-FFF2-40B4-BE49-F238E27FC236}">
                <a16:creationId xmlns:a16="http://schemas.microsoft.com/office/drawing/2014/main" id="{59EABF78-18EF-8451-FABF-9551F2583238}"/>
              </a:ext>
            </a:extLst>
          </p:cNvPr>
          <p:cNvCxnSpPr/>
          <p:nvPr/>
        </p:nvCxnSpPr>
        <p:spPr>
          <a:xfrm>
            <a:off x="1882198" y="2963918"/>
            <a:ext cx="4572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F6212B0A-FD05-51E0-5094-6FD101405933}"/>
              </a:ext>
            </a:extLst>
          </p:cNvPr>
          <p:cNvCxnSpPr>
            <a:cxnSpLocks/>
            <a:stCxn id="18" idx="3"/>
          </p:cNvCxnSpPr>
          <p:nvPr/>
        </p:nvCxnSpPr>
        <p:spPr>
          <a:xfrm>
            <a:off x="4679106" y="2487243"/>
            <a:ext cx="2896225" cy="47667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" name="Rounded Rectangle 3">
            <a:extLst>
              <a:ext uri="{FF2B5EF4-FFF2-40B4-BE49-F238E27FC236}">
                <a16:creationId xmlns:a16="http://schemas.microsoft.com/office/drawing/2014/main" id="{13168108-89F3-5600-93CB-71A82941CCBA}"/>
              </a:ext>
            </a:extLst>
          </p:cNvPr>
          <p:cNvSpPr/>
          <p:nvPr/>
        </p:nvSpPr>
        <p:spPr>
          <a:xfrm>
            <a:off x="1951027" y="2302578"/>
            <a:ext cx="1115432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noProof="0" dirty="0" err="1"/>
              <a:t>message</a:t>
            </a:r>
            <a:endParaRPr lang="de-AT" noProof="0" dirty="0"/>
          </a:p>
        </p:txBody>
      </p:sp>
      <p:sp>
        <p:nvSpPr>
          <p:cNvPr id="11" name="Rounded Rectangle 3">
            <a:extLst>
              <a:ext uri="{FF2B5EF4-FFF2-40B4-BE49-F238E27FC236}">
                <a16:creationId xmlns:a16="http://schemas.microsoft.com/office/drawing/2014/main" id="{46847B3C-4C40-B7A1-E3B9-589C3A48A0F1}"/>
              </a:ext>
            </a:extLst>
          </p:cNvPr>
          <p:cNvSpPr/>
          <p:nvPr/>
        </p:nvSpPr>
        <p:spPr>
          <a:xfrm>
            <a:off x="5487759" y="2127674"/>
            <a:ext cx="1115432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noProof="0" dirty="0" err="1"/>
              <a:t>message</a:t>
            </a:r>
            <a:endParaRPr lang="de-AT" noProof="0" dirty="0"/>
          </a:p>
        </p:txBody>
      </p:sp>
      <p:sp>
        <p:nvSpPr>
          <p:cNvPr id="12" name="Rounded Rectangle 3">
            <a:extLst>
              <a:ext uri="{FF2B5EF4-FFF2-40B4-BE49-F238E27FC236}">
                <a16:creationId xmlns:a16="http://schemas.microsoft.com/office/drawing/2014/main" id="{64A5F41E-2CAD-17AC-B793-2A274483D09C}"/>
              </a:ext>
            </a:extLst>
          </p:cNvPr>
          <p:cNvSpPr/>
          <p:nvPr/>
        </p:nvSpPr>
        <p:spPr>
          <a:xfrm>
            <a:off x="5487759" y="1408652"/>
            <a:ext cx="1115432" cy="657077"/>
          </a:xfrm>
          <a:prstGeom prst="round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noProof="0" dirty="0"/>
              <a:t>System prompt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FF176E12-E21E-C68A-DDA7-77CBBB4C3E0F}"/>
              </a:ext>
            </a:extLst>
          </p:cNvPr>
          <p:cNvSpPr txBox="1"/>
          <p:nvPr/>
        </p:nvSpPr>
        <p:spPr>
          <a:xfrm>
            <a:off x="1628990" y="1294630"/>
            <a:ext cx="158632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AT" noProof="0" dirty="0" err="1"/>
              <a:t>Compare</a:t>
            </a:r>
            <a:r>
              <a:rPr lang="de-AT" noProof="0" dirty="0"/>
              <a:t> Paper A and Paper B</a:t>
            </a:r>
            <a:endParaRPr lang="de-AT" noProof="0" dirty="0">
              <a:latin typeface="Calibri"/>
            </a:endParaRPr>
          </a:p>
        </p:txBody>
      </p:sp>
      <p:sp>
        <p:nvSpPr>
          <p:cNvPr id="18" name="Rounded Rectangle 3">
            <a:extLst>
              <a:ext uri="{FF2B5EF4-FFF2-40B4-BE49-F238E27FC236}">
                <a16:creationId xmlns:a16="http://schemas.microsoft.com/office/drawing/2014/main" id="{9E28A753-2485-D77B-3655-68098075879E}"/>
              </a:ext>
            </a:extLst>
          </p:cNvPr>
          <p:cNvSpPr/>
          <p:nvPr/>
        </p:nvSpPr>
        <p:spPr>
          <a:xfrm>
            <a:off x="3940689" y="2302578"/>
            <a:ext cx="738417" cy="369330"/>
          </a:xfrm>
          <a:prstGeom prst="roundRect">
            <a:avLst/>
          </a:prstGeom>
          <a:noFill/>
          <a:ln w="57150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r>
              <a:rPr lang="de-AT" noProof="0" dirty="0"/>
              <a:t>Claw</a:t>
            </a:r>
          </a:p>
        </p:txBody>
      </p:sp>
      <p:sp>
        <p:nvSpPr>
          <p:cNvPr id="19" name="Rounded Rectangle 3">
            <a:extLst>
              <a:ext uri="{FF2B5EF4-FFF2-40B4-BE49-F238E27FC236}">
                <a16:creationId xmlns:a16="http://schemas.microsoft.com/office/drawing/2014/main" id="{8C1ED200-C242-D4F7-F55E-470DACED56A5}"/>
              </a:ext>
            </a:extLst>
          </p:cNvPr>
          <p:cNvSpPr/>
          <p:nvPr/>
        </p:nvSpPr>
        <p:spPr>
          <a:xfrm>
            <a:off x="3940688" y="3360157"/>
            <a:ext cx="738417" cy="369330"/>
          </a:xfrm>
          <a:prstGeom prst="roundRect">
            <a:avLst/>
          </a:prstGeom>
          <a:noFill/>
          <a:ln w="57150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r>
              <a:rPr lang="de-AT" noProof="0" dirty="0"/>
              <a:t>Claw</a:t>
            </a:r>
          </a:p>
        </p:txBody>
      </p: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6FE8C958-3851-16B7-DA5C-3DDCB2344490}"/>
              </a:ext>
            </a:extLst>
          </p:cNvPr>
          <p:cNvCxnSpPr>
            <a:cxnSpLocks/>
            <a:stCxn id="4" idx="3"/>
            <a:endCxn id="18" idx="1"/>
          </p:cNvCxnSpPr>
          <p:nvPr/>
        </p:nvCxnSpPr>
        <p:spPr>
          <a:xfrm flipV="1">
            <a:off x="3710766" y="2487243"/>
            <a:ext cx="229923" cy="60056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3EC6D6DC-7013-09DB-FE17-7A4EA808A9B9}"/>
              </a:ext>
            </a:extLst>
          </p:cNvPr>
          <p:cNvCxnSpPr>
            <a:cxnSpLocks/>
            <a:stCxn id="4" idx="3"/>
            <a:endCxn id="19" idx="1"/>
          </p:cNvCxnSpPr>
          <p:nvPr/>
        </p:nvCxnSpPr>
        <p:spPr>
          <a:xfrm>
            <a:off x="3710766" y="3087808"/>
            <a:ext cx="229922" cy="45701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3124A5E8-FD04-402B-F0E3-5D5EC92F14A4}"/>
              </a:ext>
            </a:extLst>
          </p:cNvPr>
          <p:cNvCxnSpPr>
            <a:cxnSpLocks/>
            <a:stCxn id="19" idx="3"/>
          </p:cNvCxnSpPr>
          <p:nvPr/>
        </p:nvCxnSpPr>
        <p:spPr>
          <a:xfrm flipV="1">
            <a:off x="4679105" y="3087808"/>
            <a:ext cx="2896226" cy="45701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0" name="Rounded Rectangle 3">
            <a:extLst>
              <a:ext uri="{FF2B5EF4-FFF2-40B4-BE49-F238E27FC236}">
                <a16:creationId xmlns:a16="http://schemas.microsoft.com/office/drawing/2014/main" id="{AC14461E-C758-C900-131C-339AE4830857}"/>
              </a:ext>
            </a:extLst>
          </p:cNvPr>
          <p:cNvSpPr/>
          <p:nvPr/>
        </p:nvSpPr>
        <p:spPr>
          <a:xfrm>
            <a:off x="5487759" y="4351205"/>
            <a:ext cx="1115432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noProof="0" dirty="0" err="1"/>
              <a:t>message</a:t>
            </a:r>
            <a:endParaRPr lang="de-AT" noProof="0" dirty="0"/>
          </a:p>
        </p:txBody>
      </p:sp>
      <p:sp>
        <p:nvSpPr>
          <p:cNvPr id="31" name="Rounded Rectangle 3">
            <a:extLst>
              <a:ext uri="{FF2B5EF4-FFF2-40B4-BE49-F238E27FC236}">
                <a16:creationId xmlns:a16="http://schemas.microsoft.com/office/drawing/2014/main" id="{F453B47F-79F1-C38E-F0A9-C7FFB9260C02}"/>
              </a:ext>
            </a:extLst>
          </p:cNvPr>
          <p:cNvSpPr/>
          <p:nvPr/>
        </p:nvSpPr>
        <p:spPr>
          <a:xfrm>
            <a:off x="5487759" y="3632183"/>
            <a:ext cx="1115432" cy="657077"/>
          </a:xfrm>
          <a:prstGeom prst="round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noProof="0" dirty="0"/>
              <a:t>System prompt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37E53564-83A9-6906-C469-A5CA19A2286E}"/>
              </a:ext>
            </a:extLst>
          </p:cNvPr>
          <p:cNvSpPr txBox="1"/>
          <p:nvPr/>
        </p:nvSpPr>
        <p:spPr>
          <a:xfrm>
            <a:off x="4682888" y="990854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AT" noProof="0" dirty="0"/>
              <a:t>Read and </a:t>
            </a:r>
            <a:r>
              <a:rPr lang="de-AT" noProof="0" dirty="0" err="1"/>
              <a:t>summarise</a:t>
            </a:r>
            <a:r>
              <a:rPr lang="de-AT" noProof="0" dirty="0"/>
              <a:t> Paper A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8630CDDF-6C2B-D578-B55F-E2F51317BC35}"/>
              </a:ext>
            </a:extLst>
          </p:cNvPr>
          <p:cNvSpPr txBox="1"/>
          <p:nvPr/>
        </p:nvSpPr>
        <p:spPr>
          <a:xfrm>
            <a:off x="4682888" y="4795028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AT" noProof="0" dirty="0"/>
              <a:t>Read and </a:t>
            </a:r>
            <a:r>
              <a:rPr lang="de-AT" noProof="0" dirty="0" err="1"/>
              <a:t>summarise</a:t>
            </a:r>
            <a:r>
              <a:rPr lang="de-AT" noProof="0" dirty="0"/>
              <a:t> Paper B</a:t>
            </a:r>
          </a:p>
        </p:txBody>
      </p:sp>
    </p:spTree>
    <p:extLst>
      <p:ext uri="{BB962C8B-B14F-4D97-AF65-F5344CB8AC3E}">
        <p14:creationId xmlns:p14="http://schemas.microsoft.com/office/powerpoint/2010/main" val="27834827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E06377-CF02-41DE-3443-F8D1F08A92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D72CDCA2-3858-E447-AFE1-0F4584B9823B}"/>
              </a:ext>
            </a:extLst>
          </p:cNvPr>
          <p:cNvSpPr/>
          <p:nvPr/>
        </p:nvSpPr>
        <p:spPr>
          <a:xfrm>
            <a:off x="357308" y="2438400"/>
            <a:ext cx="1447844" cy="2011680"/>
          </a:xfrm>
          <a:prstGeom prst="roundRect">
            <a:avLst/>
          </a:prstGeom>
          <a:noFill/>
          <a:ln w="57150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r>
              <a:rPr lang="de-AT" b="0" noProof="0" dirty="0">
                <a:latin typeface="Calibri"/>
              </a:rPr>
              <a:t>WhatsApp</a:t>
            </a:r>
          </a:p>
          <a:p>
            <a:pPr algn="ctr"/>
            <a:r>
              <a:rPr lang="de-AT" b="0" noProof="0" dirty="0">
                <a:latin typeface="Calibri"/>
              </a:rPr>
              <a:t>Telegram</a:t>
            </a:r>
          </a:p>
          <a:p>
            <a:pPr algn="ctr"/>
            <a:r>
              <a:rPr lang="de-AT" b="0" noProof="0" dirty="0">
                <a:latin typeface="Calibri"/>
              </a:rPr>
              <a:t>Discord</a:t>
            </a:r>
          </a:p>
          <a:p>
            <a:pPr algn="ctr"/>
            <a:r>
              <a:rPr lang="de-AT" noProof="0" dirty="0">
                <a:latin typeface="Calibri"/>
              </a:rPr>
              <a:t>WeChat</a:t>
            </a:r>
          </a:p>
          <a:p>
            <a:pPr algn="ctr"/>
            <a:r>
              <a:rPr lang="de-AT" b="0" noProof="0" dirty="0">
                <a:latin typeface="Calibri"/>
              </a:rPr>
              <a:t>QQ</a:t>
            </a:r>
          </a:p>
          <a:p>
            <a:pPr algn="ctr"/>
            <a:r>
              <a:rPr lang="de-AT" b="0" noProof="0" dirty="0">
                <a:latin typeface="Calibri"/>
              </a:rPr>
              <a:t>Web UI</a:t>
            </a:r>
          </a:p>
          <a:p>
            <a:pPr algn="ctr"/>
            <a:r>
              <a:rPr lang="de-AT" noProof="0" dirty="0">
                <a:latin typeface="Calibri"/>
              </a:rPr>
              <a:t>…</a:t>
            </a:r>
            <a:endParaRPr lang="de-AT" b="0" noProof="0" dirty="0">
              <a:latin typeface="Calibri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FA29D5DB-9D3D-652B-4ACD-049FFE27ED5C}"/>
              </a:ext>
            </a:extLst>
          </p:cNvPr>
          <p:cNvSpPr/>
          <p:nvPr/>
        </p:nvSpPr>
        <p:spPr>
          <a:xfrm>
            <a:off x="2422154" y="2815459"/>
            <a:ext cx="1288612" cy="544698"/>
          </a:xfrm>
          <a:prstGeom prst="roundRect">
            <a:avLst/>
          </a:prstGeom>
          <a:noFill/>
          <a:ln w="57150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r>
              <a:rPr lang="de-AT" noProof="0" dirty="0"/>
              <a:t>OpenClaw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B8BF36E-2348-E00E-D6D6-FB5F6771E02D}"/>
              </a:ext>
            </a:extLst>
          </p:cNvPr>
          <p:cNvSpPr/>
          <p:nvPr/>
        </p:nvSpPr>
        <p:spPr>
          <a:xfrm>
            <a:off x="7748752" y="2438400"/>
            <a:ext cx="1037940" cy="2011680"/>
          </a:xfrm>
          <a:prstGeom prst="roundRect">
            <a:avLst/>
          </a:prstGeom>
          <a:noFill/>
          <a:ln w="57150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r>
              <a:rPr lang="de-AT" b="0" noProof="0" dirty="0">
                <a:latin typeface="Calibri"/>
              </a:rPr>
              <a:t>Claude</a:t>
            </a:r>
          </a:p>
          <a:p>
            <a:pPr algn="ctr"/>
            <a:r>
              <a:rPr lang="de-AT" b="0" noProof="0" dirty="0">
                <a:latin typeface="Calibri"/>
              </a:rPr>
              <a:t>GPT</a:t>
            </a:r>
          </a:p>
          <a:p>
            <a:pPr algn="ctr"/>
            <a:r>
              <a:rPr lang="de-AT" b="0" noProof="0" dirty="0">
                <a:latin typeface="Calibri"/>
              </a:rPr>
              <a:t>Gemini</a:t>
            </a:r>
          </a:p>
          <a:p>
            <a:pPr algn="ctr"/>
            <a:r>
              <a:rPr lang="de-AT" noProof="0" dirty="0">
                <a:latin typeface="Calibri"/>
              </a:rPr>
              <a:t>…</a:t>
            </a:r>
            <a:endParaRPr lang="de-AT" b="0" noProof="0" dirty="0">
              <a:latin typeface="Calibri"/>
            </a:endParaRPr>
          </a:p>
        </p:txBody>
      </p:sp>
      <p:pic>
        <p:nvPicPr>
          <p:cNvPr id="1026" name="Picture 2" descr="Man ">
            <a:extLst>
              <a:ext uri="{FF2B5EF4-FFF2-40B4-BE49-F238E27FC236}">
                <a16:creationId xmlns:a16="http://schemas.microsoft.com/office/drawing/2014/main" id="{911375F0-46B5-D931-FD9C-1AB4F7ADD4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892" y="1077685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Big data ">
            <a:extLst>
              <a:ext uri="{FF2B5EF4-FFF2-40B4-BE49-F238E27FC236}">
                <a16:creationId xmlns:a16="http://schemas.microsoft.com/office/drawing/2014/main" id="{86605B6A-E340-041F-2C7F-C85328E9FF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8122" y="1219200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E66DF243-CA90-B9BF-6082-F9864B76EAFA}"/>
              </a:ext>
            </a:extLst>
          </p:cNvPr>
          <p:cNvSpPr txBox="1"/>
          <p:nvPr/>
        </p:nvSpPr>
        <p:spPr>
          <a:xfrm>
            <a:off x="7476297" y="4530221"/>
            <a:ext cx="14010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noProof="0" dirty="0"/>
              <a:t>Cloud / </a:t>
            </a:r>
            <a:r>
              <a:rPr lang="de-AT" noProof="0" dirty="0" err="1"/>
              <a:t>Local</a:t>
            </a:r>
            <a:endParaRPr lang="de-AT" noProof="0" dirty="0">
              <a:latin typeface="Calibri"/>
            </a:endParaRPr>
          </a:p>
        </p:txBody>
      </p:sp>
      <p:cxnSp>
        <p:nvCxnSpPr>
          <p:cNvPr id="2" name="直接箭头连接符 1">
            <a:extLst>
              <a:ext uri="{FF2B5EF4-FFF2-40B4-BE49-F238E27FC236}">
                <a16:creationId xmlns:a16="http://schemas.microsoft.com/office/drawing/2014/main" id="{21E7B5B2-9B4A-C9C5-4FDF-B7185DB6EB6F}"/>
              </a:ext>
            </a:extLst>
          </p:cNvPr>
          <p:cNvCxnSpPr/>
          <p:nvPr/>
        </p:nvCxnSpPr>
        <p:spPr>
          <a:xfrm>
            <a:off x="1882198" y="2963918"/>
            <a:ext cx="4572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D47B89CC-F8E5-3C1A-5978-780CA8116DF3}"/>
              </a:ext>
            </a:extLst>
          </p:cNvPr>
          <p:cNvCxnSpPr>
            <a:cxnSpLocks/>
            <a:stCxn id="18" idx="3"/>
          </p:cNvCxnSpPr>
          <p:nvPr/>
        </p:nvCxnSpPr>
        <p:spPr>
          <a:xfrm>
            <a:off x="4679106" y="2487243"/>
            <a:ext cx="2896225" cy="47667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" name="Rounded Rectangle 3">
            <a:extLst>
              <a:ext uri="{FF2B5EF4-FFF2-40B4-BE49-F238E27FC236}">
                <a16:creationId xmlns:a16="http://schemas.microsoft.com/office/drawing/2014/main" id="{E9DFC11D-B33D-1257-A859-7A9077289578}"/>
              </a:ext>
            </a:extLst>
          </p:cNvPr>
          <p:cNvSpPr/>
          <p:nvPr/>
        </p:nvSpPr>
        <p:spPr>
          <a:xfrm>
            <a:off x="1951027" y="2302578"/>
            <a:ext cx="1115432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noProof="0" dirty="0" err="1"/>
              <a:t>message</a:t>
            </a:r>
            <a:endParaRPr lang="de-AT" noProof="0" dirty="0"/>
          </a:p>
        </p:txBody>
      </p:sp>
      <p:sp>
        <p:nvSpPr>
          <p:cNvPr id="11" name="Rounded Rectangle 3">
            <a:extLst>
              <a:ext uri="{FF2B5EF4-FFF2-40B4-BE49-F238E27FC236}">
                <a16:creationId xmlns:a16="http://schemas.microsoft.com/office/drawing/2014/main" id="{D10CA3F3-569A-75D6-DC4B-A1FD737AFF80}"/>
              </a:ext>
            </a:extLst>
          </p:cNvPr>
          <p:cNvSpPr/>
          <p:nvPr/>
        </p:nvSpPr>
        <p:spPr>
          <a:xfrm>
            <a:off x="5487759" y="2127674"/>
            <a:ext cx="1115432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noProof="0" dirty="0" err="1"/>
              <a:t>message</a:t>
            </a:r>
            <a:endParaRPr lang="de-AT" noProof="0" dirty="0"/>
          </a:p>
        </p:txBody>
      </p:sp>
      <p:sp>
        <p:nvSpPr>
          <p:cNvPr id="12" name="Rounded Rectangle 3">
            <a:extLst>
              <a:ext uri="{FF2B5EF4-FFF2-40B4-BE49-F238E27FC236}">
                <a16:creationId xmlns:a16="http://schemas.microsoft.com/office/drawing/2014/main" id="{1B366797-E609-D170-24A8-E2D68162D122}"/>
              </a:ext>
            </a:extLst>
          </p:cNvPr>
          <p:cNvSpPr/>
          <p:nvPr/>
        </p:nvSpPr>
        <p:spPr>
          <a:xfrm>
            <a:off x="5487759" y="1408652"/>
            <a:ext cx="1115432" cy="657077"/>
          </a:xfrm>
          <a:prstGeom prst="round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noProof="0" dirty="0"/>
              <a:t>System prompt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202BC2EF-226E-2DA5-9417-CD17A66BEA74}"/>
              </a:ext>
            </a:extLst>
          </p:cNvPr>
          <p:cNvSpPr txBox="1"/>
          <p:nvPr/>
        </p:nvSpPr>
        <p:spPr>
          <a:xfrm>
            <a:off x="1628990" y="1294630"/>
            <a:ext cx="158632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AT" noProof="0" dirty="0" err="1"/>
              <a:t>Compare</a:t>
            </a:r>
            <a:r>
              <a:rPr lang="de-AT" noProof="0" dirty="0"/>
              <a:t> Paper A and Paper B</a:t>
            </a:r>
            <a:endParaRPr lang="de-AT" noProof="0" dirty="0">
              <a:latin typeface="Calibri"/>
            </a:endParaRPr>
          </a:p>
        </p:txBody>
      </p:sp>
      <p:sp>
        <p:nvSpPr>
          <p:cNvPr id="18" name="Rounded Rectangle 3">
            <a:extLst>
              <a:ext uri="{FF2B5EF4-FFF2-40B4-BE49-F238E27FC236}">
                <a16:creationId xmlns:a16="http://schemas.microsoft.com/office/drawing/2014/main" id="{8587666A-2D0B-CB57-950E-54381BBF85E7}"/>
              </a:ext>
            </a:extLst>
          </p:cNvPr>
          <p:cNvSpPr/>
          <p:nvPr/>
        </p:nvSpPr>
        <p:spPr>
          <a:xfrm>
            <a:off x="3940689" y="2302578"/>
            <a:ext cx="738417" cy="369330"/>
          </a:xfrm>
          <a:prstGeom prst="roundRect">
            <a:avLst/>
          </a:prstGeom>
          <a:noFill/>
          <a:ln w="57150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r>
              <a:rPr lang="de-AT" noProof="0" dirty="0"/>
              <a:t>Claw</a:t>
            </a:r>
          </a:p>
        </p:txBody>
      </p:sp>
      <p:sp>
        <p:nvSpPr>
          <p:cNvPr id="19" name="Rounded Rectangle 3">
            <a:extLst>
              <a:ext uri="{FF2B5EF4-FFF2-40B4-BE49-F238E27FC236}">
                <a16:creationId xmlns:a16="http://schemas.microsoft.com/office/drawing/2014/main" id="{BE47D7EB-B009-5B2D-08EC-50C1032BF8FC}"/>
              </a:ext>
            </a:extLst>
          </p:cNvPr>
          <p:cNvSpPr/>
          <p:nvPr/>
        </p:nvSpPr>
        <p:spPr>
          <a:xfrm>
            <a:off x="3940688" y="3360157"/>
            <a:ext cx="738417" cy="369330"/>
          </a:xfrm>
          <a:prstGeom prst="roundRect">
            <a:avLst/>
          </a:prstGeom>
          <a:noFill/>
          <a:ln w="57150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r>
              <a:rPr lang="de-AT" noProof="0" dirty="0"/>
              <a:t>Claw</a:t>
            </a:r>
          </a:p>
        </p:txBody>
      </p: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10671959-A328-02FD-258D-7234FA433AE8}"/>
              </a:ext>
            </a:extLst>
          </p:cNvPr>
          <p:cNvCxnSpPr>
            <a:cxnSpLocks/>
            <a:stCxn id="4" idx="3"/>
            <a:endCxn id="18" idx="1"/>
          </p:cNvCxnSpPr>
          <p:nvPr/>
        </p:nvCxnSpPr>
        <p:spPr>
          <a:xfrm flipV="1">
            <a:off x="3710766" y="2487243"/>
            <a:ext cx="229923" cy="60056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8D3E397D-FAB5-AB95-B3FE-4C807624C967}"/>
              </a:ext>
            </a:extLst>
          </p:cNvPr>
          <p:cNvCxnSpPr>
            <a:cxnSpLocks/>
            <a:stCxn id="4" idx="3"/>
            <a:endCxn id="19" idx="1"/>
          </p:cNvCxnSpPr>
          <p:nvPr/>
        </p:nvCxnSpPr>
        <p:spPr>
          <a:xfrm>
            <a:off x="3710766" y="3087808"/>
            <a:ext cx="229922" cy="45701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34CC740F-D3D3-129E-173B-B296312D7F4B}"/>
              </a:ext>
            </a:extLst>
          </p:cNvPr>
          <p:cNvCxnSpPr>
            <a:cxnSpLocks/>
            <a:stCxn id="19" idx="3"/>
          </p:cNvCxnSpPr>
          <p:nvPr/>
        </p:nvCxnSpPr>
        <p:spPr>
          <a:xfrm flipV="1">
            <a:off x="4679105" y="3087808"/>
            <a:ext cx="2896226" cy="45701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0" name="Rounded Rectangle 3">
            <a:extLst>
              <a:ext uri="{FF2B5EF4-FFF2-40B4-BE49-F238E27FC236}">
                <a16:creationId xmlns:a16="http://schemas.microsoft.com/office/drawing/2014/main" id="{9EF6F203-3E39-9D43-20F0-8780481FE675}"/>
              </a:ext>
            </a:extLst>
          </p:cNvPr>
          <p:cNvSpPr/>
          <p:nvPr/>
        </p:nvSpPr>
        <p:spPr>
          <a:xfrm>
            <a:off x="5487759" y="4351205"/>
            <a:ext cx="1115432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noProof="0" dirty="0" err="1"/>
              <a:t>message</a:t>
            </a:r>
            <a:endParaRPr lang="de-AT" noProof="0" dirty="0"/>
          </a:p>
        </p:txBody>
      </p:sp>
      <p:sp>
        <p:nvSpPr>
          <p:cNvPr id="31" name="Rounded Rectangle 3">
            <a:extLst>
              <a:ext uri="{FF2B5EF4-FFF2-40B4-BE49-F238E27FC236}">
                <a16:creationId xmlns:a16="http://schemas.microsoft.com/office/drawing/2014/main" id="{77052A32-EAAA-826A-9E7A-03D93E9A683D}"/>
              </a:ext>
            </a:extLst>
          </p:cNvPr>
          <p:cNvSpPr/>
          <p:nvPr/>
        </p:nvSpPr>
        <p:spPr>
          <a:xfrm>
            <a:off x="5487759" y="3632183"/>
            <a:ext cx="1115432" cy="657077"/>
          </a:xfrm>
          <a:prstGeom prst="round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noProof="0" dirty="0"/>
              <a:t>System prompt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6F0EFF02-BF08-6615-12D1-9B5D49ADC4DA}"/>
              </a:ext>
            </a:extLst>
          </p:cNvPr>
          <p:cNvSpPr txBox="1"/>
          <p:nvPr/>
        </p:nvSpPr>
        <p:spPr>
          <a:xfrm>
            <a:off x="4682888" y="990854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AT" noProof="0" dirty="0"/>
              <a:t>Read and </a:t>
            </a:r>
            <a:r>
              <a:rPr lang="de-AT" noProof="0" dirty="0" err="1"/>
              <a:t>summarise</a:t>
            </a:r>
            <a:r>
              <a:rPr lang="de-AT" noProof="0" dirty="0"/>
              <a:t> Paper A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0E43BE40-ADCE-3C4B-BB71-5A2A6E666DE6}"/>
              </a:ext>
            </a:extLst>
          </p:cNvPr>
          <p:cNvSpPr txBox="1"/>
          <p:nvPr/>
        </p:nvSpPr>
        <p:spPr>
          <a:xfrm>
            <a:off x="4682888" y="4795028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AT" noProof="0" dirty="0"/>
              <a:t>Read and </a:t>
            </a:r>
            <a:r>
              <a:rPr lang="de-AT" noProof="0" dirty="0" err="1"/>
              <a:t>summarise</a:t>
            </a:r>
            <a:r>
              <a:rPr lang="de-AT" noProof="0" dirty="0"/>
              <a:t> Paper B</a:t>
            </a:r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10267BEF-8F62-A9E0-7D5D-9BBA6B099CA7}"/>
              </a:ext>
            </a:extLst>
          </p:cNvPr>
          <p:cNvCxnSpPr>
            <a:cxnSpLocks/>
          </p:cNvCxnSpPr>
          <p:nvPr/>
        </p:nvCxnSpPr>
        <p:spPr>
          <a:xfrm flipH="1" flipV="1">
            <a:off x="4741049" y="2692250"/>
            <a:ext cx="2687151" cy="35887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26C9E2E6-3C12-F12A-131A-BCABE772E266}"/>
              </a:ext>
            </a:extLst>
          </p:cNvPr>
          <p:cNvCxnSpPr>
            <a:cxnSpLocks/>
          </p:cNvCxnSpPr>
          <p:nvPr/>
        </p:nvCxnSpPr>
        <p:spPr>
          <a:xfrm flipH="1">
            <a:off x="4679105" y="3076160"/>
            <a:ext cx="2735761" cy="31427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7DC31C88-E74B-058A-F72E-1A9435788E55}"/>
              </a:ext>
            </a:extLst>
          </p:cNvPr>
          <p:cNvCxnSpPr>
            <a:cxnSpLocks/>
          </p:cNvCxnSpPr>
          <p:nvPr/>
        </p:nvCxnSpPr>
        <p:spPr>
          <a:xfrm flipH="1" flipV="1">
            <a:off x="3857120" y="3116229"/>
            <a:ext cx="123518" cy="26592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05327DDE-27A8-0C14-170F-319545125541}"/>
              </a:ext>
            </a:extLst>
          </p:cNvPr>
          <p:cNvCxnSpPr>
            <a:cxnSpLocks/>
          </p:cNvCxnSpPr>
          <p:nvPr/>
        </p:nvCxnSpPr>
        <p:spPr>
          <a:xfrm flipH="1">
            <a:off x="3825727" y="2693352"/>
            <a:ext cx="205591" cy="40143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34" name="Rounded Rectangle 3">
            <a:extLst>
              <a:ext uri="{FF2B5EF4-FFF2-40B4-BE49-F238E27FC236}">
                <a16:creationId xmlns:a16="http://schemas.microsoft.com/office/drawing/2014/main" id="{AEB482B6-33E1-66A9-CB40-780AEDC5BC57}"/>
              </a:ext>
            </a:extLst>
          </p:cNvPr>
          <p:cNvSpPr/>
          <p:nvPr/>
        </p:nvSpPr>
        <p:spPr>
          <a:xfrm>
            <a:off x="4449183" y="2733853"/>
            <a:ext cx="1371368" cy="389672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noProof="0" dirty="0"/>
              <a:t>Summary A</a:t>
            </a:r>
          </a:p>
        </p:txBody>
      </p:sp>
      <p:sp>
        <p:nvSpPr>
          <p:cNvPr id="35" name="Rounded Rectangle 3">
            <a:extLst>
              <a:ext uri="{FF2B5EF4-FFF2-40B4-BE49-F238E27FC236}">
                <a16:creationId xmlns:a16="http://schemas.microsoft.com/office/drawing/2014/main" id="{D0EC8C49-1E22-1CAE-A865-5D7776930325}"/>
              </a:ext>
            </a:extLst>
          </p:cNvPr>
          <p:cNvSpPr/>
          <p:nvPr/>
        </p:nvSpPr>
        <p:spPr>
          <a:xfrm>
            <a:off x="5012991" y="3187206"/>
            <a:ext cx="1371368" cy="389672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noProof="0" dirty="0"/>
              <a:t>Summary B</a:t>
            </a:r>
          </a:p>
        </p:txBody>
      </p:sp>
    </p:spTree>
    <p:extLst>
      <p:ext uri="{BB962C8B-B14F-4D97-AF65-F5344CB8AC3E}">
        <p14:creationId xmlns:p14="http://schemas.microsoft.com/office/powerpoint/2010/main" val="36746051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B8F126-A29D-27D3-14FF-158E55E0CA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DA4366A5-3259-9D3A-6FED-0ED611B363F1}"/>
              </a:ext>
            </a:extLst>
          </p:cNvPr>
          <p:cNvSpPr/>
          <p:nvPr/>
        </p:nvSpPr>
        <p:spPr>
          <a:xfrm>
            <a:off x="357308" y="2438400"/>
            <a:ext cx="1447844" cy="2011680"/>
          </a:xfrm>
          <a:prstGeom prst="roundRect">
            <a:avLst/>
          </a:prstGeom>
          <a:noFill/>
          <a:ln w="57150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r>
              <a:rPr lang="de-AT" b="0" noProof="0" dirty="0">
                <a:latin typeface="Calibri"/>
              </a:rPr>
              <a:t>WhatsApp</a:t>
            </a:r>
          </a:p>
          <a:p>
            <a:pPr algn="ctr"/>
            <a:r>
              <a:rPr lang="de-AT" b="0" noProof="0" dirty="0">
                <a:latin typeface="Calibri"/>
              </a:rPr>
              <a:t>Telegram</a:t>
            </a:r>
          </a:p>
          <a:p>
            <a:pPr algn="ctr"/>
            <a:r>
              <a:rPr lang="de-AT" b="0" noProof="0" dirty="0">
                <a:latin typeface="Calibri"/>
              </a:rPr>
              <a:t>Discord</a:t>
            </a:r>
          </a:p>
          <a:p>
            <a:pPr algn="ctr"/>
            <a:r>
              <a:rPr lang="de-AT" noProof="0" dirty="0">
                <a:latin typeface="Calibri"/>
              </a:rPr>
              <a:t>WeChat</a:t>
            </a:r>
          </a:p>
          <a:p>
            <a:pPr algn="ctr"/>
            <a:r>
              <a:rPr lang="de-AT" b="0" noProof="0" dirty="0">
                <a:latin typeface="Calibri"/>
              </a:rPr>
              <a:t>QQ</a:t>
            </a:r>
          </a:p>
          <a:p>
            <a:pPr algn="ctr"/>
            <a:r>
              <a:rPr lang="de-AT" b="0" noProof="0" dirty="0">
                <a:latin typeface="Calibri"/>
              </a:rPr>
              <a:t>Web UI</a:t>
            </a:r>
          </a:p>
          <a:p>
            <a:pPr algn="ctr"/>
            <a:r>
              <a:rPr lang="de-AT" noProof="0" dirty="0">
                <a:latin typeface="Calibri"/>
              </a:rPr>
              <a:t>…</a:t>
            </a:r>
            <a:endParaRPr lang="de-AT" b="0" noProof="0" dirty="0">
              <a:latin typeface="Calibri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50B3A2A9-4518-64D6-EB0F-EDC5E8EDCDDB}"/>
              </a:ext>
            </a:extLst>
          </p:cNvPr>
          <p:cNvSpPr/>
          <p:nvPr/>
        </p:nvSpPr>
        <p:spPr>
          <a:xfrm>
            <a:off x="2422154" y="2815459"/>
            <a:ext cx="1288612" cy="544698"/>
          </a:xfrm>
          <a:prstGeom prst="roundRect">
            <a:avLst/>
          </a:prstGeom>
          <a:noFill/>
          <a:ln w="57150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r>
              <a:rPr lang="de-AT" noProof="0" dirty="0"/>
              <a:t>OpenClaw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3C055B18-8096-EFA9-A608-C456795C7E7A}"/>
              </a:ext>
            </a:extLst>
          </p:cNvPr>
          <p:cNvSpPr/>
          <p:nvPr/>
        </p:nvSpPr>
        <p:spPr>
          <a:xfrm>
            <a:off x="7748752" y="2438400"/>
            <a:ext cx="1037940" cy="2011680"/>
          </a:xfrm>
          <a:prstGeom prst="roundRect">
            <a:avLst/>
          </a:prstGeom>
          <a:noFill/>
          <a:ln w="57150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r>
              <a:rPr lang="de-AT" b="0" noProof="0" dirty="0">
                <a:latin typeface="Calibri"/>
              </a:rPr>
              <a:t>Claude</a:t>
            </a:r>
          </a:p>
          <a:p>
            <a:pPr algn="ctr"/>
            <a:r>
              <a:rPr lang="de-AT" b="0" noProof="0" dirty="0">
                <a:latin typeface="Calibri"/>
              </a:rPr>
              <a:t>GPT</a:t>
            </a:r>
          </a:p>
          <a:p>
            <a:pPr algn="ctr"/>
            <a:r>
              <a:rPr lang="de-AT" b="0" noProof="0" dirty="0">
                <a:latin typeface="Calibri"/>
              </a:rPr>
              <a:t>Gemini</a:t>
            </a:r>
          </a:p>
          <a:p>
            <a:pPr algn="ctr"/>
            <a:r>
              <a:rPr lang="de-AT" noProof="0" dirty="0">
                <a:latin typeface="Calibri"/>
              </a:rPr>
              <a:t>…</a:t>
            </a:r>
            <a:endParaRPr lang="de-AT" b="0" noProof="0" dirty="0">
              <a:latin typeface="Calibri"/>
            </a:endParaRPr>
          </a:p>
        </p:txBody>
      </p:sp>
      <p:pic>
        <p:nvPicPr>
          <p:cNvPr id="1026" name="Picture 2" descr="Man ">
            <a:extLst>
              <a:ext uri="{FF2B5EF4-FFF2-40B4-BE49-F238E27FC236}">
                <a16:creationId xmlns:a16="http://schemas.microsoft.com/office/drawing/2014/main" id="{781D6077-F17A-960D-3EFF-B553BBF139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892" y="1077685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Big data ">
            <a:extLst>
              <a:ext uri="{FF2B5EF4-FFF2-40B4-BE49-F238E27FC236}">
                <a16:creationId xmlns:a16="http://schemas.microsoft.com/office/drawing/2014/main" id="{73699409-B4F1-7B48-3069-1E92D5DAE0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8122" y="1219200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C08EC032-D361-8C7B-B6EF-8141C644E5F5}"/>
              </a:ext>
            </a:extLst>
          </p:cNvPr>
          <p:cNvSpPr txBox="1"/>
          <p:nvPr/>
        </p:nvSpPr>
        <p:spPr>
          <a:xfrm>
            <a:off x="7476297" y="4530221"/>
            <a:ext cx="14010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noProof="0" dirty="0"/>
              <a:t>Cloud / </a:t>
            </a:r>
            <a:r>
              <a:rPr lang="de-AT" noProof="0" dirty="0" err="1"/>
              <a:t>Local</a:t>
            </a:r>
            <a:endParaRPr lang="de-AT" noProof="0" dirty="0">
              <a:latin typeface="Calibri"/>
            </a:endParaRPr>
          </a:p>
        </p:txBody>
      </p:sp>
      <p:cxnSp>
        <p:nvCxnSpPr>
          <p:cNvPr id="2" name="直接箭头连接符 1">
            <a:extLst>
              <a:ext uri="{FF2B5EF4-FFF2-40B4-BE49-F238E27FC236}">
                <a16:creationId xmlns:a16="http://schemas.microsoft.com/office/drawing/2014/main" id="{0A3A6026-3911-BE98-2F52-0C93401220CC}"/>
              </a:ext>
            </a:extLst>
          </p:cNvPr>
          <p:cNvCxnSpPr/>
          <p:nvPr/>
        </p:nvCxnSpPr>
        <p:spPr>
          <a:xfrm>
            <a:off x="1882198" y="2963918"/>
            <a:ext cx="4572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CF92E656-09F2-A32E-E3F1-AC08D01D1B52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3710766" y="3087808"/>
            <a:ext cx="394735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" name="Rounded Rectangle 3">
            <a:extLst>
              <a:ext uri="{FF2B5EF4-FFF2-40B4-BE49-F238E27FC236}">
                <a16:creationId xmlns:a16="http://schemas.microsoft.com/office/drawing/2014/main" id="{EA9C565B-439E-E49A-48F7-C59B6F91697C}"/>
              </a:ext>
            </a:extLst>
          </p:cNvPr>
          <p:cNvSpPr/>
          <p:nvPr/>
        </p:nvSpPr>
        <p:spPr>
          <a:xfrm>
            <a:off x="1951027" y="2302578"/>
            <a:ext cx="1115432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noProof="0" dirty="0" err="1"/>
              <a:t>message</a:t>
            </a:r>
            <a:endParaRPr lang="de-AT" noProof="0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23F9126F-423C-A207-27C0-2AB60356D5D5}"/>
              </a:ext>
            </a:extLst>
          </p:cNvPr>
          <p:cNvSpPr txBox="1"/>
          <p:nvPr/>
        </p:nvSpPr>
        <p:spPr>
          <a:xfrm>
            <a:off x="1628990" y="1294630"/>
            <a:ext cx="158632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AT" noProof="0" dirty="0" err="1"/>
              <a:t>Compare</a:t>
            </a:r>
            <a:r>
              <a:rPr lang="de-AT" noProof="0" dirty="0"/>
              <a:t> Paper A and Paper B</a:t>
            </a:r>
            <a:endParaRPr lang="de-AT" noProof="0" dirty="0">
              <a:latin typeface="Calibri"/>
            </a:endParaRPr>
          </a:p>
        </p:txBody>
      </p:sp>
      <p:sp>
        <p:nvSpPr>
          <p:cNvPr id="9" name="Rounded Rectangle 3">
            <a:extLst>
              <a:ext uri="{FF2B5EF4-FFF2-40B4-BE49-F238E27FC236}">
                <a16:creationId xmlns:a16="http://schemas.microsoft.com/office/drawing/2014/main" id="{A4AD9F0E-3FD0-DB84-C8C2-B77DA4582C88}"/>
              </a:ext>
            </a:extLst>
          </p:cNvPr>
          <p:cNvSpPr/>
          <p:nvPr/>
        </p:nvSpPr>
        <p:spPr>
          <a:xfrm>
            <a:off x="4749567" y="2239206"/>
            <a:ext cx="1371368" cy="389672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noProof="0" dirty="0"/>
              <a:t>Summary A</a:t>
            </a:r>
          </a:p>
        </p:txBody>
      </p:sp>
      <p:sp>
        <p:nvSpPr>
          <p:cNvPr id="13" name="Rounded Rectangle 3">
            <a:extLst>
              <a:ext uri="{FF2B5EF4-FFF2-40B4-BE49-F238E27FC236}">
                <a16:creationId xmlns:a16="http://schemas.microsoft.com/office/drawing/2014/main" id="{BFA971DE-882A-0268-A450-865BF89D8F87}"/>
              </a:ext>
            </a:extLst>
          </p:cNvPr>
          <p:cNvSpPr/>
          <p:nvPr/>
        </p:nvSpPr>
        <p:spPr>
          <a:xfrm>
            <a:off x="4749567" y="2639475"/>
            <a:ext cx="1371368" cy="389672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noProof="0" dirty="0"/>
              <a:t>Summary B</a:t>
            </a:r>
          </a:p>
        </p:txBody>
      </p:sp>
      <p:sp>
        <p:nvSpPr>
          <p:cNvPr id="22" name="Rounded Rectangle 3">
            <a:extLst>
              <a:ext uri="{FF2B5EF4-FFF2-40B4-BE49-F238E27FC236}">
                <a16:creationId xmlns:a16="http://schemas.microsoft.com/office/drawing/2014/main" id="{5C271FE2-6F32-D111-DE38-59EA23CE485E}"/>
              </a:ext>
            </a:extLst>
          </p:cNvPr>
          <p:cNvSpPr/>
          <p:nvPr/>
        </p:nvSpPr>
        <p:spPr>
          <a:xfrm>
            <a:off x="4879004" y="1789668"/>
            <a:ext cx="1115432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noProof="0" dirty="0" err="1"/>
              <a:t>message</a:t>
            </a:r>
            <a:endParaRPr lang="de-AT" noProof="0" dirty="0"/>
          </a:p>
        </p:txBody>
      </p:sp>
      <p:sp>
        <p:nvSpPr>
          <p:cNvPr id="25" name="Rounded Rectangle 3">
            <a:extLst>
              <a:ext uri="{FF2B5EF4-FFF2-40B4-BE49-F238E27FC236}">
                <a16:creationId xmlns:a16="http://schemas.microsoft.com/office/drawing/2014/main" id="{5F76117D-6BC8-E354-F238-AECC9FFBEB3C}"/>
              </a:ext>
            </a:extLst>
          </p:cNvPr>
          <p:cNvSpPr/>
          <p:nvPr/>
        </p:nvSpPr>
        <p:spPr>
          <a:xfrm>
            <a:off x="4879004" y="1055759"/>
            <a:ext cx="1115432" cy="657077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noProof="0" dirty="0"/>
              <a:t>System prompt</a:t>
            </a:r>
          </a:p>
        </p:txBody>
      </p:sp>
    </p:spTree>
    <p:extLst>
      <p:ext uri="{BB962C8B-B14F-4D97-AF65-F5344CB8AC3E}">
        <p14:creationId xmlns:p14="http://schemas.microsoft.com/office/powerpoint/2010/main" val="42431277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268A06-1E4D-9CF7-1E59-543ECA5273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B5188C67-A7A2-54C9-B7DE-8D54A85BC1DA}"/>
              </a:ext>
            </a:extLst>
          </p:cNvPr>
          <p:cNvSpPr/>
          <p:nvPr/>
        </p:nvSpPr>
        <p:spPr>
          <a:xfrm>
            <a:off x="357308" y="2438400"/>
            <a:ext cx="1447844" cy="2011680"/>
          </a:xfrm>
          <a:prstGeom prst="roundRect">
            <a:avLst/>
          </a:prstGeom>
          <a:noFill/>
          <a:ln w="57150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r>
              <a:rPr lang="de-AT" b="0" noProof="0" dirty="0">
                <a:latin typeface="Calibri"/>
              </a:rPr>
              <a:t>WhatsApp</a:t>
            </a:r>
          </a:p>
          <a:p>
            <a:pPr algn="ctr"/>
            <a:r>
              <a:rPr lang="de-AT" b="0" noProof="0" dirty="0">
                <a:latin typeface="Calibri"/>
              </a:rPr>
              <a:t>Telegram</a:t>
            </a:r>
          </a:p>
          <a:p>
            <a:pPr algn="ctr"/>
            <a:r>
              <a:rPr lang="de-AT" b="0" noProof="0" dirty="0">
                <a:latin typeface="Calibri"/>
              </a:rPr>
              <a:t>Discord</a:t>
            </a:r>
          </a:p>
          <a:p>
            <a:pPr algn="ctr"/>
            <a:r>
              <a:rPr lang="de-AT" noProof="0" dirty="0">
                <a:latin typeface="Calibri"/>
              </a:rPr>
              <a:t>WeChat</a:t>
            </a:r>
          </a:p>
          <a:p>
            <a:pPr algn="ctr"/>
            <a:r>
              <a:rPr lang="de-AT" b="0" noProof="0" dirty="0">
                <a:latin typeface="Calibri"/>
              </a:rPr>
              <a:t>QQ</a:t>
            </a:r>
          </a:p>
          <a:p>
            <a:pPr algn="ctr"/>
            <a:r>
              <a:rPr lang="de-AT" b="0" noProof="0" dirty="0">
                <a:latin typeface="Calibri"/>
              </a:rPr>
              <a:t>Web UI</a:t>
            </a:r>
          </a:p>
          <a:p>
            <a:pPr algn="ctr"/>
            <a:r>
              <a:rPr lang="de-AT" noProof="0" dirty="0">
                <a:latin typeface="Calibri"/>
              </a:rPr>
              <a:t>…</a:t>
            </a:r>
            <a:endParaRPr lang="de-AT" b="0" noProof="0" dirty="0">
              <a:latin typeface="Calibri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5FA84D4-5F03-0911-2A9E-080CC6CEB6E3}"/>
              </a:ext>
            </a:extLst>
          </p:cNvPr>
          <p:cNvSpPr/>
          <p:nvPr/>
        </p:nvSpPr>
        <p:spPr>
          <a:xfrm>
            <a:off x="2422154" y="2815459"/>
            <a:ext cx="1288612" cy="544698"/>
          </a:xfrm>
          <a:prstGeom prst="roundRect">
            <a:avLst/>
          </a:prstGeom>
          <a:noFill/>
          <a:ln w="57150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r>
              <a:rPr lang="de-AT" noProof="0" dirty="0"/>
              <a:t>OpenClaw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4868651-23D9-9D24-81C4-F8C3258175E5}"/>
              </a:ext>
            </a:extLst>
          </p:cNvPr>
          <p:cNvSpPr/>
          <p:nvPr/>
        </p:nvSpPr>
        <p:spPr>
          <a:xfrm>
            <a:off x="7748752" y="2438400"/>
            <a:ext cx="1037940" cy="2011680"/>
          </a:xfrm>
          <a:prstGeom prst="roundRect">
            <a:avLst/>
          </a:prstGeom>
          <a:noFill/>
          <a:ln w="57150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r>
              <a:rPr lang="de-AT" b="0" noProof="0" dirty="0">
                <a:latin typeface="Calibri"/>
              </a:rPr>
              <a:t>Claude</a:t>
            </a:r>
          </a:p>
          <a:p>
            <a:pPr algn="ctr"/>
            <a:r>
              <a:rPr lang="de-AT" b="0" noProof="0" dirty="0">
                <a:latin typeface="Calibri"/>
              </a:rPr>
              <a:t>GPT</a:t>
            </a:r>
          </a:p>
          <a:p>
            <a:pPr algn="ctr"/>
            <a:r>
              <a:rPr lang="de-AT" b="0" noProof="0" dirty="0">
                <a:latin typeface="Calibri"/>
              </a:rPr>
              <a:t>Gemini</a:t>
            </a:r>
          </a:p>
          <a:p>
            <a:pPr algn="ctr"/>
            <a:r>
              <a:rPr lang="de-AT" noProof="0" dirty="0">
                <a:latin typeface="Calibri"/>
              </a:rPr>
              <a:t>…</a:t>
            </a:r>
            <a:endParaRPr lang="de-AT" b="0" noProof="0" dirty="0">
              <a:latin typeface="Calibri"/>
            </a:endParaRPr>
          </a:p>
        </p:txBody>
      </p:sp>
      <p:pic>
        <p:nvPicPr>
          <p:cNvPr id="1026" name="Picture 2" descr="Man ">
            <a:extLst>
              <a:ext uri="{FF2B5EF4-FFF2-40B4-BE49-F238E27FC236}">
                <a16:creationId xmlns:a16="http://schemas.microsoft.com/office/drawing/2014/main" id="{43757C3A-8760-B334-43D0-43317F77E3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892" y="1077685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Big data ">
            <a:extLst>
              <a:ext uri="{FF2B5EF4-FFF2-40B4-BE49-F238E27FC236}">
                <a16:creationId xmlns:a16="http://schemas.microsoft.com/office/drawing/2014/main" id="{81A54DF9-9844-C2EB-520A-904966E995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8122" y="1219200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E7E1E1A4-550E-1FA3-10C4-6FFD0F110D31}"/>
              </a:ext>
            </a:extLst>
          </p:cNvPr>
          <p:cNvSpPr txBox="1"/>
          <p:nvPr/>
        </p:nvSpPr>
        <p:spPr>
          <a:xfrm>
            <a:off x="7476297" y="4530221"/>
            <a:ext cx="14010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noProof="0" dirty="0"/>
              <a:t>Cloud / </a:t>
            </a:r>
            <a:r>
              <a:rPr lang="de-AT" noProof="0" dirty="0" err="1"/>
              <a:t>Local</a:t>
            </a:r>
            <a:endParaRPr lang="de-AT" noProof="0" dirty="0">
              <a:latin typeface="Calibri"/>
            </a:endParaRPr>
          </a:p>
        </p:txBody>
      </p:sp>
      <p:cxnSp>
        <p:nvCxnSpPr>
          <p:cNvPr id="2" name="直接箭头连接符 1">
            <a:extLst>
              <a:ext uri="{FF2B5EF4-FFF2-40B4-BE49-F238E27FC236}">
                <a16:creationId xmlns:a16="http://schemas.microsoft.com/office/drawing/2014/main" id="{927D95AC-116A-B6C6-A894-291E6523F21B}"/>
              </a:ext>
            </a:extLst>
          </p:cNvPr>
          <p:cNvCxnSpPr/>
          <p:nvPr/>
        </p:nvCxnSpPr>
        <p:spPr>
          <a:xfrm>
            <a:off x="1882198" y="2963918"/>
            <a:ext cx="4572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AC9CB420-BC24-3EE4-725E-69C35F6894E9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3710766" y="3087808"/>
            <a:ext cx="394735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" name="Rounded Rectangle 3">
            <a:extLst>
              <a:ext uri="{FF2B5EF4-FFF2-40B4-BE49-F238E27FC236}">
                <a16:creationId xmlns:a16="http://schemas.microsoft.com/office/drawing/2014/main" id="{F0004FE2-BD63-E34E-E708-2FA9FFB76B27}"/>
              </a:ext>
            </a:extLst>
          </p:cNvPr>
          <p:cNvSpPr/>
          <p:nvPr/>
        </p:nvSpPr>
        <p:spPr>
          <a:xfrm>
            <a:off x="1951027" y="2302578"/>
            <a:ext cx="1115432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noProof="0" dirty="0" err="1"/>
              <a:t>message</a:t>
            </a:r>
            <a:endParaRPr lang="de-AT" noProof="0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04C0AA0E-DE55-5AE5-27F9-D9DC495971EE}"/>
              </a:ext>
            </a:extLst>
          </p:cNvPr>
          <p:cNvSpPr txBox="1"/>
          <p:nvPr/>
        </p:nvSpPr>
        <p:spPr>
          <a:xfrm>
            <a:off x="6071794" y="2305713"/>
            <a:ext cx="15863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AT" noProof="0" dirty="0">
                <a:solidFill>
                  <a:srgbClr val="00B050"/>
                </a:solidFill>
              </a:rPr>
              <a:t>Context Engineering</a:t>
            </a:r>
            <a:endParaRPr lang="de-AT" noProof="0" dirty="0">
              <a:solidFill>
                <a:srgbClr val="00B050"/>
              </a:solidFill>
              <a:latin typeface="Calibri"/>
            </a:endParaRPr>
          </a:p>
        </p:txBody>
      </p:sp>
      <p:sp>
        <p:nvSpPr>
          <p:cNvPr id="9" name="Rounded Rectangle 3">
            <a:extLst>
              <a:ext uri="{FF2B5EF4-FFF2-40B4-BE49-F238E27FC236}">
                <a16:creationId xmlns:a16="http://schemas.microsoft.com/office/drawing/2014/main" id="{952498DA-CEE5-6EDC-193D-E247D0D47537}"/>
              </a:ext>
            </a:extLst>
          </p:cNvPr>
          <p:cNvSpPr/>
          <p:nvPr/>
        </p:nvSpPr>
        <p:spPr>
          <a:xfrm>
            <a:off x="4749567" y="2239206"/>
            <a:ext cx="1371368" cy="389672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noProof="0" dirty="0"/>
              <a:t>Summary A</a:t>
            </a:r>
          </a:p>
        </p:txBody>
      </p:sp>
      <p:sp>
        <p:nvSpPr>
          <p:cNvPr id="13" name="Rounded Rectangle 3">
            <a:extLst>
              <a:ext uri="{FF2B5EF4-FFF2-40B4-BE49-F238E27FC236}">
                <a16:creationId xmlns:a16="http://schemas.microsoft.com/office/drawing/2014/main" id="{36AAD79C-D4D6-33C5-6360-6AF9ED360549}"/>
              </a:ext>
            </a:extLst>
          </p:cNvPr>
          <p:cNvSpPr/>
          <p:nvPr/>
        </p:nvSpPr>
        <p:spPr>
          <a:xfrm>
            <a:off x="4749567" y="2639475"/>
            <a:ext cx="1371368" cy="389672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noProof="0" dirty="0"/>
              <a:t>Summary B</a:t>
            </a:r>
          </a:p>
        </p:txBody>
      </p:sp>
      <p:sp>
        <p:nvSpPr>
          <p:cNvPr id="22" name="Rounded Rectangle 3">
            <a:extLst>
              <a:ext uri="{FF2B5EF4-FFF2-40B4-BE49-F238E27FC236}">
                <a16:creationId xmlns:a16="http://schemas.microsoft.com/office/drawing/2014/main" id="{3527A16C-83E7-1CD2-40E1-B6A8DC059CAB}"/>
              </a:ext>
            </a:extLst>
          </p:cNvPr>
          <p:cNvSpPr/>
          <p:nvPr/>
        </p:nvSpPr>
        <p:spPr>
          <a:xfrm>
            <a:off x="4879004" y="1789668"/>
            <a:ext cx="1115432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noProof="0" dirty="0" err="1"/>
              <a:t>message</a:t>
            </a:r>
            <a:endParaRPr lang="de-AT" noProof="0" dirty="0"/>
          </a:p>
        </p:txBody>
      </p:sp>
      <p:sp>
        <p:nvSpPr>
          <p:cNvPr id="25" name="Rounded Rectangle 3">
            <a:extLst>
              <a:ext uri="{FF2B5EF4-FFF2-40B4-BE49-F238E27FC236}">
                <a16:creationId xmlns:a16="http://schemas.microsoft.com/office/drawing/2014/main" id="{7EAD708C-E53E-998F-1456-861D7DC8C9BF}"/>
              </a:ext>
            </a:extLst>
          </p:cNvPr>
          <p:cNvSpPr/>
          <p:nvPr/>
        </p:nvSpPr>
        <p:spPr>
          <a:xfrm>
            <a:off x="4879004" y="1055759"/>
            <a:ext cx="1115432" cy="657077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noProof="0" dirty="0"/>
              <a:t>System prompt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21A24C67-C163-651A-5B1A-DEDBAC62092E}"/>
              </a:ext>
            </a:extLst>
          </p:cNvPr>
          <p:cNvSpPr/>
          <p:nvPr/>
        </p:nvSpPr>
        <p:spPr>
          <a:xfrm>
            <a:off x="4648840" y="2179340"/>
            <a:ext cx="1586328" cy="908468"/>
          </a:xfrm>
          <a:prstGeom prst="roundRect">
            <a:avLst/>
          </a:prstGeom>
          <a:noFill/>
          <a:ln w="28575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endParaRPr lang="de-AT" noProof="0" dirty="0"/>
          </a:p>
        </p:txBody>
      </p:sp>
    </p:spTree>
    <p:extLst>
      <p:ext uri="{BB962C8B-B14F-4D97-AF65-F5344CB8AC3E}">
        <p14:creationId xmlns:p14="http://schemas.microsoft.com/office/powerpoint/2010/main" val="1514872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1B758B-F8AA-638B-9535-23155C4404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2F2E4830-B59F-B4E0-D69A-793E2D18EC8B}"/>
              </a:ext>
            </a:extLst>
          </p:cNvPr>
          <p:cNvSpPr/>
          <p:nvPr/>
        </p:nvSpPr>
        <p:spPr>
          <a:xfrm>
            <a:off x="357308" y="2438400"/>
            <a:ext cx="1447844" cy="2011680"/>
          </a:xfrm>
          <a:prstGeom prst="roundRect">
            <a:avLst/>
          </a:prstGeom>
          <a:noFill/>
          <a:ln w="57150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r>
              <a:rPr lang="de-AT" b="0" noProof="0" dirty="0">
                <a:latin typeface="Calibri"/>
              </a:rPr>
              <a:t>WhatsApp</a:t>
            </a:r>
          </a:p>
          <a:p>
            <a:pPr algn="ctr"/>
            <a:r>
              <a:rPr lang="de-AT" b="0" noProof="0" dirty="0">
                <a:latin typeface="Calibri"/>
              </a:rPr>
              <a:t>Telegram</a:t>
            </a:r>
          </a:p>
          <a:p>
            <a:pPr algn="ctr"/>
            <a:r>
              <a:rPr lang="de-AT" b="0" noProof="0" dirty="0">
                <a:latin typeface="Calibri"/>
              </a:rPr>
              <a:t>Discord</a:t>
            </a:r>
          </a:p>
          <a:p>
            <a:pPr algn="ctr"/>
            <a:r>
              <a:rPr lang="de-AT" noProof="0" dirty="0">
                <a:latin typeface="Calibri"/>
              </a:rPr>
              <a:t>WeChat</a:t>
            </a:r>
          </a:p>
          <a:p>
            <a:pPr algn="ctr"/>
            <a:r>
              <a:rPr lang="de-AT" b="0" noProof="0" dirty="0">
                <a:latin typeface="Calibri"/>
              </a:rPr>
              <a:t>QQ</a:t>
            </a:r>
          </a:p>
          <a:p>
            <a:pPr algn="ctr"/>
            <a:r>
              <a:rPr lang="de-AT" b="0" noProof="0" dirty="0">
                <a:latin typeface="Calibri"/>
              </a:rPr>
              <a:t>Web UI</a:t>
            </a:r>
          </a:p>
          <a:p>
            <a:pPr algn="ctr"/>
            <a:r>
              <a:rPr lang="de-AT" noProof="0" dirty="0">
                <a:latin typeface="Calibri"/>
              </a:rPr>
              <a:t>…</a:t>
            </a:r>
            <a:endParaRPr lang="de-AT" b="0" noProof="0" dirty="0">
              <a:latin typeface="Calibri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A38B4EF2-58AB-821C-4989-E2E31386BEBB}"/>
              </a:ext>
            </a:extLst>
          </p:cNvPr>
          <p:cNvSpPr/>
          <p:nvPr/>
        </p:nvSpPr>
        <p:spPr>
          <a:xfrm>
            <a:off x="2422154" y="2815459"/>
            <a:ext cx="1288612" cy="544698"/>
          </a:xfrm>
          <a:prstGeom prst="roundRect">
            <a:avLst/>
          </a:prstGeom>
          <a:noFill/>
          <a:ln w="57150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r>
              <a:rPr lang="de-AT" noProof="0" dirty="0"/>
              <a:t>OpenClaw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2A0AF185-9A19-D36E-BC4C-E6DB4E05AED1}"/>
              </a:ext>
            </a:extLst>
          </p:cNvPr>
          <p:cNvSpPr/>
          <p:nvPr/>
        </p:nvSpPr>
        <p:spPr>
          <a:xfrm>
            <a:off x="7748752" y="2438400"/>
            <a:ext cx="1037940" cy="2011680"/>
          </a:xfrm>
          <a:prstGeom prst="roundRect">
            <a:avLst/>
          </a:prstGeom>
          <a:noFill/>
          <a:ln w="57150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r>
              <a:rPr lang="de-AT" b="0" noProof="0" dirty="0">
                <a:latin typeface="Calibri"/>
              </a:rPr>
              <a:t>Claude</a:t>
            </a:r>
          </a:p>
          <a:p>
            <a:pPr algn="ctr"/>
            <a:r>
              <a:rPr lang="de-AT" b="0" noProof="0" dirty="0">
                <a:latin typeface="Calibri"/>
              </a:rPr>
              <a:t>GPT</a:t>
            </a:r>
          </a:p>
          <a:p>
            <a:pPr algn="ctr"/>
            <a:r>
              <a:rPr lang="de-AT" b="0" noProof="0" dirty="0">
                <a:latin typeface="Calibri"/>
              </a:rPr>
              <a:t>Gemini</a:t>
            </a:r>
          </a:p>
          <a:p>
            <a:pPr algn="ctr"/>
            <a:r>
              <a:rPr lang="de-AT" noProof="0" dirty="0">
                <a:latin typeface="Calibri"/>
              </a:rPr>
              <a:t>…</a:t>
            </a:r>
            <a:endParaRPr lang="de-AT" b="0" noProof="0" dirty="0">
              <a:latin typeface="Calibri"/>
            </a:endParaRPr>
          </a:p>
        </p:txBody>
      </p:sp>
      <p:pic>
        <p:nvPicPr>
          <p:cNvPr id="1026" name="Picture 2" descr="Man ">
            <a:extLst>
              <a:ext uri="{FF2B5EF4-FFF2-40B4-BE49-F238E27FC236}">
                <a16:creationId xmlns:a16="http://schemas.microsoft.com/office/drawing/2014/main" id="{76B668ED-49F0-AB86-55C7-8373BA9818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892" y="1077685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Big data ">
            <a:extLst>
              <a:ext uri="{FF2B5EF4-FFF2-40B4-BE49-F238E27FC236}">
                <a16:creationId xmlns:a16="http://schemas.microsoft.com/office/drawing/2014/main" id="{4C75A319-4B88-57F1-9635-EBC63A61BD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8122" y="1219200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3CB437D0-50E8-A962-765F-65082427C2A6}"/>
              </a:ext>
            </a:extLst>
          </p:cNvPr>
          <p:cNvSpPr txBox="1"/>
          <p:nvPr/>
        </p:nvSpPr>
        <p:spPr>
          <a:xfrm>
            <a:off x="7476297" y="4530221"/>
            <a:ext cx="14010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noProof="0" dirty="0"/>
              <a:t>Cloud / </a:t>
            </a:r>
            <a:r>
              <a:rPr lang="de-AT" noProof="0" dirty="0" err="1"/>
              <a:t>Local</a:t>
            </a:r>
            <a:endParaRPr lang="de-AT" noProof="0" dirty="0">
              <a:latin typeface="Calibri"/>
            </a:endParaRPr>
          </a:p>
        </p:txBody>
      </p:sp>
      <p:cxnSp>
        <p:nvCxnSpPr>
          <p:cNvPr id="2" name="直接箭头连接符 1">
            <a:extLst>
              <a:ext uri="{FF2B5EF4-FFF2-40B4-BE49-F238E27FC236}">
                <a16:creationId xmlns:a16="http://schemas.microsoft.com/office/drawing/2014/main" id="{0D3F7FDA-F35C-87C6-0EC2-4131805FFB89}"/>
              </a:ext>
            </a:extLst>
          </p:cNvPr>
          <p:cNvCxnSpPr/>
          <p:nvPr/>
        </p:nvCxnSpPr>
        <p:spPr>
          <a:xfrm>
            <a:off x="1882198" y="2963918"/>
            <a:ext cx="4572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DC3E1F5A-6E63-07FB-FEFF-FDEC6F4524CE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3710766" y="3087808"/>
            <a:ext cx="394735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" name="Rounded Rectangle 3">
            <a:extLst>
              <a:ext uri="{FF2B5EF4-FFF2-40B4-BE49-F238E27FC236}">
                <a16:creationId xmlns:a16="http://schemas.microsoft.com/office/drawing/2014/main" id="{1B1467A3-C545-B140-69FD-D655530E2551}"/>
              </a:ext>
            </a:extLst>
          </p:cNvPr>
          <p:cNvSpPr/>
          <p:nvPr/>
        </p:nvSpPr>
        <p:spPr>
          <a:xfrm>
            <a:off x="1951027" y="2302578"/>
            <a:ext cx="1115432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noProof="0" dirty="0" err="1"/>
              <a:t>message</a:t>
            </a:r>
            <a:endParaRPr lang="de-AT" noProof="0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C7223819-12E2-11ED-0266-C2DDA631842A}"/>
              </a:ext>
            </a:extLst>
          </p:cNvPr>
          <p:cNvSpPr txBox="1"/>
          <p:nvPr/>
        </p:nvSpPr>
        <p:spPr>
          <a:xfrm>
            <a:off x="6071794" y="1706361"/>
            <a:ext cx="15863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AT" noProof="0" dirty="0">
                <a:solidFill>
                  <a:srgbClr val="00B050"/>
                </a:solidFill>
              </a:rPr>
              <a:t>Context Engineering</a:t>
            </a:r>
            <a:endParaRPr lang="de-AT" noProof="0" dirty="0">
              <a:solidFill>
                <a:srgbClr val="00B050"/>
              </a:solidFill>
              <a:latin typeface="Calibri"/>
            </a:endParaRPr>
          </a:p>
        </p:txBody>
      </p:sp>
      <p:sp>
        <p:nvSpPr>
          <p:cNvPr id="9" name="Rounded Rectangle 3">
            <a:extLst>
              <a:ext uri="{FF2B5EF4-FFF2-40B4-BE49-F238E27FC236}">
                <a16:creationId xmlns:a16="http://schemas.microsoft.com/office/drawing/2014/main" id="{861E0616-6CC5-ACEA-F775-5E8DFED05B72}"/>
              </a:ext>
            </a:extLst>
          </p:cNvPr>
          <p:cNvSpPr/>
          <p:nvPr/>
        </p:nvSpPr>
        <p:spPr>
          <a:xfrm>
            <a:off x="4749567" y="1639854"/>
            <a:ext cx="1371368" cy="389672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noProof="0" dirty="0"/>
              <a:t>Summary A</a:t>
            </a:r>
          </a:p>
        </p:txBody>
      </p:sp>
      <p:sp>
        <p:nvSpPr>
          <p:cNvPr id="13" name="Rounded Rectangle 3">
            <a:extLst>
              <a:ext uri="{FF2B5EF4-FFF2-40B4-BE49-F238E27FC236}">
                <a16:creationId xmlns:a16="http://schemas.microsoft.com/office/drawing/2014/main" id="{608C21C8-6621-952B-F6E9-4778958F04ED}"/>
              </a:ext>
            </a:extLst>
          </p:cNvPr>
          <p:cNvSpPr/>
          <p:nvPr/>
        </p:nvSpPr>
        <p:spPr>
          <a:xfrm>
            <a:off x="4749567" y="2040123"/>
            <a:ext cx="1371368" cy="389672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noProof="0" dirty="0"/>
              <a:t>Summary B</a:t>
            </a:r>
          </a:p>
        </p:txBody>
      </p:sp>
      <p:sp>
        <p:nvSpPr>
          <p:cNvPr id="22" name="Rounded Rectangle 3">
            <a:extLst>
              <a:ext uri="{FF2B5EF4-FFF2-40B4-BE49-F238E27FC236}">
                <a16:creationId xmlns:a16="http://schemas.microsoft.com/office/drawing/2014/main" id="{4000403C-CB61-1985-B0DD-C1D458C9C032}"/>
              </a:ext>
            </a:extLst>
          </p:cNvPr>
          <p:cNvSpPr/>
          <p:nvPr/>
        </p:nvSpPr>
        <p:spPr>
          <a:xfrm>
            <a:off x="4879004" y="1190316"/>
            <a:ext cx="1115432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noProof="0" dirty="0" err="1"/>
              <a:t>message</a:t>
            </a:r>
            <a:endParaRPr lang="de-AT" noProof="0" dirty="0"/>
          </a:p>
        </p:txBody>
      </p:sp>
      <p:sp>
        <p:nvSpPr>
          <p:cNvPr id="25" name="Rounded Rectangle 3">
            <a:extLst>
              <a:ext uri="{FF2B5EF4-FFF2-40B4-BE49-F238E27FC236}">
                <a16:creationId xmlns:a16="http://schemas.microsoft.com/office/drawing/2014/main" id="{292EE279-A394-BA5E-30CF-34D5546AC26B}"/>
              </a:ext>
            </a:extLst>
          </p:cNvPr>
          <p:cNvSpPr/>
          <p:nvPr/>
        </p:nvSpPr>
        <p:spPr>
          <a:xfrm>
            <a:off x="4879004" y="456407"/>
            <a:ext cx="1115432" cy="657077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noProof="0" dirty="0"/>
              <a:t>System prompt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FECD477C-4786-5103-7FE9-52FBB561A22D}"/>
              </a:ext>
            </a:extLst>
          </p:cNvPr>
          <p:cNvSpPr/>
          <p:nvPr/>
        </p:nvSpPr>
        <p:spPr>
          <a:xfrm>
            <a:off x="4648840" y="1579988"/>
            <a:ext cx="1586328" cy="908468"/>
          </a:xfrm>
          <a:prstGeom prst="roundRect">
            <a:avLst/>
          </a:prstGeom>
          <a:noFill/>
          <a:ln w="28575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endParaRPr lang="de-AT" noProof="0" dirty="0"/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1483C84B-2B5B-8B16-72C9-A35DFF2EFAD3}"/>
              </a:ext>
            </a:extLst>
          </p:cNvPr>
          <p:cNvSpPr/>
          <p:nvPr/>
        </p:nvSpPr>
        <p:spPr>
          <a:xfrm>
            <a:off x="4648840" y="368837"/>
            <a:ext cx="1586328" cy="2658671"/>
          </a:xfrm>
          <a:prstGeom prst="roundRect">
            <a:avLst/>
          </a:prstGeom>
          <a:noFill/>
          <a:ln>
            <a:prstDash val="dash"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AT" noProof="0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9B2CAFB-806A-4151-E2E5-4307369B5342}"/>
              </a:ext>
            </a:extLst>
          </p:cNvPr>
          <p:cNvSpPr txBox="1"/>
          <p:nvPr/>
        </p:nvSpPr>
        <p:spPr>
          <a:xfrm>
            <a:off x="4495161" y="9972"/>
            <a:ext cx="17740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AT" noProof="0" dirty="0"/>
              <a:t>Context Window</a:t>
            </a:r>
            <a:endParaRPr lang="de-AT" noProof="0" dirty="0">
              <a:latin typeface="Calibri"/>
            </a:endParaRPr>
          </a:p>
        </p:txBody>
      </p:sp>
      <p:sp>
        <p:nvSpPr>
          <p:cNvPr id="14" name="Rounded Rectangle 3">
            <a:extLst>
              <a:ext uri="{FF2B5EF4-FFF2-40B4-BE49-F238E27FC236}">
                <a16:creationId xmlns:a16="http://schemas.microsoft.com/office/drawing/2014/main" id="{6532962C-17D7-E9AE-58A7-5814F22964CB}"/>
              </a:ext>
            </a:extLst>
          </p:cNvPr>
          <p:cNvSpPr/>
          <p:nvPr/>
        </p:nvSpPr>
        <p:spPr>
          <a:xfrm>
            <a:off x="4877535" y="2530964"/>
            <a:ext cx="1115432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noProof="0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7965626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1566FF-DB78-434A-AA5B-3F0A4C967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3AED9E33-E79C-90DF-B6B0-B312C037B857}"/>
              </a:ext>
            </a:extLst>
          </p:cNvPr>
          <p:cNvSpPr/>
          <p:nvPr/>
        </p:nvSpPr>
        <p:spPr>
          <a:xfrm>
            <a:off x="357308" y="2438400"/>
            <a:ext cx="1447844" cy="2011680"/>
          </a:xfrm>
          <a:prstGeom prst="roundRect">
            <a:avLst/>
          </a:prstGeom>
          <a:noFill/>
          <a:ln w="57150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r>
              <a:rPr lang="de-AT" b="0" noProof="0" dirty="0">
                <a:latin typeface="Calibri"/>
              </a:rPr>
              <a:t>WhatsApp</a:t>
            </a:r>
          </a:p>
          <a:p>
            <a:pPr algn="ctr"/>
            <a:r>
              <a:rPr lang="de-AT" b="0" noProof="0" dirty="0">
                <a:latin typeface="Calibri"/>
              </a:rPr>
              <a:t>Telegram</a:t>
            </a:r>
          </a:p>
          <a:p>
            <a:pPr algn="ctr"/>
            <a:r>
              <a:rPr lang="de-AT" b="0" noProof="0" dirty="0">
                <a:latin typeface="Calibri"/>
              </a:rPr>
              <a:t>Discord</a:t>
            </a:r>
          </a:p>
          <a:p>
            <a:pPr algn="ctr"/>
            <a:r>
              <a:rPr lang="de-AT" noProof="0" dirty="0">
                <a:latin typeface="Calibri"/>
              </a:rPr>
              <a:t>WeChat</a:t>
            </a:r>
          </a:p>
          <a:p>
            <a:pPr algn="ctr"/>
            <a:r>
              <a:rPr lang="de-AT" b="0" noProof="0" dirty="0">
                <a:latin typeface="Calibri"/>
              </a:rPr>
              <a:t>QQ</a:t>
            </a:r>
          </a:p>
          <a:p>
            <a:pPr algn="ctr"/>
            <a:r>
              <a:rPr lang="de-AT" b="0" noProof="0" dirty="0">
                <a:latin typeface="Calibri"/>
              </a:rPr>
              <a:t>Web UI</a:t>
            </a:r>
          </a:p>
          <a:p>
            <a:pPr algn="ctr"/>
            <a:r>
              <a:rPr lang="de-AT" noProof="0" dirty="0">
                <a:latin typeface="Calibri"/>
              </a:rPr>
              <a:t>…</a:t>
            </a:r>
            <a:endParaRPr lang="de-AT" b="0" noProof="0" dirty="0">
              <a:latin typeface="Calibri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0E85B8CB-BF3A-1F7C-F6E8-556D5712D194}"/>
              </a:ext>
            </a:extLst>
          </p:cNvPr>
          <p:cNvSpPr/>
          <p:nvPr/>
        </p:nvSpPr>
        <p:spPr>
          <a:xfrm>
            <a:off x="2422154" y="2815459"/>
            <a:ext cx="1288612" cy="544698"/>
          </a:xfrm>
          <a:prstGeom prst="roundRect">
            <a:avLst/>
          </a:prstGeom>
          <a:noFill/>
          <a:ln w="57150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r>
              <a:rPr lang="de-AT" noProof="0" dirty="0"/>
              <a:t>OpenClaw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44D1C62-3B71-6DCD-69AC-C22EBE0B7926}"/>
              </a:ext>
            </a:extLst>
          </p:cNvPr>
          <p:cNvSpPr/>
          <p:nvPr/>
        </p:nvSpPr>
        <p:spPr>
          <a:xfrm>
            <a:off x="7748752" y="2438400"/>
            <a:ext cx="1037940" cy="2011680"/>
          </a:xfrm>
          <a:prstGeom prst="roundRect">
            <a:avLst/>
          </a:prstGeom>
          <a:noFill/>
          <a:ln w="57150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r>
              <a:rPr lang="de-AT" b="0" noProof="0" dirty="0">
                <a:latin typeface="Calibri"/>
              </a:rPr>
              <a:t>Claude</a:t>
            </a:r>
          </a:p>
          <a:p>
            <a:pPr algn="ctr"/>
            <a:r>
              <a:rPr lang="de-AT" b="0" noProof="0" dirty="0">
                <a:latin typeface="Calibri"/>
              </a:rPr>
              <a:t>GPT</a:t>
            </a:r>
          </a:p>
          <a:p>
            <a:pPr algn="ctr"/>
            <a:r>
              <a:rPr lang="de-AT" b="0" noProof="0" dirty="0">
                <a:latin typeface="Calibri"/>
              </a:rPr>
              <a:t>Gemini</a:t>
            </a:r>
          </a:p>
          <a:p>
            <a:pPr algn="ctr"/>
            <a:r>
              <a:rPr lang="de-AT" noProof="0" dirty="0">
                <a:latin typeface="Calibri"/>
              </a:rPr>
              <a:t>…</a:t>
            </a:r>
            <a:endParaRPr lang="de-AT" b="0" noProof="0" dirty="0">
              <a:latin typeface="Calibri"/>
            </a:endParaRPr>
          </a:p>
        </p:txBody>
      </p:sp>
      <p:pic>
        <p:nvPicPr>
          <p:cNvPr id="1026" name="Picture 2" descr="Man ">
            <a:extLst>
              <a:ext uri="{FF2B5EF4-FFF2-40B4-BE49-F238E27FC236}">
                <a16:creationId xmlns:a16="http://schemas.microsoft.com/office/drawing/2014/main" id="{CDA75A4C-0E7D-9D97-9CBD-F16A9DA977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892" y="1077685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Big data ">
            <a:extLst>
              <a:ext uri="{FF2B5EF4-FFF2-40B4-BE49-F238E27FC236}">
                <a16:creationId xmlns:a16="http://schemas.microsoft.com/office/drawing/2014/main" id="{B9D988BA-BA09-4F99-1010-8FDE447FF1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8122" y="1219200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0FB596CE-6370-9B2D-8A2D-7DDDF6F16006}"/>
              </a:ext>
            </a:extLst>
          </p:cNvPr>
          <p:cNvSpPr txBox="1"/>
          <p:nvPr/>
        </p:nvSpPr>
        <p:spPr>
          <a:xfrm>
            <a:off x="7476297" y="4530221"/>
            <a:ext cx="14010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noProof="0" dirty="0"/>
              <a:t>Cloud / </a:t>
            </a:r>
            <a:r>
              <a:rPr lang="de-AT" noProof="0" dirty="0" err="1"/>
              <a:t>Local</a:t>
            </a:r>
            <a:endParaRPr lang="de-AT" noProof="0" dirty="0">
              <a:latin typeface="Calibri"/>
            </a:endParaRPr>
          </a:p>
        </p:txBody>
      </p:sp>
      <p:cxnSp>
        <p:nvCxnSpPr>
          <p:cNvPr id="2" name="直接箭头连接符 1">
            <a:extLst>
              <a:ext uri="{FF2B5EF4-FFF2-40B4-BE49-F238E27FC236}">
                <a16:creationId xmlns:a16="http://schemas.microsoft.com/office/drawing/2014/main" id="{66946D9F-4F1B-CB10-487B-021AE1A28F0E}"/>
              </a:ext>
            </a:extLst>
          </p:cNvPr>
          <p:cNvCxnSpPr/>
          <p:nvPr/>
        </p:nvCxnSpPr>
        <p:spPr>
          <a:xfrm>
            <a:off x="1882198" y="2963918"/>
            <a:ext cx="4572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" name="Rounded Rectangle 3">
            <a:extLst>
              <a:ext uri="{FF2B5EF4-FFF2-40B4-BE49-F238E27FC236}">
                <a16:creationId xmlns:a16="http://schemas.microsoft.com/office/drawing/2014/main" id="{C443394B-2D3C-46D3-3863-33644958EBBE}"/>
              </a:ext>
            </a:extLst>
          </p:cNvPr>
          <p:cNvSpPr/>
          <p:nvPr/>
        </p:nvSpPr>
        <p:spPr>
          <a:xfrm>
            <a:off x="1951027" y="2302578"/>
            <a:ext cx="1115432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noProof="0" dirty="0" err="1"/>
              <a:t>message</a:t>
            </a:r>
            <a:endParaRPr lang="de-AT" noProof="0" dirty="0"/>
          </a:p>
        </p:txBody>
      </p:sp>
      <p:sp>
        <p:nvSpPr>
          <p:cNvPr id="18" name="Rounded Rectangle 3">
            <a:extLst>
              <a:ext uri="{FF2B5EF4-FFF2-40B4-BE49-F238E27FC236}">
                <a16:creationId xmlns:a16="http://schemas.microsoft.com/office/drawing/2014/main" id="{72F61DD1-7846-FE37-F26F-F55180F3C918}"/>
              </a:ext>
            </a:extLst>
          </p:cNvPr>
          <p:cNvSpPr/>
          <p:nvPr/>
        </p:nvSpPr>
        <p:spPr>
          <a:xfrm>
            <a:off x="3940689" y="2302578"/>
            <a:ext cx="738417" cy="369330"/>
          </a:xfrm>
          <a:prstGeom prst="roundRect">
            <a:avLst/>
          </a:prstGeom>
          <a:noFill/>
          <a:ln w="57150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r>
              <a:rPr lang="de-AT" noProof="0" dirty="0"/>
              <a:t>Claw</a:t>
            </a:r>
          </a:p>
        </p:txBody>
      </p:sp>
      <p:sp>
        <p:nvSpPr>
          <p:cNvPr id="19" name="Rounded Rectangle 3">
            <a:extLst>
              <a:ext uri="{FF2B5EF4-FFF2-40B4-BE49-F238E27FC236}">
                <a16:creationId xmlns:a16="http://schemas.microsoft.com/office/drawing/2014/main" id="{5E9CCC54-C48A-9426-DD43-3F90F74F21D8}"/>
              </a:ext>
            </a:extLst>
          </p:cNvPr>
          <p:cNvSpPr/>
          <p:nvPr/>
        </p:nvSpPr>
        <p:spPr>
          <a:xfrm>
            <a:off x="4972073" y="2340926"/>
            <a:ext cx="534100" cy="292634"/>
          </a:xfrm>
          <a:prstGeom prst="roundRect">
            <a:avLst/>
          </a:prstGeom>
          <a:noFill/>
          <a:ln w="57150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r>
              <a:rPr lang="de-AT" sz="1200" noProof="0" dirty="0"/>
              <a:t>Claw</a:t>
            </a:r>
          </a:p>
        </p:txBody>
      </p: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44A1D089-DBEF-9AC3-CD0D-91B54AD906D4}"/>
              </a:ext>
            </a:extLst>
          </p:cNvPr>
          <p:cNvCxnSpPr>
            <a:cxnSpLocks/>
            <a:stCxn id="4" idx="3"/>
            <a:endCxn id="18" idx="1"/>
          </p:cNvCxnSpPr>
          <p:nvPr/>
        </p:nvCxnSpPr>
        <p:spPr>
          <a:xfrm flipV="1">
            <a:off x="3710766" y="2487243"/>
            <a:ext cx="229923" cy="60056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9" name="Rounded Rectangle 3">
            <a:extLst>
              <a:ext uri="{FF2B5EF4-FFF2-40B4-BE49-F238E27FC236}">
                <a16:creationId xmlns:a16="http://schemas.microsoft.com/office/drawing/2014/main" id="{B39C0EBE-2C6A-1F16-27C2-32507C413093}"/>
              </a:ext>
            </a:extLst>
          </p:cNvPr>
          <p:cNvSpPr/>
          <p:nvPr/>
        </p:nvSpPr>
        <p:spPr>
          <a:xfrm>
            <a:off x="5825588" y="2372640"/>
            <a:ext cx="534100" cy="229206"/>
          </a:xfrm>
          <a:prstGeom prst="roundRect">
            <a:avLst/>
          </a:prstGeom>
          <a:noFill/>
          <a:ln w="57150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r>
              <a:rPr lang="de-AT" sz="1050" noProof="0" dirty="0"/>
              <a:t>Claw</a:t>
            </a:r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010AD370-3DE8-5A0A-2830-1AA4B80C9416}"/>
              </a:ext>
            </a:extLst>
          </p:cNvPr>
          <p:cNvCxnSpPr>
            <a:cxnSpLocks/>
            <a:stCxn id="18" idx="3"/>
            <a:endCxn id="19" idx="1"/>
          </p:cNvCxnSpPr>
          <p:nvPr/>
        </p:nvCxnSpPr>
        <p:spPr>
          <a:xfrm>
            <a:off x="4679106" y="2487243"/>
            <a:ext cx="292967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14BC9A39-2D33-F005-90C5-A2EF0C111363}"/>
              </a:ext>
            </a:extLst>
          </p:cNvPr>
          <p:cNvCxnSpPr>
            <a:cxnSpLocks/>
            <a:stCxn id="19" idx="3"/>
            <a:endCxn id="9" idx="1"/>
          </p:cNvCxnSpPr>
          <p:nvPr/>
        </p:nvCxnSpPr>
        <p:spPr>
          <a:xfrm>
            <a:off x="5506173" y="2487243"/>
            <a:ext cx="319415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71865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F11725-E587-FB80-B390-F58572EA2B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12A0013D-162F-A82D-88B5-005842FA7719}"/>
              </a:ext>
            </a:extLst>
          </p:cNvPr>
          <p:cNvSpPr/>
          <p:nvPr/>
        </p:nvSpPr>
        <p:spPr>
          <a:xfrm>
            <a:off x="357308" y="2438400"/>
            <a:ext cx="1447844" cy="2011680"/>
          </a:xfrm>
          <a:prstGeom prst="roundRect">
            <a:avLst/>
          </a:prstGeom>
          <a:noFill/>
          <a:ln w="57150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r>
              <a:rPr lang="de-AT" b="0" noProof="0" dirty="0">
                <a:latin typeface="Calibri"/>
              </a:rPr>
              <a:t>WhatsApp</a:t>
            </a:r>
          </a:p>
          <a:p>
            <a:pPr algn="ctr"/>
            <a:r>
              <a:rPr lang="de-AT" b="0" noProof="0" dirty="0">
                <a:latin typeface="Calibri"/>
              </a:rPr>
              <a:t>Telegram</a:t>
            </a:r>
          </a:p>
          <a:p>
            <a:pPr algn="ctr"/>
            <a:r>
              <a:rPr lang="de-AT" b="0" noProof="0" dirty="0">
                <a:latin typeface="Calibri"/>
              </a:rPr>
              <a:t>Discord</a:t>
            </a:r>
          </a:p>
          <a:p>
            <a:pPr algn="ctr"/>
            <a:r>
              <a:rPr lang="de-AT" noProof="0" dirty="0">
                <a:latin typeface="Calibri"/>
              </a:rPr>
              <a:t>WeChat</a:t>
            </a:r>
          </a:p>
          <a:p>
            <a:pPr algn="ctr"/>
            <a:r>
              <a:rPr lang="de-AT" b="0" noProof="0" dirty="0">
                <a:latin typeface="Calibri"/>
              </a:rPr>
              <a:t>QQ</a:t>
            </a:r>
          </a:p>
          <a:p>
            <a:pPr algn="ctr"/>
            <a:r>
              <a:rPr lang="de-AT" b="0" noProof="0" dirty="0">
                <a:latin typeface="Calibri"/>
              </a:rPr>
              <a:t>Web UI</a:t>
            </a:r>
          </a:p>
          <a:p>
            <a:pPr algn="ctr"/>
            <a:r>
              <a:rPr lang="de-AT" noProof="0" dirty="0">
                <a:latin typeface="Calibri"/>
              </a:rPr>
              <a:t>…</a:t>
            </a:r>
            <a:endParaRPr lang="de-AT" b="0" noProof="0" dirty="0">
              <a:latin typeface="Calibri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B48B5050-ADA9-D35C-B45A-83532DEA1E4F}"/>
              </a:ext>
            </a:extLst>
          </p:cNvPr>
          <p:cNvSpPr/>
          <p:nvPr/>
        </p:nvSpPr>
        <p:spPr>
          <a:xfrm>
            <a:off x="2422154" y="2815459"/>
            <a:ext cx="1288612" cy="544698"/>
          </a:xfrm>
          <a:prstGeom prst="roundRect">
            <a:avLst/>
          </a:prstGeom>
          <a:noFill/>
          <a:ln w="57150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r>
              <a:rPr lang="de-AT" noProof="0" dirty="0"/>
              <a:t>OpenClaw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9D8AD57A-69E8-8BFF-A3BE-7D3CDBC6C01D}"/>
              </a:ext>
            </a:extLst>
          </p:cNvPr>
          <p:cNvSpPr/>
          <p:nvPr/>
        </p:nvSpPr>
        <p:spPr>
          <a:xfrm>
            <a:off x="7748752" y="2438400"/>
            <a:ext cx="1037940" cy="2011680"/>
          </a:xfrm>
          <a:prstGeom prst="roundRect">
            <a:avLst/>
          </a:prstGeom>
          <a:noFill/>
          <a:ln w="57150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r>
              <a:rPr lang="de-AT" b="0" noProof="0" dirty="0">
                <a:latin typeface="Calibri"/>
              </a:rPr>
              <a:t>Claude</a:t>
            </a:r>
          </a:p>
          <a:p>
            <a:pPr algn="ctr"/>
            <a:r>
              <a:rPr lang="de-AT" b="0" noProof="0" dirty="0">
                <a:latin typeface="Calibri"/>
              </a:rPr>
              <a:t>GPT</a:t>
            </a:r>
          </a:p>
          <a:p>
            <a:pPr algn="ctr"/>
            <a:r>
              <a:rPr lang="de-AT" b="0" noProof="0" dirty="0">
                <a:latin typeface="Calibri"/>
              </a:rPr>
              <a:t>Gemini</a:t>
            </a:r>
          </a:p>
          <a:p>
            <a:pPr algn="ctr"/>
            <a:r>
              <a:rPr lang="de-AT" noProof="0" dirty="0">
                <a:latin typeface="Calibri"/>
              </a:rPr>
              <a:t>…</a:t>
            </a:r>
            <a:endParaRPr lang="de-AT" b="0" noProof="0" dirty="0">
              <a:latin typeface="Calibri"/>
            </a:endParaRPr>
          </a:p>
        </p:txBody>
      </p:sp>
      <p:pic>
        <p:nvPicPr>
          <p:cNvPr id="1026" name="Picture 2" descr="Man ">
            <a:extLst>
              <a:ext uri="{FF2B5EF4-FFF2-40B4-BE49-F238E27FC236}">
                <a16:creationId xmlns:a16="http://schemas.microsoft.com/office/drawing/2014/main" id="{2FF13C19-C983-1DA6-BA0A-40B41F1A73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892" y="1077685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Big data ">
            <a:extLst>
              <a:ext uri="{FF2B5EF4-FFF2-40B4-BE49-F238E27FC236}">
                <a16:creationId xmlns:a16="http://schemas.microsoft.com/office/drawing/2014/main" id="{0AE8A093-2636-89F8-E5FA-90E7C96A5A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8122" y="1219200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F1B4F42B-7866-EDC4-4F37-88AAFC37AA3C}"/>
              </a:ext>
            </a:extLst>
          </p:cNvPr>
          <p:cNvSpPr txBox="1"/>
          <p:nvPr/>
        </p:nvSpPr>
        <p:spPr>
          <a:xfrm>
            <a:off x="2283553" y="3370589"/>
            <a:ext cx="15658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AT" noProof="0" dirty="0"/>
              <a:t>Runs </a:t>
            </a:r>
            <a:r>
              <a:rPr lang="de-AT" noProof="0" dirty="0" err="1"/>
              <a:t>locally</a:t>
            </a:r>
            <a:r>
              <a:rPr lang="de-AT" noProof="0" dirty="0"/>
              <a:t> </a:t>
            </a:r>
          </a:p>
          <a:p>
            <a:pPr algn="ctr"/>
            <a:r>
              <a:rPr lang="de-AT" noProof="0" dirty="0"/>
              <a:t>on </a:t>
            </a:r>
            <a:r>
              <a:rPr lang="de-AT" noProof="0" dirty="0" err="1"/>
              <a:t>your</a:t>
            </a:r>
            <a:r>
              <a:rPr lang="de-AT" noProof="0" dirty="0"/>
              <a:t> </a:t>
            </a:r>
            <a:r>
              <a:rPr lang="de-AT" noProof="0" dirty="0" err="1"/>
              <a:t>device</a:t>
            </a:r>
            <a:endParaRPr lang="de-AT" noProof="0" dirty="0">
              <a:latin typeface="Calibri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0CC70C9-E2B3-33D2-7424-845FB2CB9F41}"/>
              </a:ext>
            </a:extLst>
          </p:cNvPr>
          <p:cNvSpPr txBox="1"/>
          <p:nvPr/>
        </p:nvSpPr>
        <p:spPr>
          <a:xfrm>
            <a:off x="7476297" y="4530221"/>
            <a:ext cx="14010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noProof="0" dirty="0"/>
              <a:t>Cloud / </a:t>
            </a:r>
            <a:r>
              <a:rPr lang="de-AT" noProof="0" dirty="0" err="1"/>
              <a:t>Local</a:t>
            </a:r>
            <a:endParaRPr lang="de-AT" noProof="0" dirty="0">
              <a:latin typeface="Calibri"/>
            </a:endParaRPr>
          </a:p>
        </p:txBody>
      </p:sp>
      <p:cxnSp>
        <p:nvCxnSpPr>
          <p:cNvPr id="2" name="直接箭头连接符 1">
            <a:extLst>
              <a:ext uri="{FF2B5EF4-FFF2-40B4-BE49-F238E27FC236}">
                <a16:creationId xmlns:a16="http://schemas.microsoft.com/office/drawing/2014/main" id="{4EE9A8A6-5CFE-B698-0BE6-C1A18F8CB602}"/>
              </a:ext>
            </a:extLst>
          </p:cNvPr>
          <p:cNvCxnSpPr/>
          <p:nvPr/>
        </p:nvCxnSpPr>
        <p:spPr>
          <a:xfrm>
            <a:off x="1882198" y="2963918"/>
            <a:ext cx="4572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4CB0FBA9-B48C-DDF8-65C0-8224EC931DDD}"/>
              </a:ext>
            </a:extLst>
          </p:cNvPr>
          <p:cNvCxnSpPr>
            <a:cxnSpLocks/>
          </p:cNvCxnSpPr>
          <p:nvPr/>
        </p:nvCxnSpPr>
        <p:spPr>
          <a:xfrm>
            <a:off x="3837401" y="2963918"/>
            <a:ext cx="373793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" name="Rounded Rectangle 3">
            <a:extLst>
              <a:ext uri="{FF2B5EF4-FFF2-40B4-BE49-F238E27FC236}">
                <a16:creationId xmlns:a16="http://schemas.microsoft.com/office/drawing/2014/main" id="{F7F0DB20-81DD-2E50-FC32-0396E29CE6CD}"/>
              </a:ext>
            </a:extLst>
          </p:cNvPr>
          <p:cNvSpPr/>
          <p:nvPr/>
        </p:nvSpPr>
        <p:spPr>
          <a:xfrm>
            <a:off x="1951027" y="2302578"/>
            <a:ext cx="1115432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noProof="0" dirty="0" err="1"/>
              <a:t>message</a:t>
            </a:r>
            <a:endParaRPr lang="de-AT" noProof="0" dirty="0"/>
          </a:p>
        </p:txBody>
      </p:sp>
      <p:sp>
        <p:nvSpPr>
          <p:cNvPr id="11" name="Rounded Rectangle 3">
            <a:extLst>
              <a:ext uri="{FF2B5EF4-FFF2-40B4-BE49-F238E27FC236}">
                <a16:creationId xmlns:a16="http://schemas.microsoft.com/office/drawing/2014/main" id="{B4040FD0-0EFB-B814-F63E-EE95254E545A}"/>
              </a:ext>
            </a:extLst>
          </p:cNvPr>
          <p:cNvSpPr/>
          <p:nvPr/>
        </p:nvSpPr>
        <p:spPr>
          <a:xfrm>
            <a:off x="5519827" y="2302578"/>
            <a:ext cx="1115432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noProof="0" dirty="0" err="1"/>
              <a:t>message</a:t>
            </a:r>
            <a:endParaRPr lang="de-AT" noProof="0" dirty="0"/>
          </a:p>
        </p:txBody>
      </p:sp>
      <p:sp>
        <p:nvSpPr>
          <p:cNvPr id="12" name="Rounded Rectangle 3">
            <a:extLst>
              <a:ext uri="{FF2B5EF4-FFF2-40B4-BE49-F238E27FC236}">
                <a16:creationId xmlns:a16="http://schemas.microsoft.com/office/drawing/2014/main" id="{52FFBB80-3D72-0073-F9ED-92D4500AAF14}"/>
              </a:ext>
            </a:extLst>
          </p:cNvPr>
          <p:cNvSpPr/>
          <p:nvPr/>
        </p:nvSpPr>
        <p:spPr>
          <a:xfrm>
            <a:off x="5519827" y="1568669"/>
            <a:ext cx="1115432" cy="657077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noProof="0" dirty="0"/>
              <a:t>System prompt</a:t>
            </a:r>
          </a:p>
        </p:txBody>
      </p:sp>
      <p:sp>
        <p:nvSpPr>
          <p:cNvPr id="7" name="对话气泡: 圆角矩形 6">
            <a:extLst>
              <a:ext uri="{FF2B5EF4-FFF2-40B4-BE49-F238E27FC236}">
                <a16:creationId xmlns:a16="http://schemas.microsoft.com/office/drawing/2014/main" id="{1AA723D7-BA23-415E-E29F-D29788113B2A}"/>
              </a:ext>
            </a:extLst>
          </p:cNvPr>
          <p:cNvSpPr/>
          <p:nvPr/>
        </p:nvSpPr>
        <p:spPr>
          <a:xfrm>
            <a:off x="4183227" y="656300"/>
            <a:ext cx="2108528" cy="646331"/>
          </a:xfrm>
          <a:prstGeom prst="wedgeRoundRectCallout">
            <a:avLst>
              <a:gd name="adj1" fmla="val 30602"/>
              <a:gd name="adj2" fmla="val 84087"/>
              <a:gd name="adj3" fmla="val 16667"/>
            </a:avLst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noProof="0" dirty="0" err="1"/>
              <a:t>When</a:t>
            </a:r>
            <a:r>
              <a:rPr lang="de-AT" noProof="0" dirty="0"/>
              <a:t> </a:t>
            </a:r>
            <a:r>
              <a:rPr lang="de-AT" noProof="0" dirty="0" err="1"/>
              <a:t>to</a:t>
            </a:r>
            <a:r>
              <a:rPr lang="de-AT" noProof="0" dirty="0"/>
              <a:t> </a:t>
            </a:r>
            <a:r>
              <a:rPr lang="de-AT" noProof="0" dirty="0" err="1"/>
              <a:t>use</a:t>
            </a:r>
            <a:r>
              <a:rPr lang="de-AT" noProof="0" dirty="0"/>
              <a:t> </a:t>
            </a:r>
            <a:r>
              <a:rPr lang="de-AT" noProof="0" dirty="0" err="1"/>
              <a:t>which</a:t>
            </a:r>
            <a:r>
              <a:rPr lang="de-AT" noProof="0" dirty="0"/>
              <a:t> </a:t>
            </a:r>
            <a:r>
              <a:rPr lang="de-AT" noProof="0" dirty="0" err="1"/>
              <a:t>tool</a:t>
            </a:r>
            <a:r>
              <a:rPr lang="de-AT" noProof="0" dirty="0"/>
              <a:t> </a:t>
            </a:r>
            <a:r>
              <a:rPr lang="de-AT" noProof="0" dirty="0" err="1"/>
              <a:t>or</a:t>
            </a:r>
            <a:r>
              <a:rPr lang="de-AT" noProof="0" dirty="0"/>
              <a:t> </a:t>
            </a:r>
            <a:r>
              <a:rPr lang="de-AT" noProof="0" dirty="0" err="1"/>
              <a:t>command</a:t>
            </a:r>
            <a:endParaRPr lang="de-AT" noProof="0" dirty="0"/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5046DE60-D34D-26AD-7088-712C4BFF66BA}"/>
              </a:ext>
            </a:extLst>
          </p:cNvPr>
          <p:cNvCxnSpPr>
            <a:cxnSpLocks/>
          </p:cNvCxnSpPr>
          <p:nvPr/>
        </p:nvCxnSpPr>
        <p:spPr>
          <a:xfrm flipH="1">
            <a:off x="3837401" y="3213719"/>
            <a:ext cx="373793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14647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EA2FAB-F573-945E-1F57-7CFBEEEB46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FAF16736-1DB1-9A32-22C1-AE0D9475E7C7}"/>
              </a:ext>
            </a:extLst>
          </p:cNvPr>
          <p:cNvSpPr/>
          <p:nvPr/>
        </p:nvSpPr>
        <p:spPr>
          <a:xfrm>
            <a:off x="357308" y="2438400"/>
            <a:ext cx="1447844" cy="2011680"/>
          </a:xfrm>
          <a:prstGeom prst="roundRect">
            <a:avLst/>
          </a:prstGeom>
          <a:noFill/>
          <a:ln w="57150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r>
              <a:rPr lang="de-AT" b="0" noProof="0" dirty="0">
                <a:latin typeface="Calibri"/>
              </a:rPr>
              <a:t>WhatsApp</a:t>
            </a:r>
          </a:p>
          <a:p>
            <a:pPr algn="ctr"/>
            <a:r>
              <a:rPr lang="de-AT" b="0" noProof="0" dirty="0">
                <a:latin typeface="Calibri"/>
              </a:rPr>
              <a:t>Telegram</a:t>
            </a:r>
          </a:p>
          <a:p>
            <a:pPr algn="ctr"/>
            <a:r>
              <a:rPr lang="de-AT" b="0" noProof="0" dirty="0">
                <a:latin typeface="Calibri"/>
              </a:rPr>
              <a:t>Discord</a:t>
            </a:r>
          </a:p>
          <a:p>
            <a:pPr algn="ctr"/>
            <a:r>
              <a:rPr lang="de-AT" noProof="0" dirty="0">
                <a:latin typeface="Calibri"/>
              </a:rPr>
              <a:t>WeChat</a:t>
            </a:r>
          </a:p>
          <a:p>
            <a:pPr algn="ctr"/>
            <a:r>
              <a:rPr lang="de-AT" b="0" noProof="0" dirty="0">
                <a:latin typeface="Calibri"/>
              </a:rPr>
              <a:t>QQ</a:t>
            </a:r>
          </a:p>
          <a:p>
            <a:pPr algn="ctr"/>
            <a:r>
              <a:rPr lang="de-AT" b="0" noProof="0" dirty="0">
                <a:latin typeface="Calibri"/>
              </a:rPr>
              <a:t>Web UI</a:t>
            </a:r>
          </a:p>
          <a:p>
            <a:pPr algn="ctr"/>
            <a:r>
              <a:rPr lang="de-AT" noProof="0" dirty="0">
                <a:latin typeface="Calibri"/>
              </a:rPr>
              <a:t>…</a:t>
            </a:r>
            <a:endParaRPr lang="de-AT" b="0" noProof="0" dirty="0">
              <a:latin typeface="Calibri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0A344B8B-296D-D91C-09C5-44565874C035}"/>
              </a:ext>
            </a:extLst>
          </p:cNvPr>
          <p:cNvSpPr/>
          <p:nvPr/>
        </p:nvSpPr>
        <p:spPr>
          <a:xfrm>
            <a:off x="2422154" y="2815459"/>
            <a:ext cx="1288612" cy="544698"/>
          </a:xfrm>
          <a:prstGeom prst="roundRect">
            <a:avLst/>
          </a:prstGeom>
          <a:noFill/>
          <a:ln w="57150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r>
              <a:rPr lang="de-AT" noProof="0" dirty="0"/>
              <a:t>OpenClaw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473B645B-5F69-C4AE-7813-813B6B3A79A4}"/>
              </a:ext>
            </a:extLst>
          </p:cNvPr>
          <p:cNvSpPr/>
          <p:nvPr/>
        </p:nvSpPr>
        <p:spPr>
          <a:xfrm>
            <a:off x="7748752" y="2438400"/>
            <a:ext cx="1037940" cy="2011680"/>
          </a:xfrm>
          <a:prstGeom prst="roundRect">
            <a:avLst/>
          </a:prstGeom>
          <a:noFill/>
          <a:ln w="57150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r>
              <a:rPr lang="de-AT" b="0" noProof="0" dirty="0">
                <a:latin typeface="Calibri"/>
              </a:rPr>
              <a:t>Claude</a:t>
            </a:r>
          </a:p>
          <a:p>
            <a:pPr algn="ctr"/>
            <a:r>
              <a:rPr lang="de-AT" b="0" noProof="0" dirty="0">
                <a:latin typeface="Calibri"/>
              </a:rPr>
              <a:t>GPT</a:t>
            </a:r>
          </a:p>
          <a:p>
            <a:pPr algn="ctr"/>
            <a:r>
              <a:rPr lang="de-AT" b="0" noProof="0" dirty="0">
                <a:latin typeface="Calibri"/>
              </a:rPr>
              <a:t>Gemini</a:t>
            </a:r>
          </a:p>
          <a:p>
            <a:pPr algn="ctr"/>
            <a:r>
              <a:rPr lang="de-AT" noProof="0" dirty="0">
                <a:latin typeface="Calibri"/>
              </a:rPr>
              <a:t>…</a:t>
            </a:r>
            <a:endParaRPr lang="de-AT" b="0" noProof="0" dirty="0">
              <a:latin typeface="Calibri"/>
            </a:endParaRPr>
          </a:p>
        </p:txBody>
      </p:sp>
      <p:pic>
        <p:nvPicPr>
          <p:cNvPr id="1026" name="Picture 2" descr="Man ">
            <a:extLst>
              <a:ext uri="{FF2B5EF4-FFF2-40B4-BE49-F238E27FC236}">
                <a16:creationId xmlns:a16="http://schemas.microsoft.com/office/drawing/2014/main" id="{9C7DC5D5-982C-6FEB-5C3F-F1C30B731D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892" y="1077685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Big data ">
            <a:extLst>
              <a:ext uri="{FF2B5EF4-FFF2-40B4-BE49-F238E27FC236}">
                <a16:creationId xmlns:a16="http://schemas.microsoft.com/office/drawing/2014/main" id="{9DC9F656-1F21-8049-A82E-311FB3DEBB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8122" y="1219200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B5EEB14B-5448-EC32-380F-B1F142DF190C}"/>
              </a:ext>
            </a:extLst>
          </p:cNvPr>
          <p:cNvSpPr txBox="1"/>
          <p:nvPr/>
        </p:nvSpPr>
        <p:spPr>
          <a:xfrm>
            <a:off x="2283553" y="3370589"/>
            <a:ext cx="15658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AT" noProof="0" dirty="0"/>
              <a:t>Runs </a:t>
            </a:r>
            <a:r>
              <a:rPr lang="de-AT" noProof="0" dirty="0" err="1"/>
              <a:t>locally</a:t>
            </a:r>
            <a:r>
              <a:rPr lang="de-AT" noProof="0" dirty="0"/>
              <a:t> </a:t>
            </a:r>
          </a:p>
          <a:p>
            <a:pPr algn="ctr"/>
            <a:r>
              <a:rPr lang="de-AT" noProof="0" dirty="0"/>
              <a:t>on </a:t>
            </a:r>
            <a:r>
              <a:rPr lang="de-AT" noProof="0" dirty="0" err="1"/>
              <a:t>your</a:t>
            </a:r>
            <a:r>
              <a:rPr lang="de-AT" noProof="0" dirty="0"/>
              <a:t> </a:t>
            </a:r>
            <a:r>
              <a:rPr lang="de-AT" noProof="0" dirty="0" err="1"/>
              <a:t>device</a:t>
            </a:r>
            <a:endParaRPr lang="de-AT" noProof="0" dirty="0">
              <a:latin typeface="Calibri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B730644-49D4-7D7F-DEBD-79F06F924DA5}"/>
              </a:ext>
            </a:extLst>
          </p:cNvPr>
          <p:cNvSpPr txBox="1"/>
          <p:nvPr/>
        </p:nvSpPr>
        <p:spPr>
          <a:xfrm>
            <a:off x="7476297" y="4530221"/>
            <a:ext cx="14010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noProof="0" dirty="0"/>
              <a:t>Cloud / </a:t>
            </a:r>
            <a:r>
              <a:rPr lang="de-AT" noProof="0" dirty="0" err="1"/>
              <a:t>Local</a:t>
            </a:r>
            <a:endParaRPr lang="de-AT" noProof="0" dirty="0">
              <a:latin typeface="Calibri"/>
            </a:endParaRPr>
          </a:p>
        </p:txBody>
      </p: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B3AFBECE-675B-6053-D65A-038505F03CD4}"/>
              </a:ext>
            </a:extLst>
          </p:cNvPr>
          <p:cNvCxnSpPr>
            <a:cxnSpLocks/>
          </p:cNvCxnSpPr>
          <p:nvPr/>
        </p:nvCxnSpPr>
        <p:spPr>
          <a:xfrm flipV="1">
            <a:off x="3046905" y="4016920"/>
            <a:ext cx="0" cy="29631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4DD287E1-339D-7EE2-A002-8241FF8F0758}"/>
              </a:ext>
            </a:extLst>
          </p:cNvPr>
          <p:cNvSpPr txBox="1"/>
          <p:nvPr/>
        </p:nvSpPr>
        <p:spPr>
          <a:xfrm>
            <a:off x="2027809" y="4437888"/>
            <a:ext cx="2038192" cy="369332"/>
          </a:xfrm>
          <a:prstGeom prst="rect">
            <a:avLst/>
          </a:prstGeom>
          <a:noFill/>
          <a:ln w="2857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wrap="square">
            <a:spAutoFit/>
          </a:bodyPr>
          <a:lstStyle/>
          <a:p>
            <a:pPr algn="ctr"/>
            <a:r>
              <a:rPr lang="de-AT" noProof="0" dirty="0"/>
              <a:t>SKILL.md</a:t>
            </a:r>
          </a:p>
        </p:txBody>
      </p:sp>
      <p:cxnSp>
        <p:nvCxnSpPr>
          <p:cNvPr id="2" name="直接箭头连接符 1">
            <a:extLst>
              <a:ext uri="{FF2B5EF4-FFF2-40B4-BE49-F238E27FC236}">
                <a16:creationId xmlns:a16="http://schemas.microsoft.com/office/drawing/2014/main" id="{4630735B-07F6-66B8-5CC5-594F5EEB3E13}"/>
              </a:ext>
            </a:extLst>
          </p:cNvPr>
          <p:cNvCxnSpPr/>
          <p:nvPr/>
        </p:nvCxnSpPr>
        <p:spPr>
          <a:xfrm>
            <a:off x="1882198" y="2963918"/>
            <a:ext cx="4572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36A4A4EA-5017-A76B-8757-61B15A417FBD}"/>
              </a:ext>
            </a:extLst>
          </p:cNvPr>
          <p:cNvCxnSpPr>
            <a:cxnSpLocks/>
          </p:cNvCxnSpPr>
          <p:nvPr/>
        </p:nvCxnSpPr>
        <p:spPr>
          <a:xfrm>
            <a:off x="3837401" y="2963918"/>
            <a:ext cx="373793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" name="Rounded Rectangle 3">
            <a:extLst>
              <a:ext uri="{FF2B5EF4-FFF2-40B4-BE49-F238E27FC236}">
                <a16:creationId xmlns:a16="http://schemas.microsoft.com/office/drawing/2014/main" id="{2BD9F5D4-C4BB-F799-23E7-D3E71EFF1C02}"/>
              </a:ext>
            </a:extLst>
          </p:cNvPr>
          <p:cNvSpPr/>
          <p:nvPr/>
        </p:nvSpPr>
        <p:spPr>
          <a:xfrm>
            <a:off x="1951027" y="2302578"/>
            <a:ext cx="1115432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noProof="0" dirty="0" err="1"/>
              <a:t>message</a:t>
            </a:r>
            <a:endParaRPr lang="de-AT" noProof="0" dirty="0"/>
          </a:p>
        </p:txBody>
      </p:sp>
      <p:sp>
        <p:nvSpPr>
          <p:cNvPr id="11" name="Rounded Rectangle 3">
            <a:extLst>
              <a:ext uri="{FF2B5EF4-FFF2-40B4-BE49-F238E27FC236}">
                <a16:creationId xmlns:a16="http://schemas.microsoft.com/office/drawing/2014/main" id="{EF9896C7-CB7A-D8F3-C2C2-C80E28CCBED0}"/>
              </a:ext>
            </a:extLst>
          </p:cNvPr>
          <p:cNvSpPr/>
          <p:nvPr/>
        </p:nvSpPr>
        <p:spPr>
          <a:xfrm>
            <a:off x="5519827" y="2302578"/>
            <a:ext cx="1115432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noProof="0" dirty="0" err="1"/>
              <a:t>message</a:t>
            </a:r>
            <a:endParaRPr lang="de-AT" noProof="0" dirty="0"/>
          </a:p>
        </p:txBody>
      </p:sp>
      <p:sp>
        <p:nvSpPr>
          <p:cNvPr id="12" name="Rounded Rectangle 3">
            <a:extLst>
              <a:ext uri="{FF2B5EF4-FFF2-40B4-BE49-F238E27FC236}">
                <a16:creationId xmlns:a16="http://schemas.microsoft.com/office/drawing/2014/main" id="{84433693-D97A-1D47-7281-34198724F313}"/>
              </a:ext>
            </a:extLst>
          </p:cNvPr>
          <p:cNvSpPr/>
          <p:nvPr/>
        </p:nvSpPr>
        <p:spPr>
          <a:xfrm>
            <a:off x="5519827" y="1568669"/>
            <a:ext cx="1115432" cy="657077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noProof="0" dirty="0"/>
              <a:t>System prompt</a:t>
            </a:r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CA5E5B7D-D024-398B-2DD4-20C8A3AD2C6E}"/>
              </a:ext>
            </a:extLst>
          </p:cNvPr>
          <p:cNvCxnSpPr>
            <a:cxnSpLocks/>
            <a:endCxn id="12" idx="1"/>
          </p:cNvCxnSpPr>
          <p:nvPr/>
        </p:nvCxnSpPr>
        <p:spPr>
          <a:xfrm flipV="1">
            <a:off x="3196558" y="1897208"/>
            <a:ext cx="2323269" cy="79504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63736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11CED4-2ECC-C137-2FC9-2DD37412A9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51E0B455-5ECD-51FF-1BB6-ACEB9AEE4A5A}"/>
              </a:ext>
            </a:extLst>
          </p:cNvPr>
          <p:cNvSpPr/>
          <p:nvPr/>
        </p:nvSpPr>
        <p:spPr>
          <a:xfrm>
            <a:off x="2422154" y="2815459"/>
            <a:ext cx="1288612" cy="544698"/>
          </a:xfrm>
          <a:prstGeom prst="roundRect">
            <a:avLst/>
          </a:prstGeom>
          <a:noFill/>
          <a:ln w="57150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r>
              <a:rPr lang="de-AT" noProof="0" dirty="0"/>
              <a:t>OpenClaw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351A512C-151A-4CAA-4F60-D1BB9FE77F0E}"/>
              </a:ext>
            </a:extLst>
          </p:cNvPr>
          <p:cNvSpPr/>
          <p:nvPr/>
        </p:nvSpPr>
        <p:spPr>
          <a:xfrm>
            <a:off x="7748752" y="2438400"/>
            <a:ext cx="1037940" cy="2011680"/>
          </a:xfrm>
          <a:prstGeom prst="roundRect">
            <a:avLst/>
          </a:prstGeom>
          <a:noFill/>
          <a:ln w="57150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r>
              <a:rPr lang="de-AT" b="0" noProof="0" dirty="0">
                <a:latin typeface="Calibri"/>
              </a:rPr>
              <a:t>Claude</a:t>
            </a:r>
          </a:p>
          <a:p>
            <a:pPr algn="ctr"/>
            <a:r>
              <a:rPr lang="de-AT" b="0" noProof="0" dirty="0">
                <a:latin typeface="Calibri"/>
              </a:rPr>
              <a:t>GPT</a:t>
            </a:r>
          </a:p>
          <a:p>
            <a:pPr algn="ctr"/>
            <a:r>
              <a:rPr lang="de-AT" b="0" noProof="0" dirty="0">
                <a:latin typeface="Calibri"/>
              </a:rPr>
              <a:t>Gemini</a:t>
            </a:r>
          </a:p>
          <a:p>
            <a:pPr algn="ctr"/>
            <a:r>
              <a:rPr lang="de-AT" noProof="0" dirty="0">
                <a:latin typeface="Calibri"/>
              </a:rPr>
              <a:t>…</a:t>
            </a:r>
            <a:endParaRPr lang="de-AT" b="0" noProof="0" dirty="0">
              <a:latin typeface="Calibri"/>
            </a:endParaRPr>
          </a:p>
        </p:txBody>
      </p:sp>
      <p:pic>
        <p:nvPicPr>
          <p:cNvPr id="1028" name="Picture 4" descr="Big data ">
            <a:extLst>
              <a:ext uri="{FF2B5EF4-FFF2-40B4-BE49-F238E27FC236}">
                <a16:creationId xmlns:a16="http://schemas.microsoft.com/office/drawing/2014/main" id="{BEE2ACC0-B597-95A1-9559-E78D8FE440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8122" y="1219200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2ED4709C-9E9F-186D-FDCF-0560E56BBA18}"/>
              </a:ext>
            </a:extLst>
          </p:cNvPr>
          <p:cNvSpPr txBox="1"/>
          <p:nvPr/>
        </p:nvSpPr>
        <p:spPr>
          <a:xfrm>
            <a:off x="2283553" y="3370589"/>
            <a:ext cx="15658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AT" noProof="0" dirty="0"/>
              <a:t>Runs </a:t>
            </a:r>
            <a:r>
              <a:rPr lang="de-AT" noProof="0" dirty="0" err="1"/>
              <a:t>locally</a:t>
            </a:r>
            <a:r>
              <a:rPr lang="de-AT" noProof="0" dirty="0"/>
              <a:t> </a:t>
            </a:r>
          </a:p>
          <a:p>
            <a:pPr algn="ctr"/>
            <a:r>
              <a:rPr lang="de-AT" noProof="0" dirty="0"/>
              <a:t>on </a:t>
            </a:r>
            <a:r>
              <a:rPr lang="de-AT" noProof="0" dirty="0" err="1"/>
              <a:t>your</a:t>
            </a:r>
            <a:r>
              <a:rPr lang="de-AT" noProof="0" dirty="0"/>
              <a:t> </a:t>
            </a:r>
            <a:r>
              <a:rPr lang="de-AT" noProof="0" dirty="0" err="1"/>
              <a:t>device</a:t>
            </a:r>
            <a:endParaRPr lang="de-AT" noProof="0" dirty="0">
              <a:latin typeface="Calibri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DBB8CE8-FE2E-A747-59C8-ED0A12EF32C3}"/>
              </a:ext>
            </a:extLst>
          </p:cNvPr>
          <p:cNvSpPr txBox="1"/>
          <p:nvPr/>
        </p:nvSpPr>
        <p:spPr>
          <a:xfrm>
            <a:off x="7476297" y="4530221"/>
            <a:ext cx="14010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noProof="0" dirty="0"/>
              <a:t>Cloud / </a:t>
            </a:r>
            <a:r>
              <a:rPr lang="de-AT" noProof="0" dirty="0" err="1"/>
              <a:t>Local</a:t>
            </a:r>
            <a:endParaRPr lang="de-AT" noProof="0" dirty="0">
              <a:latin typeface="Calibri"/>
            </a:endParaRPr>
          </a:p>
        </p:txBody>
      </p: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44E6DAF4-6C73-754E-F97C-193AFA855A36}"/>
              </a:ext>
            </a:extLst>
          </p:cNvPr>
          <p:cNvCxnSpPr>
            <a:cxnSpLocks/>
          </p:cNvCxnSpPr>
          <p:nvPr/>
        </p:nvCxnSpPr>
        <p:spPr>
          <a:xfrm flipV="1">
            <a:off x="3046905" y="4016920"/>
            <a:ext cx="0" cy="29631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555EBAB3-FE9C-3189-ADD2-839F514BA80F}"/>
              </a:ext>
            </a:extLst>
          </p:cNvPr>
          <p:cNvSpPr txBox="1"/>
          <p:nvPr/>
        </p:nvSpPr>
        <p:spPr>
          <a:xfrm>
            <a:off x="2027809" y="4437888"/>
            <a:ext cx="2038192" cy="369332"/>
          </a:xfrm>
          <a:prstGeom prst="rect">
            <a:avLst/>
          </a:prstGeom>
          <a:noFill/>
          <a:ln w="2857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wrap="square">
            <a:spAutoFit/>
          </a:bodyPr>
          <a:lstStyle/>
          <a:p>
            <a:pPr algn="ctr"/>
            <a:r>
              <a:rPr lang="de-AT" noProof="0" dirty="0"/>
              <a:t>HEARTBEAT.md</a:t>
            </a:r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39AFF209-F124-55A5-34D0-504CBDE18EA8}"/>
              </a:ext>
            </a:extLst>
          </p:cNvPr>
          <p:cNvCxnSpPr>
            <a:cxnSpLocks/>
          </p:cNvCxnSpPr>
          <p:nvPr/>
        </p:nvCxnSpPr>
        <p:spPr>
          <a:xfrm>
            <a:off x="3837401" y="2963918"/>
            <a:ext cx="373793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2" name="Rounded Rectangle 3">
            <a:extLst>
              <a:ext uri="{FF2B5EF4-FFF2-40B4-BE49-F238E27FC236}">
                <a16:creationId xmlns:a16="http://schemas.microsoft.com/office/drawing/2014/main" id="{5F46EB25-199F-34E5-B046-7F814E395443}"/>
              </a:ext>
            </a:extLst>
          </p:cNvPr>
          <p:cNvSpPr/>
          <p:nvPr/>
        </p:nvSpPr>
        <p:spPr>
          <a:xfrm>
            <a:off x="4962111" y="1069077"/>
            <a:ext cx="1115432" cy="657077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noProof="0" dirty="0"/>
              <a:t>System prompt</a:t>
            </a: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1C918DFA-C3DC-30B4-00BD-56637F8198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0577" y="1828800"/>
            <a:ext cx="3238500" cy="742950"/>
          </a:xfrm>
          <a:prstGeom prst="rect">
            <a:avLst/>
          </a:prstGeom>
        </p:spPr>
      </p:pic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0EE47071-B794-C175-0DD4-C61371207F71}"/>
              </a:ext>
            </a:extLst>
          </p:cNvPr>
          <p:cNvCxnSpPr>
            <a:cxnSpLocks/>
          </p:cNvCxnSpPr>
          <p:nvPr/>
        </p:nvCxnSpPr>
        <p:spPr>
          <a:xfrm flipH="1">
            <a:off x="3849366" y="3176524"/>
            <a:ext cx="3626931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13221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477545-4674-E9AE-04AD-778A75F22B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096121E5-5B5A-106F-7394-F68BC7377B78}"/>
              </a:ext>
            </a:extLst>
          </p:cNvPr>
          <p:cNvSpPr/>
          <p:nvPr/>
        </p:nvSpPr>
        <p:spPr>
          <a:xfrm>
            <a:off x="357308" y="2438400"/>
            <a:ext cx="1447844" cy="2011680"/>
          </a:xfrm>
          <a:prstGeom prst="roundRect">
            <a:avLst/>
          </a:prstGeom>
          <a:noFill/>
          <a:ln w="57150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r>
              <a:rPr lang="de-AT" b="0" noProof="0" dirty="0">
                <a:latin typeface="Calibri"/>
              </a:rPr>
              <a:t>WhatsApp</a:t>
            </a:r>
          </a:p>
          <a:p>
            <a:pPr algn="ctr"/>
            <a:r>
              <a:rPr lang="de-AT" b="0" noProof="0" dirty="0">
                <a:latin typeface="Calibri"/>
              </a:rPr>
              <a:t>Telegram</a:t>
            </a:r>
          </a:p>
          <a:p>
            <a:pPr algn="ctr"/>
            <a:r>
              <a:rPr lang="de-AT" b="0" noProof="0" dirty="0">
                <a:latin typeface="Calibri"/>
              </a:rPr>
              <a:t>Discord</a:t>
            </a:r>
          </a:p>
          <a:p>
            <a:pPr algn="ctr"/>
            <a:r>
              <a:rPr lang="de-AT" noProof="0" dirty="0">
                <a:latin typeface="Calibri"/>
              </a:rPr>
              <a:t>WeChat</a:t>
            </a:r>
          </a:p>
          <a:p>
            <a:pPr algn="ctr"/>
            <a:r>
              <a:rPr lang="de-AT" b="0" noProof="0" dirty="0">
                <a:latin typeface="Calibri"/>
              </a:rPr>
              <a:t>QQ</a:t>
            </a:r>
          </a:p>
          <a:p>
            <a:pPr algn="ctr"/>
            <a:r>
              <a:rPr lang="de-AT" b="0" noProof="0" dirty="0">
                <a:latin typeface="Calibri"/>
              </a:rPr>
              <a:t>Web UI</a:t>
            </a:r>
          </a:p>
          <a:p>
            <a:pPr algn="ctr"/>
            <a:r>
              <a:rPr lang="de-AT" noProof="0" dirty="0">
                <a:latin typeface="Calibri"/>
              </a:rPr>
              <a:t>…</a:t>
            </a:r>
            <a:endParaRPr lang="de-AT" b="0" noProof="0" dirty="0">
              <a:latin typeface="Calibri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4E72F4A-113E-0AEC-9782-D0FA16154B3D}"/>
              </a:ext>
            </a:extLst>
          </p:cNvPr>
          <p:cNvSpPr/>
          <p:nvPr/>
        </p:nvSpPr>
        <p:spPr>
          <a:xfrm>
            <a:off x="2422154" y="2815459"/>
            <a:ext cx="1288612" cy="544698"/>
          </a:xfrm>
          <a:prstGeom prst="roundRect">
            <a:avLst/>
          </a:prstGeom>
          <a:noFill/>
          <a:ln w="57150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r>
              <a:rPr lang="de-AT" noProof="0" dirty="0"/>
              <a:t>OpenClaw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71F1D56E-0B5B-679C-7B71-2E5EBD8D029E}"/>
              </a:ext>
            </a:extLst>
          </p:cNvPr>
          <p:cNvSpPr/>
          <p:nvPr/>
        </p:nvSpPr>
        <p:spPr>
          <a:xfrm>
            <a:off x="7748752" y="2438400"/>
            <a:ext cx="1037940" cy="2011680"/>
          </a:xfrm>
          <a:prstGeom prst="roundRect">
            <a:avLst/>
          </a:prstGeom>
          <a:noFill/>
          <a:ln w="57150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r>
              <a:rPr lang="de-AT" b="0" noProof="0" dirty="0">
                <a:latin typeface="Calibri"/>
              </a:rPr>
              <a:t>Claude</a:t>
            </a:r>
          </a:p>
          <a:p>
            <a:pPr algn="ctr"/>
            <a:r>
              <a:rPr lang="de-AT" b="0" noProof="0" dirty="0">
                <a:latin typeface="Calibri"/>
              </a:rPr>
              <a:t>GPT</a:t>
            </a:r>
          </a:p>
          <a:p>
            <a:pPr algn="ctr"/>
            <a:r>
              <a:rPr lang="de-AT" b="0" noProof="0" dirty="0">
                <a:latin typeface="Calibri"/>
              </a:rPr>
              <a:t>Gemini</a:t>
            </a:r>
          </a:p>
          <a:p>
            <a:pPr algn="ctr"/>
            <a:r>
              <a:rPr lang="de-AT" noProof="0" dirty="0">
                <a:latin typeface="Calibri"/>
              </a:rPr>
              <a:t>…</a:t>
            </a:r>
            <a:endParaRPr lang="de-AT" b="0" noProof="0" dirty="0">
              <a:latin typeface="Calibri"/>
            </a:endParaRPr>
          </a:p>
        </p:txBody>
      </p:sp>
      <p:pic>
        <p:nvPicPr>
          <p:cNvPr id="1026" name="Picture 2" descr="Man ">
            <a:extLst>
              <a:ext uri="{FF2B5EF4-FFF2-40B4-BE49-F238E27FC236}">
                <a16:creationId xmlns:a16="http://schemas.microsoft.com/office/drawing/2014/main" id="{DD065220-5034-1B59-9F91-76939815D2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892" y="1077685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Big data ">
            <a:extLst>
              <a:ext uri="{FF2B5EF4-FFF2-40B4-BE49-F238E27FC236}">
                <a16:creationId xmlns:a16="http://schemas.microsoft.com/office/drawing/2014/main" id="{32639389-E203-3F77-D805-389E4C4123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8122" y="1219200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E1916BE7-1A1A-9C52-C2CC-877689E9A550}"/>
              </a:ext>
            </a:extLst>
          </p:cNvPr>
          <p:cNvSpPr txBox="1"/>
          <p:nvPr/>
        </p:nvSpPr>
        <p:spPr>
          <a:xfrm>
            <a:off x="7476297" y="4530221"/>
            <a:ext cx="14010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noProof="0" dirty="0"/>
              <a:t>Cloud / </a:t>
            </a:r>
            <a:r>
              <a:rPr lang="de-AT" noProof="0" dirty="0" err="1"/>
              <a:t>Local</a:t>
            </a:r>
            <a:endParaRPr lang="de-AT" noProof="0" dirty="0">
              <a:latin typeface="Calibri"/>
            </a:endParaRPr>
          </a:p>
        </p:txBody>
      </p:sp>
      <p:cxnSp>
        <p:nvCxnSpPr>
          <p:cNvPr id="2" name="直接箭头连接符 1">
            <a:extLst>
              <a:ext uri="{FF2B5EF4-FFF2-40B4-BE49-F238E27FC236}">
                <a16:creationId xmlns:a16="http://schemas.microsoft.com/office/drawing/2014/main" id="{8E94CDEC-170E-E611-D183-258A01ACDCA1}"/>
              </a:ext>
            </a:extLst>
          </p:cNvPr>
          <p:cNvCxnSpPr/>
          <p:nvPr/>
        </p:nvCxnSpPr>
        <p:spPr>
          <a:xfrm>
            <a:off x="1882198" y="2963918"/>
            <a:ext cx="4572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8CD9A1C3-B33C-3B23-BE5B-57C8E2B662C3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3710766" y="3087808"/>
            <a:ext cx="394735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" name="Rounded Rectangle 3">
            <a:extLst>
              <a:ext uri="{FF2B5EF4-FFF2-40B4-BE49-F238E27FC236}">
                <a16:creationId xmlns:a16="http://schemas.microsoft.com/office/drawing/2014/main" id="{B16445EB-D04B-28F9-ACAD-86A1A0383D22}"/>
              </a:ext>
            </a:extLst>
          </p:cNvPr>
          <p:cNvSpPr/>
          <p:nvPr/>
        </p:nvSpPr>
        <p:spPr>
          <a:xfrm>
            <a:off x="1951027" y="2302578"/>
            <a:ext cx="1115432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noProof="0" dirty="0" err="1"/>
              <a:t>message</a:t>
            </a:r>
            <a:endParaRPr lang="de-AT" noProof="0" dirty="0"/>
          </a:p>
        </p:txBody>
      </p:sp>
      <p:sp>
        <p:nvSpPr>
          <p:cNvPr id="22" name="Rounded Rectangle 3">
            <a:extLst>
              <a:ext uri="{FF2B5EF4-FFF2-40B4-BE49-F238E27FC236}">
                <a16:creationId xmlns:a16="http://schemas.microsoft.com/office/drawing/2014/main" id="{4DCCA7B9-DE44-D73E-E5FD-E3478C35EC67}"/>
              </a:ext>
            </a:extLst>
          </p:cNvPr>
          <p:cNvSpPr/>
          <p:nvPr/>
        </p:nvSpPr>
        <p:spPr>
          <a:xfrm>
            <a:off x="3786624" y="794154"/>
            <a:ext cx="1115432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noProof="0" dirty="0"/>
          </a:p>
        </p:txBody>
      </p:sp>
      <p:sp>
        <p:nvSpPr>
          <p:cNvPr id="25" name="Rounded Rectangle 3">
            <a:extLst>
              <a:ext uri="{FF2B5EF4-FFF2-40B4-BE49-F238E27FC236}">
                <a16:creationId xmlns:a16="http://schemas.microsoft.com/office/drawing/2014/main" id="{C19520F5-8140-0BA6-BDB1-6CCAFC8C22E8}"/>
              </a:ext>
            </a:extLst>
          </p:cNvPr>
          <p:cNvSpPr/>
          <p:nvPr/>
        </p:nvSpPr>
        <p:spPr>
          <a:xfrm>
            <a:off x="3786624" y="60245"/>
            <a:ext cx="1115432" cy="657077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noProof="0" dirty="0"/>
              <a:t>System prompt</a:t>
            </a:r>
          </a:p>
        </p:txBody>
      </p:sp>
      <p:sp>
        <p:nvSpPr>
          <p:cNvPr id="7" name="Rounded Rectangle 3">
            <a:extLst>
              <a:ext uri="{FF2B5EF4-FFF2-40B4-BE49-F238E27FC236}">
                <a16:creationId xmlns:a16="http://schemas.microsoft.com/office/drawing/2014/main" id="{7E5D26F9-1117-C03C-8D0A-355FE6EC6D52}"/>
              </a:ext>
            </a:extLst>
          </p:cNvPr>
          <p:cNvSpPr/>
          <p:nvPr/>
        </p:nvSpPr>
        <p:spPr>
          <a:xfrm>
            <a:off x="3786624" y="1260658"/>
            <a:ext cx="1115432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noProof="0" dirty="0"/>
          </a:p>
        </p:txBody>
      </p:sp>
      <p:sp>
        <p:nvSpPr>
          <p:cNvPr id="11" name="Rounded Rectangle 3">
            <a:extLst>
              <a:ext uri="{FF2B5EF4-FFF2-40B4-BE49-F238E27FC236}">
                <a16:creationId xmlns:a16="http://schemas.microsoft.com/office/drawing/2014/main" id="{3343B6A3-459B-18F0-79B6-8FE5DDC6A3A6}"/>
              </a:ext>
            </a:extLst>
          </p:cNvPr>
          <p:cNvSpPr/>
          <p:nvPr/>
        </p:nvSpPr>
        <p:spPr>
          <a:xfrm>
            <a:off x="3786624" y="1727843"/>
            <a:ext cx="1115432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noProof="0" dirty="0"/>
          </a:p>
        </p:txBody>
      </p:sp>
      <p:sp>
        <p:nvSpPr>
          <p:cNvPr id="14" name="Rounded Rectangle 3">
            <a:extLst>
              <a:ext uri="{FF2B5EF4-FFF2-40B4-BE49-F238E27FC236}">
                <a16:creationId xmlns:a16="http://schemas.microsoft.com/office/drawing/2014/main" id="{E577805A-5DC9-02EE-63EF-AE4C3E64BF6C}"/>
              </a:ext>
            </a:extLst>
          </p:cNvPr>
          <p:cNvSpPr/>
          <p:nvPr/>
        </p:nvSpPr>
        <p:spPr>
          <a:xfrm>
            <a:off x="3786624" y="2195028"/>
            <a:ext cx="1115432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noProof="0" dirty="0"/>
          </a:p>
        </p:txBody>
      </p:sp>
      <p:sp>
        <p:nvSpPr>
          <p:cNvPr id="15" name="Rounded Rectangle 3">
            <a:extLst>
              <a:ext uri="{FF2B5EF4-FFF2-40B4-BE49-F238E27FC236}">
                <a16:creationId xmlns:a16="http://schemas.microsoft.com/office/drawing/2014/main" id="{7A9BE074-0FE8-9B9E-8E50-E55506F52B60}"/>
              </a:ext>
            </a:extLst>
          </p:cNvPr>
          <p:cNvSpPr/>
          <p:nvPr/>
        </p:nvSpPr>
        <p:spPr>
          <a:xfrm>
            <a:off x="3793104" y="2661514"/>
            <a:ext cx="1115432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noProof="0" dirty="0"/>
          </a:p>
        </p:txBody>
      </p:sp>
    </p:spTree>
    <p:extLst>
      <p:ext uri="{BB962C8B-B14F-4D97-AF65-F5344CB8AC3E}">
        <p14:creationId xmlns:p14="http://schemas.microsoft.com/office/powerpoint/2010/main" val="37933389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EA1042-309F-B805-CDCA-106A31E634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F09D54C5-016F-6B55-1F12-5443DB8D2C99}"/>
              </a:ext>
            </a:extLst>
          </p:cNvPr>
          <p:cNvSpPr/>
          <p:nvPr/>
        </p:nvSpPr>
        <p:spPr>
          <a:xfrm>
            <a:off x="357308" y="2438400"/>
            <a:ext cx="1447844" cy="2011680"/>
          </a:xfrm>
          <a:prstGeom prst="roundRect">
            <a:avLst/>
          </a:prstGeom>
          <a:noFill/>
          <a:ln w="57150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r>
              <a:rPr lang="de-AT" b="0" noProof="0" dirty="0">
                <a:latin typeface="Calibri"/>
              </a:rPr>
              <a:t>WhatsApp</a:t>
            </a:r>
          </a:p>
          <a:p>
            <a:pPr algn="ctr"/>
            <a:r>
              <a:rPr lang="de-AT" b="0" noProof="0" dirty="0">
                <a:latin typeface="Calibri"/>
              </a:rPr>
              <a:t>Telegram</a:t>
            </a:r>
          </a:p>
          <a:p>
            <a:pPr algn="ctr"/>
            <a:r>
              <a:rPr lang="de-AT" b="0" noProof="0" dirty="0">
                <a:latin typeface="Calibri"/>
              </a:rPr>
              <a:t>Discord</a:t>
            </a:r>
          </a:p>
          <a:p>
            <a:pPr algn="ctr"/>
            <a:r>
              <a:rPr lang="de-AT" noProof="0" dirty="0">
                <a:latin typeface="Calibri"/>
              </a:rPr>
              <a:t>WeChat</a:t>
            </a:r>
          </a:p>
          <a:p>
            <a:pPr algn="ctr"/>
            <a:r>
              <a:rPr lang="de-AT" b="0" noProof="0" dirty="0">
                <a:latin typeface="Calibri"/>
              </a:rPr>
              <a:t>QQ</a:t>
            </a:r>
          </a:p>
          <a:p>
            <a:pPr algn="ctr"/>
            <a:r>
              <a:rPr lang="de-AT" b="0" noProof="0" dirty="0">
                <a:latin typeface="Calibri"/>
              </a:rPr>
              <a:t>Web UI</a:t>
            </a:r>
          </a:p>
          <a:p>
            <a:pPr algn="ctr"/>
            <a:r>
              <a:rPr lang="de-AT" noProof="0" dirty="0">
                <a:latin typeface="Calibri"/>
              </a:rPr>
              <a:t>…</a:t>
            </a:r>
            <a:endParaRPr lang="de-AT" b="0" noProof="0" dirty="0">
              <a:latin typeface="Calibri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CA5F0330-AB1F-FC64-3E7B-73DD4C476286}"/>
              </a:ext>
            </a:extLst>
          </p:cNvPr>
          <p:cNvSpPr/>
          <p:nvPr/>
        </p:nvSpPr>
        <p:spPr>
          <a:xfrm>
            <a:off x="2422154" y="2815459"/>
            <a:ext cx="1288612" cy="544698"/>
          </a:xfrm>
          <a:prstGeom prst="roundRect">
            <a:avLst/>
          </a:prstGeom>
          <a:noFill/>
          <a:ln w="57150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r>
              <a:rPr lang="de-AT" noProof="0" dirty="0"/>
              <a:t>OpenClaw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AB23B64-30E1-8C66-823A-AD59A1C895AA}"/>
              </a:ext>
            </a:extLst>
          </p:cNvPr>
          <p:cNvSpPr/>
          <p:nvPr/>
        </p:nvSpPr>
        <p:spPr>
          <a:xfrm>
            <a:off x="7748752" y="2438400"/>
            <a:ext cx="1037940" cy="2011680"/>
          </a:xfrm>
          <a:prstGeom prst="roundRect">
            <a:avLst/>
          </a:prstGeom>
          <a:noFill/>
          <a:ln w="57150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r>
              <a:rPr lang="de-AT" b="0" noProof="0" dirty="0">
                <a:latin typeface="Calibri"/>
              </a:rPr>
              <a:t>Claude</a:t>
            </a:r>
          </a:p>
          <a:p>
            <a:pPr algn="ctr"/>
            <a:r>
              <a:rPr lang="de-AT" b="0" noProof="0" dirty="0">
                <a:latin typeface="Calibri"/>
              </a:rPr>
              <a:t>GPT</a:t>
            </a:r>
          </a:p>
          <a:p>
            <a:pPr algn="ctr"/>
            <a:r>
              <a:rPr lang="de-AT" b="0" noProof="0" dirty="0">
                <a:latin typeface="Calibri"/>
              </a:rPr>
              <a:t>Gemini</a:t>
            </a:r>
          </a:p>
          <a:p>
            <a:pPr algn="ctr"/>
            <a:r>
              <a:rPr lang="de-AT" noProof="0" dirty="0">
                <a:latin typeface="Calibri"/>
              </a:rPr>
              <a:t>…</a:t>
            </a:r>
            <a:endParaRPr lang="de-AT" b="0" noProof="0" dirty="0">
              <a:latin typeface="Calibri"/>
            </a:endParaRPr>
          </a:p>
        </p:txBody>
      </p:sp>
      <p:pic>
        <p:nvPicPr>
          <p:cNvPr id="1026" name="Picture 2" descr="Man ">
            <a:extLst>
              <a:ext uri="{FF2B5EF4-FFF2-40B4-BE49-F238E27FC236}">
                <a16:creationId xmlns:a16="http://schemas.microsoft.com/office/drawing/2014/main" id="{C6C30956-023A-DA78-01EF-2DD365353C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892" y="1077685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Big data ">
            <a:extLst>
              <a:ext uri="{FF2B5EF4-FFF2-40B4-BE49-F238E27FC236}">
                <a16:creationId xmlns:a16="http://schemas.microsoft.com/office/drawing/2014/main" id="{C0FEAC3C-3EBC-5D8E-3A1E-8FC665F036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8122" y="1219200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0EFA3E55-7AE7-4A0A-E4EA-D015583D0B59}"/>
              </a:ext>
            </a:extLst>
          </p:cNvPr>
          <p:cNvSpPr txBox="1"/>
          <p:nvPr/>
        </p:nvSpPr>
        <p:spPr>
          <a:xfrm>
            <a:off x="7476297" y="4530221"/>
            <a:ext cx="14010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noProof="0" dirty="0"/>
              <a:t>Cloud / </a:t>
            </a:r>
            <a:r>
              <a:rPr lang="de-AT" noProof="0" dirty="0" err="1"/>
              <a:t>Local</a:t>
            </a:r>
            <a:endParaRPr lang="de-AT" noProof="0" dirty="0">
              <a:latin typeface="Calibri"/>
            </a:endParaRPr>
          </a:p>
        </p:txBody>
      </p:sp>
      <p:cxnSp>
        <p:nvCxnSpPr>
          <p:cNvPr id="2" name="直接箭头连接符 1">
            <a:extLst>
              <a:ext uri="{FF2B5EF4-FFF2-40B4-BE49-F238E27FC236}">
                <a16:creationId xmlns:a16="http://schemas.microsoft.com/office/drawing/2014/main" id="{85883EB0-90E2-991B-E66E-B8452C156DAE}"/>
              </a:ext>
            </a:extLst>
          </p:cNvPr>
          <p:cNvCxnSpPr/>
          <p:nvPr/>
        </p:nvCxnSpPr>
        <p:spPr>
          <a:xfrm>
            <a:off x="1882198" y="2963918"/>
            <a:ext cx="4572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ED84CF93-AD66-92E5-E7CB-3DF912B2E2E8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3710766" y="3087808"/>
            <a:ext cx="394735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" name="Rounded Rectangle 3">
            <a:extLst>
              <a:ext uri="{FF2B5EF4-FFF2-40B4-BE49-F238E27FC236}">
                <a16:creationId xmlns:a16="http://schemas.microsoft.com/office/drawing/2014/main" id="{53238C73-B7F4-D7D0-F213-F1B45A81281F}"/>
              </a:ext>
            </a:extLst>
          </p:cNvPr>
          <p:cNvSpPr/>
          <p:nvPr/>
        </p:nvSpPr>
        <p:spPr>
          <a:xfrm>
            <a:off x="1951027" y="2302578"/>
            <a:ext cx="1115432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noProof="0" dirty="0" err="1"/>
              <a:t>message</a:t>
            </a:r>
            <a:endParaRPr lang="de-AT" noProof="0" dirty="0"/>
          </a:p>
        </p:txBody>
      </p:sp>
      <p:sp>
        <p:nvSpPr>
          <p:cNvPr id="22" name="Rounded Rectangle 3">
            <a:extLst>
              <a:ext uri="{FF2B5EF4-FFF2-40B4-BE49-F238E27FC236}">
                <a16:creationId xmlns:a16="http://schemas.microsoft.com/office/drawing/2014/main" id="{D0DFB6C9-87DB-5989-B309-5B177CB7B425}"/>
              </a:ext>
            </a:extLst>
          </p:cNvPr>
          <p:cNvSpPr/>
          <p:nvPr/>
        </p:nvSpPr>
        <p:spPr>
          <a:xfrm>
            <a:off x="3786624" y="794154"/>
            <a:ext cx="1115432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noProof="0" dirty="0"/>
          </a:p>
        </p:txBody>
      </p:sp>
      <p:sp>
        <p:nvSpPr>
          <p:cNvPr id="25" name="Rounded Rectangle 3">
            <a:extLst>
              <a:ext uri="{FF2B5EF4-FFF2-40B4-BE49-F238E27FC236}">
                <a16:creationId xmlns:a16="http://schemas.microsoft.com/office/drawing/2014/main" id="{30E0086E-0BC7-3249-5E17-43C38424E8B5}"/>
              </a:ext>
            </a:extLst>
          </p:cNvPr>
          <p:cNvSpPr/>
          <p:nvPr/>
        </p:nvSpPr>
        <p:spPr>
          <a:xfrm>
            <a:off x="3786624" y="60245"/>
            <a:ext cx="1115432" cy="657077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noProof="0" dirty="0"/>
              <a:t>System prompt</a:t>
            </a:r>
          </a:p>
        </p:txBody>
      </p:sp>
      <p:sp>
        <p:nvSpPr>
          <p:cNvPr id="7" name="Rounded Rectangle 3">
            <a:extLst>
              <a:ext uri="{FF2B5EF4-FFF2-40B4-BE49-F238E27FC236}">
                <a16:creationId xmlns:a16="http://schemas.microsoft.com/office/drawing/2014/main" id="{FA0BD986-D5E0-7168-9104-C39F8BF1F7E6}"/>
              </a:ext>
            </a:extLst>
          </p:cNvPr>
          <p:cNvSpPr/>
          <p:nvPr/>
        </p:nvSpPr>
        <p:spPr>
          <a:xfrm>
            <a:off x="3786624" y="1260658"/>
            <a:ext cx="1115432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noProof="0" dirty="0"/>
          </a:p>
        </p:txBody>
      </p:sp>
      <p:sp>
        <p:nvSpPr>
          <p:cNvPr id="11" name="Rounded Rectangle 3">
            <a:extLst>
              <a:ext uri="{FF2B5EF4-FFF2-40B4-BE49-F238E27FC236}">
                <a16:creationId xmlns:a16="http://schemas.microsoft.com/office/drawing/2014/main" id="{D86F833A-CA7C-259B-1684-21AF83CA38E5}"/>
              </a:ext>
            </a:extLst>
          </p:cNvPr>
          <p:cNvSpPr/>
          <p:nvPr/>
        </p:nvSpPr>
        <p:spPr>
          <a:xfrm>
            <a:off x="3786624" y="1727843"/>
            <a:ext cx="1115432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noProof="0" dirty="0"/>
          </a:p>
        </p:txBody>
      </p:sp>
      <p:sp>
        <p:nvSpPr>
          <p:cNvPr id="14" name="Rounded Rectangle 3">
            <a:extLst>
              <a:ext uri="{FF2B5EF4-FFF2-40B4-BE49-F238E27FC236}">
                <a16:creationId xmlns:a16="http://schemas.microsoft.com/office/drawing/2014/main" id="{A446773C-691C-19BA-8733-C389C3436A80}"/>
              </a:ext>
            </a:extLst>
          </p:cNvPr>
          <p:cNvSpPr/>
          <p:nvPr/>
        </p:nvSpPr>
        <p:spPr>
          <a:xfrm>
            <a:off x="3786624" y="2195028"/>
            <a:ext cx="1115432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noProof="0" dirty="0"/>
          </a:p>
        </p:txBody>
      </p:sp>
      <p:sp>
        <p:nvSpPr>
          <p:cNvPr id="15" name="Rounded Rectangle 3">
            <a:extLst>
              <a:ext uri="{FF2B5EF4-FFF2-40B4-BE49-F238E27FC236}">
                <a16:creationId xmlns:a16="http://schemas.microsoft.com/office/drawing/2014/main" id="{C732E45A-86F5-D73D-A169-17761549DF0C}"/>
              </a:ext>
            </a:extLst>
          </p:cNvPr>
          <p:cNvSpPr/>
          <p:nvPr/>
        </p:nvSpPr>
        <p:spPr>
          <a:xfrm>
            <a:off x="3793104" y="2661514"/>
            <a:ext cx="1115432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noProof="0" dirty="0"/>
          </a:p>
        </p:txBody>
      </p:sp>
      <p:sp>
        <p:nvSpPr>
          <p:cNvPr id="9" name="左大括号 8">
            <a:extLst>
              <a:ext uri="{FF2B5EF4-FFF2-40B4-BE49-F238E27FC236}">
                <a16:creationId xmlns:a16="http://schemas.microsoft.com/office/drawing/2014/main" id="{E53712AA-815A-E43F-8BAA-9FF605F3309F}"/>
              </a:ext>
            </a:extLst>
          </p:cNvPr>
          <p:cNvSpPr/>
          <p:nvPr/>
        </p:nvSpPr>
        <p:spPr>
          <a:xfrm rot="10800000">
            <a:off x="4977570" y="823624"/>
            <a:ext cx="128733" cy="1219179"/>
          </a:xfrm>
          <a:prstGeom prst="leftBrac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AT" noProof="0" dirty="0"/>
          </a:p>
        </p:txBody>
      </p:sp>
      <p:sp>
        <p:nvSpPr>
          <p:cNvPr id="12" name="Rounded Rectangle 3">
            <a:extLst>
              <a:ext uri="{FF2B5EF4-FFF2-40B4-BE49-F238E27FC236}">
                <a16:creationId xmlns:a16="http://schemas.microsoft.com/office/drawing/2014/main" id="{B6A2851A-DE26-C1FB-83E6-1D379B04EF84}"/>
              </a:ext>
            </a:extLst>
          </p:cNvPr>
          <p:cNvSpPr/>
          <p:nvPr/>
        </p:nvSpPr>
        <p:spPr>
          <a:xfrm rot="467416">
            <a:off x="5767687" y="1981427"/>
            <a:ext cx="1115432" cy="389672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noProof="0" dirty="0"/>
          </a:p>
        </p:txBody>
      </p: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A91227D7-3CD0-F1A4-E702-26DB9F0FEB50}"/>
              </a:ext>
            </a:extLst>
          </p:cNvPr>
          <p:cNvCxnSpPr>
            <a:cxnSpLocks/>
            <a:endCxn id="1028" idx="1"/>
          </p:cNvCxnSpPr>
          <p:nvPr/>
        </p:nvCxnSpPr>
        <p:spPr>
          <a:xfrm>
            <a:off x="5196644" y="1430759"/>
            <a:ext cx="2461478" cy="39804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B27FEEA0-F35A-5C91-3F70-5BAF1C7D3C38}"/>
              </a:ext>
            </a:extLst>
          </p:cNvPr>
          <p:cNvCxnSpPr>
            <a:cxnSpLocks/>
          </p:cNvCxnSpPr>
          <p:nvPr/>
        </p:nvCxnSpPr>
        <p:spPr>
          <a:xfrm flipH="1" flipV="1">
            <a:off x="5181817" y="1629779"/>
            <a:ext cx="2476305" cy="39114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54345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18F28C-4AC3-8774-DA98-49A5E6F080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CAFCD9E9-1BA1-5CB6-35D5-9D9F1EAA3472}"/>
              </a:ext>
            </a:extLst>
          </p:cNvPr>
          <p:cNvSpPr/>
          <p:nvPr/>
        </p:nvSpPr>
        <p:spPr>
          <a:xfrm>
            <a:off x="357308" y="2438400"/>
            <a:ext cx="1447844" cy="2011680"/>
          </a:xfrm>
          <a:prstGeom prst="roundRect">
            <a:avLst/>
          </a:prstGeom>
          <a:noFill/>
          <a:ln w="57150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r>
              <a:rPr lang="de-AT" b="0" noProof="0" dirty="0">
                <a:latin typeface="Calibri"/>
              </a:rPr>
              <a:t>WhatsApp</a:t>
            </a:r>
          </a:p>
          <a:p>
            <a:pPr algn="ctr"/>
            <a:r>
              <a:rPr lang="de-AT" b="0" noProof="0" dirty="0">
                <a:latin typeface="Calibri"/>
              </a:rPr>
              <a:t>Telegram</a:t>
            </a:r>
          </a:p>
          <a:p>
            <a:pPr algn="ctr"/>
            <a:r>
              <a:rPr lang="de-AT" b="0" noProof="0" dirty="0">
                <a:latin typeface="Calibri"/>
              </a:rPr>
              <a:t>Discord</a:t>
            </a:r>
          </a:p>
          <a:p>
            <a:pPr algn="ctr"/>
            <a:r>
              <a:rPr lang="de-AT" noProof="0" dirty="0">
                <a:latin typeface="Calibri"/>
              </a:rPr>
              <a:t>WeChat</a:t>
            </a:r>
          </a:p>
          <a:p>
            <a:pPr algn="ctr"/>
            <a:r>
              <a:rPr lang="de-AT" b="0" noProof="0" dirty="0">
                <a:latin typeface="Calibri"/>
              </a:rPr>
              <a:t>QQ</a:t>
            </a:r>
          </a:p>
          <a:p>
            <a:pPr algn="ctr"/>
            <a:r>
              <a:rPr lang="de-AT" b="0" noProof="0" dirty="0">
                <a:latin typeface="Calibri"/>
              </a:rPr>
              <a:t>Web UI</a:t>
            </a:r>
          </a:p>
          <a:p>
            <a:pPr algn="ctr"/>
            <a:r>
              <a:rPr lang="de-AT" noProof="0" dirty="0">
                <a:latin typeface="Calibri"/>
              </a:rPr>
              <a:t>…</a:t>
            </a:r>
            <a:endParaRPr lang="de-AT" b="0" noProof="0" dirty="0">
              <a:latin typeface="Calibri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702D0C3A-521B-267D-24C2-D0AE68747DDC}"/>
              </a:ext>
            </a:extLst>
          </p:cNvPr>
          <p:cNvSpPr/>
          <p:nvPr/>
        </p:nvSpPr>
        <p:spPr>
          <a:xfrm>
            <a:off x="2422154" y="2815459"/>
            <a:ext cx="1288612" cy="544698"/>
          </a:xfrm>
          <a:prstGeom prst="roundRect">
            <a:avLst/>
          </a:prstGeom>
          <a:noFill/>
          <a:ln w="57150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r>
              <a:rPr lang="de-AT" noProof="0" dirty="0"/>
              <a:t>OpenClaw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8C9585C8-8EC9-68D0-1691-5EDE3DB4006F}"/>
              </a:ext>
            </a:extLst>
          </p:cNvPr>
          <p:cNvSpPr/>
          <p:nvPr/>
        </p:nvSpPr>
        <p:spPr>
          <a:xfrm>
            <a:off x="7748752" y="2438400"/>
            <a:ext cx="1037940" cy="2011680"/>
          </a:xfrm>
          <a:prstGeom prst="roundRect">
            <a:avLst/>
          </a:prstGeom>
          <a:noFill/>
          <a:ln w="57150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r>
              <a:rPr lang="de-AT" b="0" noProof="0" dirty="0">
                <a:latin typeface="Calibri"/>
              </a:rPr>
              <a:t>Claude</a:t>
            </a:r>
          </a:p>
          <a:p>
            <a:pPr algn="ctr"/>
            <a:r>
              <a:rPr lang="de-AT" b="0" noProof="0" dirty="0">
                <a:latin typeface="Calibri"/>
              </a:rPr>
              <a:t>GPT</a:t>
            </a:r>
          </a:p>
          <a:p>
            <a:pPr algn="ctr"/>
            <a:r>
              <a:rPr lang="de-AT" b="0" noProof="0" dirty="0">
                <a:latin typeface="Calibri"/>
              </a:rPr>
              <a:t>Gemini</a:t>
            </a:r>
          </a:p>
          <a:p>
            <a:pPr algn="ctr"/>
            <a:r>
              <a:rPr lang="de-AT" noProof="0" dirty="0">
                <a:latin typeface="Calibri"/>
              </a:rPr>
              <a:t>…</a:t>
            </a:r>
            <a:endParaRPr lang="de-AT" b="0" noProof="0" dirty="0">
              <a:latin typeface="Calibri"/>
            </a:endParaRPr>
          </a:p>
        </p:txBody>
      </p:sp>
      <p:pic>
        <p:nvPicPr>
          <p:cNvPr id="1026" name="Picture 2" descr="Man ">
            <a:extLst>
              <a:ext uri="{FF2B5EF4-FFF2-40B4-BE49-F238E27FC236}">
                <a16:creationId xmlns:a16="http://schemas.microsoft.com/office/drawing/2014/main" id="{9C8B9738-EA1F-F3DF-5296-C57C340201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892" y="1077685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Big data ">
            <a:extLst>
              <a:ext uri="{FF2B5EF4-FFF2-40B4-BE49-F238E27FC236}">
                <a16:creationId xmlns:a16="http://schemas.microsoft.com/office/drawing/2014/main" id="{FE1D63BC-31A5-8FE8-DB75-748765A775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8122" y="1219200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CFC1AB8A-9C4B-FD13-8C4E-66A89857F798}"/>
              </a:ext>
            </a:extLst>
          </p:cNvPr>
          <p:cNvSpPr txBox="1"/>
          <p:nvPr/>
        </p:nvSpPr>
        <p:spPr>
          <a:xfrm>
            <a:off x="7476297" y="4530221"/>
            <a:ext cx="14010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noProof="0" dirty="0"/>
              <a:t>Cloud / </a:t>
            </a:r>
            <a:r>
              <a:rPr lang="de-AT" noProof="0" dirty="0" err="1"/>
              <a:t>Local</a:t>
            </a:r>
            <a:endParaRPr lang="de-AT" noProof="0" dirty="0">
              <a:latin typeface="Calibri"/>
            </a:endParaRPr>
          </a:p>
        </p:txBody>
      </p:sp>
      <p:cxnSp>
        <p:nvCxnSpPr>
          <p:cNvPr id="2" name="直接箭头连接符 1">
            <a:extLst>
              <a:ext uri="{FF2B5EF4-FFF2-40B4-BE49-F238E27FC236}">
                <a16:creationId xmlns:a16="http://schemas.microsoft.com/office/drawing/2014/main" id="{0FAC8350-8A87-9F0C-851D-08FB3C5D28ED}"/>
              </a:ext>
            </a:extLst>
          </p:cNvPr>
          <p:cNvCxnSpPr/>
          <p:nvPr/>
        </p:nvCxnSpPr>
        <p:spPr>
          <a:xfrm>
            <a:off x="1882198" y="2963918"/>
            <a:ext cx="4572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50D39F7A-B497-9103-F6F5-66A5B55B5F09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3710766" y="3087808"/>
            <a:ext cx="394735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" name="Rounded Rectangle 3">
            <a:extLst>
              <a:ext uri="{FF2B5EF4-FFF2-40B4-BE49-F238E27FC236}">
                <a16:creationId xmlns:a16="http://schemas.microsoft.com/office/drawing/2014/main" id="{40CC3CA9-7629-2B54-9ED1-D71A8457E7A7}"/>
              </a:ext>
            </a:extLst>
          </p:cNvPr>
          <p:cNvSpPr/>
          <p:nvPr/>
        </p:nvSpPr>
        <p:spPr>
          <a:xfrm>
            <a:off x="1951027" y="2302578"/>
            <a:ext cx="1115432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noProof="0" dirty="0" err="1"/>
              <a:t>message</a:t>
            </a:r>
            <a:endParaRPr lang="de-AT" noProof="0" dirty="0"/>
          </a:p>
        </p:txBody>
      </p:sp>
      <p:sp>
        <p:nvSpPr>
          <p:cNvPr id="22" name="Rounded Rectangle 3">
            <a:extLst>
              <a:ext uri="{FF2B5EF4-FFF2-40B4-BE49-F238E27FC236}">
                <a16:creationId xmlns:a16="http://schemas.microsoft.com/office/drawing/2014/main" id="{7BB66ED5-BB1E-E19A-75D2-D47B95B46233}"/>
              </a:ext>
            </a:extLst>
          </p:cNvPr>
          <p:cNvSpPr/>
          <p:nvPr/>
        </p:nvSpPr>
        <p:spPr>
          <a:xfrm>
            <a:off x="3786624" y="763418"/>
            <a:ext cx="1115432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noProof="0" dirty="0"/>
          </a:p>
        </p:txBody>
      </p:sp>
      <p:sp>
        <p:nvSpPr>
          <p:cNvPr id="25" name="Rounded Rectangle 3">
            <a:extLst>
              <a:ext uri="{FF2B5EF4-FFF2-40B4-BE49-F238E27FC236}">
                <a16:creationId xmlns:a16="http://schemas.microsoft.com/office/drawing/2014/main" id="{5F0BFE3A-201F-BBA2-DB93-53D53E4431AC}"/>
              </a:ext>
            </a:extLst>
          </p:cNvPr>
          <p:cNvSpPr/>
          <p:nvPr/>
        </p:nvSpPr>
        <p:spPr>
          <a:xfrm>
            <a:off x="3786624" y="60245"/>
            <a:ext cx="1115432" cy="657077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noProof="0" dirty="0"/>
              <a:t>System prompt</a:t>
            </a:r>
          </a:p>
        </p:txBody>
      </p:sp>
      <p:sp>
        <p:nvSpPr>
          <p:cNvPr id="7" name="Rounded Rectangle 3">
            <a:extLst>
              <a:ext uri="{FF2B5EF4-FFF2-40B4-BE49-F238E27FC236}">
                <a16:creationId xmlns:a16="http://schemas.microsoft.com/office/drawing/2014/main" id="{419BF67D-23CC-9F3C-60C6-73A686C8F954}"/>
              </a:ext>
            </a:extLst>
          </p:cNvPr>
          <p:cNvSpPr/>
          <p:nvPr/>
        </p:nvSpPr>
        <p:spPr>
          <a:xfrm>
            <a:off x="3786624" y="1206869"/>
            <a:ext cx="1115432" cy="551709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noProof="0" dirty="0"/>
              <a:t>Tool Output</a:t>
            </a:r>
          </a:p>
        </p:txBody>
      </p:sp>
      <p:sp>
        <p:nvSpPr>
          <p:cNvPr id="11" name="Rounded Rectangle 3">
            <a:extLst>
              <a:ext uri="{FF2B5EF4-FFF2-40B4-BE49-F238E27FC236}">
                <a16:creationId xmlns:a16="http://schemas.microsoft.com/office/drawing/2014/main" id="{18622ED7-505D-0EC1-D75D-12E2F5590FC7}"/>
              </a:ext>
            </a:extLst>
          </p:cNvPr>
          <p:cNvSpPr/>
          <p:nvPr/>
        </p:nvSpPr>
        <p:spPr>
          <a:xfrm>
            <a:off x="3786624" y="1812367"/>
            <a:ext cx="1115432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noProof="0" dirty="0"/>
          </a:p>
        </p:txBody>
      </p:sp>
      <p:sp>
        <p:nvSpPr>
          <p:cNvPr id="14" name="Rounded Rectangle 3">
            <a:extLst>
              <a:ext uri="{FF2B5EF4-FFF2-40B4-BE49-F238E27FC236}">
                <a16:creationId xmlns:a16="http://schemas.microsoft.com/office/drawing/2014/main" id="{7D6A674E-828B-680F-D4B2-0E2FCA22FD97}"/>
              </a:ext>
            </a:extLst>
          </p:cNvPr>
          <p:cNvSpPr/>
          <p:nvPr/>
        </p:nvSpPr>
        <p:spPr>
          <a:xfrm>
            <a:off x="3786624" y="2241132"/>
            <a:ext cx="1115432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noProof="0" dirty="0"/>
          </a:p>
        </p:txBody>
      </p:sp>
      <p:sp>
        <p:nvSpPr>
          <p:cNvPr id="15" name="Rounded Rectangle 3">
            <a:extLst>
              <a:ext uri="{FF2B5EF4-FFF2-40B4-BE49-F238E27FC236}">
                <a16:creationId xmlns:a16="http://schemas.microsoft.com/office/drawing/2014/main" id="{B98EA155-C433-3AA9-CC12-8C55012BF080}"/>
              </a:ext>
            </a:extLst>
          </p:cNvPr>
          <p:cNvSpPr/>
          <p:nvPr/>
        </p:nvSpPr>
        <p:spPr>
          <a:xfrm>
            <a:off x="3793104" y="2661514"/>
            <a:ext cx="1115432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noProof="0" dirty="0"/>
          </a:p>
        </p:txBody>
      </p:sp>
    </p:spTree>
    <p:extLst>
      <p:ext uri="{BB962C8B-B14F-4D97-AF65-F5344CB8AC3E}">
        <p14:creationId xmlns:p14="http://schemas.microsoft.com/office/powerpoint/2010/main" val="24786443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2F7A41-051A-3A4B-A759-AC1E7ECD13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858E3B65-1F5F-FB21-8267-DF2AA1B86207}"/>
              </a:ext>
            </a:extLst>
          </p:cNvPr>
          <p:cNvSpPr/>
          <p:nvPr/>
        </p:nvSpPr>
        <p:spPr>
          <a:xfrm>
            <a:off x="357308" y="2438400"/>
            <a:ext cx="1447844" cy="2011680"/>
          </a:xfrm>
          <a:prstGeom prst="roundRect">
            <a:avLst/>
          </a:prstGeom>
          <a:noFill/>
          <a:ln w="57150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r>
              <a:rPr lang="de-AT" b="0" noProof="0" dirty="0">
                <a:latin typeface="Calibri"/>
              </a:rPr>
              <a:t>WhatsApp</a:t>
            </a:r>
          </a:p>
          <a:p>
            <a:pPr algn="ctr"/>
            <a:r>
              <a:rPr lang="de-AT" b="0" noProof="0" dirty="0">
                <a:latin typeface="Calibri"/>
              </a:rPr>
              <a:t>Telegram</a:t>
            </a:r>
          </a:p>
          <a:p>
            <a:pPr algn="ctr"/>
            <a:r>
              <a:rPr lang="de-AT" b="0" noProof="0" dirty="0">
                <a:latin typeface="Calibri"/>
              </a:rPr>
              <a:t>Discord</a:t>
            </a:r>
          </a:p>
          <a:p>
            <a:pPr algn="ctr"/>
            <a:r>
              <a:rPr lang="de-AT" noProof="0" dirty="0">
                <a:latin typeface="Calibri"/>
              </a:rPr>
              <a:t>WeChat</a:t>
            </a:r>
          </a:p>
          <a:p>
            <a:pPr algn="ctr"/>
            <a:r>
              <a:rPr lang="de-AT" b="0" noProof="0" dirty="0">
                <a:latin typeface="Calibri"/>
              </a:rPr>
              <a:t>QQ</a:t>
            </a:r>
          </a:p>
          <a:p>
            <a:pPr algn="ctr"/>
            <a:r>
              <a:rPr lang="de-AT" b="0" noProof="0" dirty="0">
                <a:latin typeface="Calibri"/>
              </a:rPr>
              <a:t>Web UI</a:t>
            </a:r>
          </a:p>
          <a:p>
            <a:pPr algn="ctr"/>
            <a:r>
              <a:rPr lang="de-AT" noProof="0" dirty="0">
                <a:latin typeface="Calibri"/>
              </a:rPr>
              <a:t>…</a:t>
            </a:r>
            <a:endParaRPr lang="de-AT" b="0" noProof="0" dirty="0">
              <a:latin typeface="Calibri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5FE41361-6993-E1A4-F5EE-D3EC642B892C}"/>
              </a:ext>
            </a:extLst>
          </p:cNvPr>
          <p:cNvSpPr/>
          <p:nvPr/>
        </p:nvSpPr>
        <p:spPr>
          <a:xfrm>
            <a:off x="2422154" y="2815459"/>
            <a:ext cx="1288612" cy="544698"/>
          </a:xfrm>
          <a:prstGeom prst="roundRect">
            <a:avLst/>
          </a:prstGeom>
          <a:noFill/>
          <a:ln w="57150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r>
              <a:rPr lang="de-AT" noProof="0" dirty="0"/>
              <a:t>OpenClaw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2D01333-0213-C851-4473-88A9EEF1C5E8}"/>
              </a:ext>
            </a:extLst>
          </p:cNvPr>
          <p:cNvSpPr/>
          <p:nvPr/>
        </p:nvSpPr>
        <p:spPr>
          <a:xfrm>
            <a:off x="7748752" y="2438400"/>
            <a:ext cx="1037940" cy="2011680"/>
          </a:xfrm>
          <a:prstGeom prst="roundRect">
            <a:avLst/>
          </a:prstGeom>
          <a:noFill/>
          <a:ln w="57150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r>
              <a:rPr lang="de-AT" b="0" noProof="0" dirty="0">
                <a:latin typeface="Calibri"/>
              </a:rPr>
              <a:t>Claude</a:t>
            </a:r>
          </a:p>
          <a:p>
            <a:pPr algn="ctr"/>
            <a:r>
              <a:rPr lang="de-AT" b="0" noProof="0" dirty="0">
                <a:latin typeface="Calibri"/>
              </a:rPr>
              <a:t>GPT</a:t>
            </a:r>
          </a:p>
          <a:p>
            <a:pPr algn="ctr"/>
            <a:r>
              <a:rPr lang="de-AT" b="0" noProof="0" dirty="0">
                <a:latin typeface="Calibri"/>
              </a:rPr>
              <a:t>Gemini</a:t>
            </a:r>
          </a:p>
          <a:p>
            <a:pPr algn="ctr"/>
            <a:r>
              <a:rPr lang="de-AT" noProof="0" dirty="0">
                <a:latin typeface="Calibri"/>
              </a:rPr>
              <a:t>…</a:t>
            </a:r>
            <a:endParaRPr lang="de-AT" b="0" noProof="0" dirty="0">
              <a:latin typeface="Calibri"/>
            </a:endParaRPr>
          </a:p>
        </p:txBody>
      </p:sp>
      <p:pic>
        <p:nvPicPr>
          <p:cNvPr id="1026" name="Picture 2" descr="Man ">
            <a:extLst>
              <a:ext uri="{FF2B5EF4-FFF2-40B4-BE49-F238E27FC236}">
                <a16:creationId xmlns:a16="http://schemas.microsoft.com/office/drawing/2014/main" id="{FF9AE3F1-A107-4889-0148-C8820ABEA0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892" y="1077685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Big data ">
            <a:extLst>
              <a:ext uri="{FF2B5EF4-FFF2-40B4-BE49-F238E27FC236}">
                <a16:creationId xmlns:a16="http://schemas.microsoft.com/office/drawing/2014/main" id="{338CBBCA-54E1-07B7-78B7-595001FCCA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8122" y="1219200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9006E5C1-2F3A-5C4C-3EB9-AE92434A8DCF}"/>
              </a:ext>
            </a:extLst>
          </p:cNvPr>
          <p:cNvSpPr txBox="1"/>
          <p:nvPr/>
        </p:nvSpPr>
        <p:spPr>
          <a:xfrm>
            <a:off x="7476297" y="4530221"/>
            <a:ext cx="14010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noProof="0" dirty="0"/>
              <a:t>Cloud / </a:t>
            </a:r>
            <a:r>
              <a:rPr lang="de-AT" noProof="0" dirty="0" err="1"/>
              <a:t>Local</a:t>
            </a:r>
            <a:endParaRPr lang="de-AT" noProof="0" dirty="0">
              <a:latin typeface="Calibri"/>
            </a:endParaRPr>
          </a:p>
        </p:txBody>
      </p:sp>
      <p:cxnSp>
        <p:nvCxnSpPr>
          <p:cNvPr id="2" name="直接箭头连接符 1">
            <a:extLst>
              <a:ext uri="{FF2B5EF4-FFF2-40B4-BE49-F238E27FC236}">
                <a16:creationId xmlns:a16="http://schemas.microsoft.com/office/drawing/2014/main" id="{F067B08A-9433-8CF1-299E-DB5FDF8B08DD}"/>
              </a:ext>
            </a:extLst>
          </p:cNvPr>
          <p:cNvCxnSpPr/>
          <p:nvPr/>
        </p:nvCxnSpPr>
        <p:spPr>
          <a:xfrm>
            <a:off x="1882198" y="2963918"/>
            <a:ext cx="4572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D665E5CB-BD5D-74A7-5468-24A9E1A056D4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3710766" y="3087808"/>
            <a:ext cx="394735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" name="Rounded Rectangle 3">
            <a:extLst>
              <a:ext uri="{FF2B5EF4-FFF2-40B4-BE49-F238E27FC236}">
                <a16:creationId xmlns:a16="http://schemas.microsoft.com/office/drawing/2014/main" id="{DAC4AD28-4777-29D3-C1C2-B4676900615C}"/>
              </a:ext>
            </a:extLst>
          </p:cNvPr>
          <p:cNvSpPr/>
          <p:nvPr/>
        </p:nvSpPr>
        <p:spPr>
          <a:xfrm>
            <a:off x="1951027" y="2302578"/>
            <a:ext cx="1115432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noProof="0" dirty="0" err="1"/>
              <a:t>message</a:t>
            </a:r>
            <a:endParaRPr lang="de-AT" noProof="0" dirty="0"/>
          </a:p>
        </p:txBody>
      </p:sp>
      <p:sp>
        <p:nvSpPr>
          <p:cNvPr id="22" name="Rounded Rectangle 3">
            <a:extLst>
              <a:ext uri="{FF2B5EF4-FFF2-40B4-BE49-F238E27FC236}">
                <a16:creationId xmlns:a16="http://schemas.microsoft.com/office/drawing/2014/main" id="{BB71EC0D-B910-1796-1FAA-3AB9838355AB}"/>
              </a:ext>
            </a:extLst>
          </p:cNvPr>
          <p:cNvSpPr/>
          <p:nvPr/>
        </p:nvSpPr>
        <p:spPr>
          <a:xfrm>
            <a:off x="3786624" y="763418"/>
            <a:ext cx="1115432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noProof="0" dirty="0"/>
          </a:p>
        </p:txBody>
      </p:sp>
      <p:sp>
        <p:nvSpPr>
          <p:cNvPr id="25" name="Rounded Rectangle 3">
            <a:extLst>
              <a:ext uri="{FF2B5EF4-FFF2-40B4-BE49-F238E27FC236}">
                <a16:creationId xmlns:a16="http://schemas.microsoft.com/office/drawing/2014/main" id="{C9A88E1B-76C0-0D90-1115-023924FFDD41}"/>
              </a:ext>
            </a:extLst>
          </p:cNvPr>
          <p:cNvSpPr/>
          <p:nvPr/>
        </p:nvSpPr>
        <p:spPr>
          <a:xfrm>
            <a:off x="3786624" y="60245"/>
            <a:ext cx="1115432" cy="657077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noProof="0" dirty="0"/>
              <a:t>System prompt</a:t>
            </a:r>
          </a:p>
        </p:txBody>
      </p:sp>
      <p:sp>
        <p:nvSpPr>
          <p:cNvPr id="7" name="Rounded Rectangle 3">
            <a:extLst>
              <a:ext uri="{FF2B5EF4-FFF2-40B4-BE49-F238E27FC236}">
                <a16:creationId xmlns:a16="http://schemas.microsoft.com/office/drawing/2014/main" id="{83DA30C3-838D-2E42-D9AF-CAFCF3F34666}"/>
              </a:ext>
            </a:extLst>
          </p:cNvPr>
          <p:cNvSpPr/>
          <p:nvPr/>
        </p:nvSpPr>
        <p:spPr>
          <a:xfrm>
            <a:off x="3786624" y="1206869"/>
            <a:ext cx="1115432" cy="551709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noProof="0" dirty="0"/>
              <a:t>Tool Output</a:t>
            </a:r>
          </a:p>
        </p:txBody>
      </p:sp>
      <p:sp>
        <p:nvSpPr>
          <p:cNvPr id="11" name="Rounded Rectangle 3">
            <a:extLst>
              <a:ext uri="{FF2B5EF4-FFF2-40B4-BE49-F238E27FC236}">
                <a16:creationId xmlns:a16="http://schemas.microsoft.com/office/drawing/2014/main" id="{47D45F29-52E9-40FF-1191-BCB4B7270D8B}"/>
              </a:ext>
            </a:extLst>
          </p:cNvPr>
          <p:cNvSpPr/>
          <p:nvPr/>
        </p:nvSpPr>
        <p:spPr>
          <a:xfrm>
            <a:off x="3786624" y="1812367"/>
            <a:ext cx="1115432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noProof="0" dirty="0"/>
          </a:p>
        </p:txBody>
      </p:sp>
      <p:sp>
        <p:nvSpPr>
          <p:cNvPr id="14" name="Rounded Rectangle 3">
            <a:extLst>
              <a:ext uri="{FF2B5EF4-FFF2-40B4-BE49-F238E27FC236}">
                <a16:creationId xmlns:a16="http://schemas.microsoft.com/office/drawing/2014/main" id="{67AB4F0A-0B43-C5A6-7FE4-0AFD812B8CBD}"/>
              </a:ext>
            </a:extLst>
          </p:cNvPr>
          <p:cNvSpPr/>
          <p:nvPr/>
        </p:nvSpPr>
        <p:spPr>
          <a:xfrm>
            <a:off x="3786624" y="2241132"/>
            <a:ext cx="1115432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noProof="0" dirty="0"/>
          </a:p>
        </p:txBody>
      </p:sp>
      <p:sp>
        <p:nvSpPr>
          <p:cNvPr id="15" name="Rounded Rectangle 3">
            <a:extLst>
              <a:ext uri="{FF2B5EF4-FFF2-40B4-BE49-F238E27FC236}">
                <a16:creationId xmlns:a16="http://schemas.microsoft.com/office/drawing/2014/main" id="{89B79111-7E8E-9167-83B8-11A4C8EBD903}"/>
              </a:ext>
            </a:extLst>
          </p:cNvPr>
          <p:cNvSpPr/>
          <p:nvPr/>
        </p:nvSpPr>
        <p:spPr>
          <a:xfrm>
            <a:off x="3793104" y="2661514"/>
            <a:ext cx="1115432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noProof="0" dirty="0"/>
          </a:p>
        </p:txBody>
      </p:sp>
      <p:sp>
        <p:nvSpPr>
          <p:cNvPr id="13" name="Rounded Rectangle 3">
            <a:extLst>
              <a:ext uri="{FF2B5EF4-FFF2-40B4-BE49-F238E27FC236}">
                <a16:creationId xmlns:a16="http://schemas.microsoft.com/office/drawing/2014/main" id="{562E0C28-6B0E-F507-CCD5-13CBFF68A00C}"/>
              </a:ext>
            </a:extLst>
          </p:cNvPr>
          <p:cNvSpPr/>
          <p:nvPr/>
        </p:nvSpPr>
        <p:spPr>
          <a:xfrm>
            <a:off x="3693212" y="1286521"/>
            <a:ext cx="1324462" cy="389672"/>
          </a:xfrm>
          <a:prstGeom prst="roundRect">
            <a:avLst/>
          </a:prstGeom>
          <a:pattFill prst="wdUpDiag">
            <a:fgClr>
              <a:schemeClr val="accent5"/>
            </a:fgClr>
            <a:bgClr>
              <a:schemeClr val="bg1"/>
            </a:bgClr>
          </a:patt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noProof="0" dirty="0"/>
          </a:p>
        </p:txBody>
      </p:sp>
    </p:spTree>
    <p:extLst>
      <p:ext uri="{BB962C8B-B14F-4D97-AF65-F5344CB8AC3E}">
        <p14:creationId xmlns:p14="http://schemas.microsoft.com/office/powerpoint/2010/main" val="13287723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77527C-4EDA-2640-F3AA-C9F51955FF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FA0F2077-1965-8A44-2B32-A1CFAF9781ED}"/>
              </a:ext>
            </a:extLst>
          </p:cNvPr>
          <p:cNvSpPr/>
          <p:nvPr/>
        </p:nvSpPr>
        <p:spPr>
          <a:xfrm>
            <a:off x="357308" y="2438400"/>
            <a:ext cx="1447844" cy="2011680"/>
          </a:xfrm>
          <a:prstGeom prst="roundRect">
            <a:avLst/>
          </a:prstGeom>
          <a:noFill/>
          <a:ln w="57150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r>
              <a:rPr lang="de-AT" b="0" noProof="0" dirty="0">
                <a:latin typeface="Calibri"/>
              </a:rPr>
              <a:t>WhatsApp</a:t>
            </a:r>
          </a:p>
          <a:p>
            <a:pPr algn="ctr"/>
            <a:r>
              <a:rPr lang="de-AT" b="0" noProof="0" dirty="0">
                <a:latin typeface="Calibri"/>
              </a:rPr>
              <a:t>Telegram</a:t>
            </a:r>
          </a:p>
          <a:p>
            <a:pPr algn="ctr"/>
            <a:r>
              <a:rPr lang="de-AT" b="0" noProof="0" dirty="0">
                <a:latin typeface="Calibri"/>
              </a:rPr>
              <a:t>Discord</a:t>
            </a:r>
          </a:p>
          <a:p>
            <a:pPr algn="ctr"/>
            <a:r>
              <a:rPr lang="de-AT" noProof="0" dirty="0">
                <a:latin typeface="Calibri"/>
              </a:rPr>
              <a:t>WeChat</a:t>
            </a:r>
          </a:p>
          <a:p>
            <a:pPr algn="ctr"/>
            <a:r>
              <a:rPr lang="de-AT" b="0" noProof="0" dirty="0">
                <a:latin typeface="Calibri"/>
              </a:rPr>
              <a:t>QQ</a:t>
            </a:r>
          </a:p>
          <a:p>
            <a:pPr algn="ctr"/>
            <a:r>
              <a:rPr lang="de-AT" b="0" noProof="0" dirty="0">
                <a:latin typeface="Calibri"/>
              </a:rPr>
              <a:t>Web UI</a:t>
            </a:r>
          </a:p>
          <a:p>
            <a:pPr algn="ctr"/>
            <a:r>
              <a:rPr lang="de-AT" noProof="0" dirty="0">
                <a:latin typeface="Calibri"/>
              </a:rPr>
              <a:t>…</a:t>
            </a:r>
            <a:endParaRPr lang="de-AT" b="0" noProof="0" dirty="0">
              <a:latin typeface="Calibri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06716DD-FC9D-9EA3-00B4-EE8732759F9F}"/>
              </a:ext>
            </a:extLst>
          </p:cNvPr>
          <p:cNvSpPr/>
          <p:nvPr/>
        </p:nvSpPr>
        <p:spPr>
          <a:xfrm>
            <a:off x="2422154" y="2815459"/>
            <a:ext cx="1288612" cy="544698"/>
          </a:xfrm>
          <a:prstGeom prst="roundRect">
            <a:avLst/>
          </a:prstGeom>
          <a:noFill/>
          <a:ln w="57150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r>
              <a:rPr lang="de-AT" noProof="0" dirty="0"/>
              <a:t>OpenClaw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93DBB286-3AEB-69D9-F6A5-52F50539E716}"/>
              </a:ext>
            </a:extLst>
          </p:cNvPr>
          <p:cNvSpPr/>
          <p:nvPr/>
        </p:nvSpPr>
        <p:spPr>
          <a:xfrm>
            <a:off x="7748752" y="2438400"/>
            <a:ext cx="1037940" cy="2011680"/>
          </a:xfrm>
          <a:prstGeom prst="roundRect">
            <a:avLst/>
          </a:prstGeom>
          <a:noFill/>
          <a:ln w="57150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r>
              <a:rPr lang="de-AT" b="0" noProof="0" dirty="0">
                <a:latin typeface="Calibri"/>
              </a:rPr>
              <a:t>Claude</a:t>
            </a:r>
          </a:p>
          <a:p>
            <a:pPr algn="ctr"/>
            <a:r>
              <a:rPr lang="de-AT" b="0" noProof="0" dirty="0">
                <a:latin typeface="Calibri"/>
              </a:rPr>
              <a:t>GPT</a:t>
            </a:r>
          </a:p>
          <a:p>
            <a:pPr algn="ctr"/>
            <a:r>
              <a:rPr lang="de-AT" b="0" noProof="0" dirty="0">
                <a:latin typeface="Calibri"/>
              </a:rPr>
              <a:t>Gemini</a:t>
            </a:r>
          </a:p>
          <a:p>
            <a:pPr algn="ctr"/>
            <a:r>
              <a:rPr lang="de-AT" noProof="0" dirty="0">
                <a:latin typeface="Calibri"/>
              </a:rPr>
              <a:t>…</a:t>
            </a:r>
            <a:endParaRPr lang="de-AT" b="0" noProof="0" dirty="0">
              <a:latin typeface="Calibri"/>
            </a:endParaRPr>
          </a:p>
        </p:txBody>
      </p:sp>
      <p:pic>
        <p:nvPicPr>
          <p:cNvPr id="1026" name="Picture 2" descr="Man ">
            <a:extLst>
              <a:ext uri="{FF2B5EF4-FFF2-40B4-BE49-F238E27FC236}">
                <a16:creationId xmlns:a16="http://schemas.microsoft.com/office/drawing/2014/main" id="{CDB81EC9-7AE1-3AE5-9FA0-00132BD96B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892" y="1077685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Big data ">
            <a:extLst>
              <a:ext uri="{FF2B5EF4-FFF2-40B4-BE49-F238E27FC236}">
                <a16:creationId xmlns:a16="http://schemas.microsoft.com/office/drawing/2014/main" id="{AAC588B6-1CA1-A151-7475-4436EB4A19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8122" y="1219200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56E5DD00-8215-F47E-5B98-9A5FDB5B4EE1}"/>
              </a:ext>
            </a:extLst>
          </p:cNvPr>
          <p:cNvSpPr txBox="1"/>
          <p:nvPr/>
        </p:nvSpPr>
        <p:spPr>
          <a:xfrm>
            <a:off x="7476297" y="4530221"/>
            <a:ext cx="14010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noProof="0" dirty="0"/>
              <a:t>Cloud / </a:t>
            </a:r>
            <a:r>
              <a:rPr lang="de-AT" noProof="0" dirty="0" err="1"/>
              <a:t>Local</a:t>
            </a:r>
            <a:endParaRPr lang="de-AT" noProof="0" dirty="0">
              <a:latin typeface="Calibri"/>
            </a:endParaRPr>
          </a:p>
        </p:txBody>
      </p:sp>
      <p:cxnSp>
        <p:nvCxnSpPr>
          <p:cNvPr id="2" name="直接箭头连接符 1">
            <a:extLst>
              <a:ext uri="{FF2B5EF4-FFF2-40B4-BE49-F238E27FC236}">
                <a16:creationId xmlns:a16="http://schemas.microsoft.com/office/drawing/2014/main" id="{78F4DF0D-8B6E-723C-DBD7-E4173548C3EF}"/>
              </a:ext>
            </a:extLst>
          </p:cNvPr>
          <p:cNvCxnSpPr/>
          <p:nvPr/>
        </p:nvCxnSpPr>
        <p:spPr>
          <a:xfrm>
            <a:off x="1882198" y="2963918"/>
            <a:ext cx="4572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8D5598AE-304D-F614-7394-9E89140F8B26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3710766" y="3087808"/>
            <a:ext cx="394735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" name="Rounded Rectangle 3">
            <a:extLst>
              <a:ext uri="{FF2B5EF4-FFF2-40B4-BE49-F238E27FC236}">
                <a16:creationId xmlns:a16="http://schemas.microsoft.com/office/drawing/2014/main" id="{928B019B-94C7-FF1D-65BD-02CEBD527C42}"/>
              </a:ext>
            </a:extLst>
          </p:cNvPr>
          <p:cNvSpPr/>
          <p:nvPr/>
        </p:nvSpPr>
        <p:spPr>
          <a:xfrm>
            <a:off x="1951027" y="2302578"/>
            <a:ext cx="1115432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noProof="0" dirty="0" err="1"/>
              <a:t>message</a:t>
            </a:r>
            <a:endParaRPr lang="de-AT" noProof="0" dirty="0"/>
          </a:p>
        </p:txBody>
      </p:sp>
      <p:sp>
        <p:nvSpPr>
          <p:cNvPr id="22" name="Rounded Rectangle 3">
            <a:extLst>
              <a:ext uri="{FF2B5EF4-FFF2-40B4-BE49-F238E27FC236}">
                <a16:creationId xmlns:a16="http://schemas.microsoft.com/office/drawing/2014/main" id="{1A76B684-24E0-B8C5-5F4A-38D7D19AFD76}"/>
              </a:ext>
            </a:extLst>
          </p:cNvPr>
          <p:cNvSpPr/>
          <p:nvPr/>
        </p:nvSpPr>
        <p:spPr>
          <a:xfrm>
            <a:off x="3786624" y="763418"/>
            <a:ext cx="1115432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noProof="0" dirty="0"/>
          </a:p>
        </p:txBody>
      </p:sp>
      <p:sp>
        <p:nvSpPr>
          <p:cNvPr id="25" name="Rounded Rectangle 3">
            <a:extLst>
              <a:ext uri="{FF2B5EF4-FFF2-40B4-BE49-F238E27FC236}">
                <a16:creationId xmlns:a16="http://schemas.microsoft.com/office/drawing/2014/main" id="{8C933219-D9D6-E277-8F24-A4BB65974CE4}"/>
              </a:ext>
            </a:extLst>
          </p:cNvPr>
          <p:cNvSpPr/>
          <p:nvPr/>
        </p:nvSpPr>
        <p:spPr>
          <a:xfrm>
            <a:off x="3786624" y="60245"/>
            <a:ext cx="1115432" cy="657077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noProof="0" dirty="0"/>
              <a:t>System prompt</a:t>
            </a:r>
          </a:p>
        </p:txBody>
      </p:sp>
      <p:sp>
        <p:nvSpPr>
          <p:cNvPr id="7" name="Rounded Rectangle 3">
            <a:extLst>
              <a:ext uri="{FF2B5EF4-FFF2-40B4-BE49-F238E27FC236}">
                <a16:creationId xmlns:a16="http://schemas.microsoft.com/office/drawing/2014/main" id="{EF392A14-BA6E-8A25-B88F-FFCEF16CDD40}"/>
              </a:ext>
            </a:extLst>
          </p:cNvPr>
          <p:cNvSpPr/>
          <p:nvPr/>
        </p:nvSpPr>
        <p:spPr>
          <a:xfrm>
            <a:off x="3786624" y="1206869"/>
            <a:ext cx="1115432" cy="551709"/>
          </a:xfrm>
          <a:prstGeom prst="roundRect">
            <a:avLst/>
          </a:prstGeom>
          <a:ln>
            <a:prstDash val="dash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AT" noProof="0" dirty="0"/>
          </a:p>
        </p:txBody>
      </p:sp>
      <p:sp>
        <p:nvSpPr>
          <p:cNvPr id="11" name="Rounded Rectangle 3">
            <a:extLst>
              <a:ext uri="{FF2B5EF4-FFF2-40B4-BE49-F238E27FC236}">
                <a16:creationId xmlns:a16="http://schemas.microsoft.com/office/drawing/2014/main" id="{C131EB95-D661-3445-A174-49779B5A1C1E}"/>
              </a:ext>
            </a:extLst>
          </p:cNvPr>
          <p:cNvSpPr/>
          <p:nvPr/>
        </p:nvSpPr>
        <p:spPr>
          <a:xfrm>
            <a:off x="3786624" y="1812367"/>
            <a:ext cx="1115432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noProof="0" dirty="0"/>
          </a:p>
        </p:txBody>
      </p:sp>
      <p:sp>
        <p:nvSpPr>
          <p:cNvPr id="14" name="Rounded Rectangle 3">
            <a:extLst>
              <a:ext uri="{FF2B5EF4-FFF2-40B4-BE49-F238E27FC236}">
                <a16:creationId xmlns:a16="http://schemas.microsoft.com/office/drawing/2014/main" id="{71073A1D-36A1-FD0E-F3CF-A10E4516F47E}"/>
              </a:ext>
            </a:extLst>
          </p:cNvPr>
          <p:cNvSpPr/>
          <p:nvPr/>
        </p:nvSpPr>
        <p:spPr>
          <a:xfrm>
            <a:off x="3786624" y="2241132"/>
            <a:ext cx="1115432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noProof="0" dirty="0"/>
          </a:p>
        </p:txBody>
      </p:sp>
      <p:sp>
        <p:nvSpPr>
          <p:cNvPr id="15" name="Rounded Rectangle 3">
            <a:extLst>
              <a:ext uri="{FF2B5EF4-FFF2-40B4-BE49-F238E27FC236}">
                <a16:creationId xmlns:a16="http://schemas.microsoft.com/office/drawing/2014/main" id="{AEA4ABBE-64DA-2964-AE5B-163A3D2086AD}"/>
              </a:ext>
            </a:extLst>
          </p:cNvPr>
          <p:cNvSpPr/>
          <p:nvPr/>
        </p:nvSpPr>
        <p:spPr>
          <a:xfrm>
            <a:off x="3793104" y="2661514"/>
            <a:ext cx="1115432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noProof="0" dirty="0"/>
          </a:p>
        </p:txBody>
      </p:sp>
    </p:spTree>
    <p:extLst>
      <p:ext uri="{BB962C8B-B14F-4D97-AF65-F5344CB8AC3E}">
        <p14:creationId xmlns:p14="http://schemas.microsoft.com/office/powerpoint/2010/main" val="305388322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2A01E4-2D6C-8A1F-1E23-EFAD96F41A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>
            <a:extLst>
              <a:ext uri="{FF2B5EF4-FFF2-40B4-BE49-F238E27FC236}">
                <a16:creationId xmlns:a16="http://schemas.microsoft.com/office/drawing/2014/main" id="{0EB8A9F1-F20E-CA56-2CBC-8B6E232AB23C}"/>
              </a:ext>
            </a:extLst>
          </p:cNvPr>
          <p:cNvSpPr txBox="1"/>
          <p:nvPr/>
        </p:nvSpPr>
        <p:spPr>
          <a:xfrm>
            <a:off x="3871487" y="3131005"/>
            <a:ext cx="9509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noProof="0" dirty="0">
                <a:latin typeface="Calibri"/>
              </a:rPr>
              <a:t>Deutsch</a:t>
            </a:r>
          </a:p>
        </p:txBody>
      </p:sp>
    </p:spTree>
    <p:extLst>
      <p:ext uri="{BB962C8B-B14F-4D97-AF65-F5344CB8AC3E}">
        <p14:creationId xmlns:p14="http://schemas.microsoft.com/office/powerpoint/2010/main" val="123099212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94CA51-C8C2-7840-DD12-715316577D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AE22A3A-D89E-F0D9-0F81-ADAAC94CF876}"/>
              </a:ext>
            </a:extLst>
          </p:cNvPr>
          <p:cNvSpPr/>
          <p:nvPr/>
        </p:nvSpPr>
        <p:spPr>
          <a:xfrm>
            <a:off x="357308" y="2438400"/>
            <a:ext cx="2468880" cy="2011680"/>
          </a:xfrm>
          <a:prstGeom prst="roundRect">
            <a:avLst/>
          </a:prstGeom>
          <a:noFill/>
          <a:ln w="57150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r>
              <a:rPr lang="de-AT" b="0" noProof="0" dirty="0">
                <a:latin typeface="Calibri"/>
              </a:rPr>
              <a:t>WhatsApp</a:t>
            </a:r>
          </a:p>
          <a:p>
            <a:pPr algn="ctr"/>
            <a:r>
              <a:rPr lang="de-AT" b="0" noProof="0" dirty="0">
                <a:latin typeface="Calibri"/>
              </a:rPr>
              <a:t>Telegram</a:t>
            </a:r>
          </a:p>
          <a:p>
            <a:pPr algn="ctr"/>
            <a:r>
              <a:rPr lang="de-AT" b="0" noProof="0" dirty="0">
                <a:latin typeface="Calibri"/>
              </a:rPr>
              <a:t>Discord</a:t>
            </a:r>
          </a:p>
          <a:p>
            <a:pPr algn="ctr"/>
            <a:r>
              <a:rPr lang="de-AT" noProof="0" dirty="0">
                <a:latin typeface="Calibri"/>
              </a:rPr>
              <a:t>WeChat</a:t>
            </a:r>
          </a:p>
          <a:p>
            <a:pPr algn="ctr"/>
            <a:r>
              <a:rPr lang="de-AT" b="0" noProof="0" dirty="0">
                <a:latin typeface="Calibri"/>
              </a:rPr>
              <a:t>QQ</a:t>
            </a:r>
          </a:p>
          <a:p>
            <a:pPr algn="ctr"/>
            <a:r>
              <a:rPr lang="de-AT" noProof="0" dirty="0"/>
              <a:t>Web UI</a:t>
            </a:r>
            <a:endParaRPr lang="de-AT" b="0" noProof="0" dirty="0">
              <a:latin typeface="Calibri"/>
            </a:endParaRPr>
          </a:p>
          <a:p>
            <a:pPr algn="ctr"/>
            <a:r>
              <a:rPr lang="de-AT" noProof="0" dirty="0">
                <a:latin typeface="Calibri"/>
              </a:rPr>
              <a:t>…</a:t>
            </a:r>
            <a:endParaRPr lang="de-AT" b="0" noProof="0" dirty="0">
              <a:latin typeface="Calibri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41179CB8-7191-1252-2C21-639D159532D9}"/>
              </a:ext>
            </a:extLst>
          </p:cNvPr>
          <p:cNvSpPr/>
          <p:nvPr/>
        </p:nvSpPr>
        <p:spPr>
          <a:xfrm>
            <a:off x="3283388" y="2438400"/>
            <a:ext cx="2468880" cy="2011680"/>
          </a:xfrm>
          <a:prstGeom prst="roundRect">
            <a:avLst/>
          </a:prstGeom>
          <a:noFill/>
          <a:ln w="57150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r>
              <a:rPr lang="de-AT" noProof="0" dirty="0"/>
              <a:t>Speichersystem</a:t>
            </a:r>
          </a:p>
          <a:p>
            <a:pPr algn="ctr"/>
            <a:r>
              <a:rPr lang="de-AT" noProof="0" dirty="0"/>
              <a:t>Aufgabenverwaltung</a:t>
            </a:r>
            <a:endParaRPr lang="de-AT" b="0" noProof="0" dirty="0">
              <a:latin typeface="Calibri"/>
            </a:endParaRPr>
          </a:p>
          <a:p>
            <a:pPr algn="ctr"/>
            <a:r>
              <a:rPr lang="de-AT" noProof="0" dirty="0"/>
              <a:t>Lokale Ausführung</a:t>
            </a:r>
            <a:endParaRPr lang="de-AT" b="0" noProof="0" dirty="0">
              <a:latin typeface="Calibri"/>
            </a:endParaRPr>
          </a:p>
          <a:p>
            <a:pPr algn="ctr"/>
            <a:r>
              <a:rPr lang="de-AT" noProof="0" dirty="0">
                <a:latin typeface="Calibri"/>
              </a:rPr>
              <a:t>…</a:t>
            </a:r>
            <a:endParaRPr lang="de-AT" b="0" noProof="0" dirty="0">
              <a:latin typeface="Calibri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4C771E11-5684-BABE-DF46-9C91A919710F}"/>
              </a:ext>
            </a:extLst>
          </p:cNvPr>
          <p:cNvSpPr/>
          <p:nvPr/>
        </p:nvSpPr>
        <p:spPr>
          <a:xfrm>
            <a:off x="6209468" y="2438400"/>
            <a:ext cx="2468880" cy="2011680"/>
          </a:xfrm>
          <a:prstGeom prst="roundRect">
            <a:avLst/>
          </a:prstGeom>
          <a:noFill/>
          <a:ln w="57150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r>
              <a:rPr lang="de-AT" b="0" noProof="0" dirty="0">
                <a:latin typeface="Calibri"/>
              </a:rPr>
              <a:t>Claude</a:t>
            </a:r>
          </a:p>
          <a:p>
            <a:pPr algn="ctr"/>
            <a:r>
              <a:rPr lang="de-AT" b="0" noProof="0" dirty="0">
                <a:latin typeface="Calibri"/>
              </a:rPr>
              <a:t>GPT</a:t>
            </a:r>
          </a:p>
          <a:p>
            <a:pPr algn="ctr"/>
            <a:r>
              <a:rPr lang="de-AT" b="0" noProof="0" dirty="0">
                <a:latin typeface="Calibri"/>
              </a:rPr>
              <a:t>Gemini</a:t>
            </a:r>
          </a:p>
          <a:p>
            <a:pPr algn="ctr"/>
            <a:r>
              <a:rPr lang="de-AT" noProof="0" dirty="0">
                <a:latin typeface="Calibri"/>
              </a:rPr>
              <a:t>…</a:t>
            </a:r>
            <a:endParaRPr lang="de-AT" b="0" noProof="0" dirty="0">
              <a:latin typeface="Calibri"/>
            </a:endParaRPr>
          </a:p>
        </p:txBody>
      </p:sp>
      <p:pic>
        <p:nvPicPr>
          <p:cNvPr id="1026" name="Picture 2" descr="Man ">
            <a:extLst>
              <a:ext uri="{FF2B5EF4-FFF2-40B4-BE49-F238E27FC236}">
                <a16:creationId xmlns:a16="http://schemas.microsoft.com/office/drawing/2014/main" id="{F735E890-6F36-D663-89BF-DCFEEDA550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156" y="1077685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Big data ">
            <a:extLst>
              <a:ext uri="{FF2B5EF4-FFF2-40B4-BE49-F238E27FC236}">
                <a16:creationId xmlns:a16="http://schemas.microsoft.com/office/drawing/2014/main" id="{655C2A58-6518-DEB9-3D8D-C4C84510E4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4308" y="1077685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D9AA493B-6B47-2F4D-F268-77FBADE33754}"/>
              </a:ext>
            </a:extLst>
          </p:cNvPr>
          <p:cNvSpPr txBox="1"/>
          <p:nvPr/>
        </p:nvSpPr>
        <p:spPr>
          <a:xfrm>
            <a:off x="3944594" y="1977890"/>
            <a:ext cx="1146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noProof="0" dirty="0">
                <a:latin typeface="Calibri"/>
              </a:rPr>
              <a:t>OpenClaw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B1FC60D-512A-DF75-3F5B-5185CB9B85EF}"/>
              </a:ext>
            </a:extLst>
          </p:cNvPr>
          <p:cNvSpPr txBox="1"/>
          <p:nvPr/>
        </p:nvSpPr>
        <p:spPr>
          <a:xfrm>
            <a:off x="3157199" y="4627601"/>
            <a:ext cx="28492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noProof="0" dirty="0"/>
              <a:t>Läuft lokal auf deinem Gerät</a:t>
            </a:r>
            <a:endParaRPr lang="de-AT" noProof="0" dirty="0">
              <a:latin typeface="Calibri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B90EF40-A1CB-B41A-49F0-11F66985C140}"/>
              </a:ext>
            </a:extLst>
          </p:cNvPr>
          <p:cNvSpPr txBox="1"/>
          <p:nvPr/>
        </p:nvSpPr>
        <p:spPr>
          <a:xfrm>
            <a:off x="6399006" y="4639659"/>
            <a:ext cx="20898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AT" noProof="0" dirty="0"/>
              <a:t>Cloud- oder </a:t>
            </a:r>
          </a:p>
          <a:p>
            <a:pPr algn="ctr"/>
            <a:r>
              <a:rPr lang="de-AT" noProof="0" dirty="0"/>
              <a:t>lokale Bereitstellung</a:t>
            </a:r>
            <a:endParaRPr lang="de-AT" noProof="0" dirty="0">
              <a:latin typeface="Calibri"/>
            </a:endParaRPr>
          </a:p>
        </p:txBody>
      </p: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3B05A471-E5E2-EDF0-721B-22B7E155D924}"/>
              </a:ext>
            </a:extLst>
          </p:cNvPr>
          <p:cNvCxnSpPr/>
          <p:nvPr/>
        </p:nvCxnSpPr>
        <p:spPr>
          <a:xfrm>
            <a:off x="2826188" y="3074276"/>
            <a:ext cx="4572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EA53F098-B6AC-7A25-3153-98F489C427F9}"/>
              </a:ext>
            </a:extLst>
          </p:cNvPr>
          <p:cNvCxnSpPr/>
          <p:nvPr/>
        </p:nvCxnSpPr>
        <p:spPr>
          <a:xfrm>
            <a:off x="5752268" y="3053255"/>
            <a:ext cx="4572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DA64B91D-D86E-CF58-B929-0E862F21ED0E}"/>
              </a:ext>
            </a:extLst>
          </p:cNvPr>
          <p:cNvCxnSpPr>
            <a:cxnSpLocks/>
            <a:stCxn id="5" idx="1"/>
            <a:endCxn id="4" idx="3"/>
          </p:cNvCxnSpPr>
          <p:nvPr/>
        </p:nvCxnSpPr>
        <p:spPr>
          <a:xfrm flipH="1">
            <a:off x="5752268" y="3444240"/>
            <a:ext cx="4572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0EDEBC4C-E9DC-A500-458F-55FD1D3D3F9B}"/>
              </a:ext>
            </a:extLst>
          </p:cNvPr>
          <p:cNvCxnSpPr>
            <a:cxnSpLocks/>
          </p:cNvCxnSpPr>
          <p:nvPr/>
        </p:nvCxnSpPr>
        <p:spPr>
          <a:xfrm flipH="1">
            <a:off x="2826188" y="3360157"/>
            <a:ext cx="4572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476317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7CAD65-E898-095C-9A5D-CDBACFDF02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5862BB8E-2395-DB47-C3B7-6A704BCC568F}"/>
              </a:ext>
            </a:extLst>
          </p:cNvPr>
          <p:cNvSpPr/>
          <p:nvPr/>
        </p:nvSpPr>
        <p:spPr>
          <a:xfrm>
            <a:off x="357308" y="2438400"/>
            <a:ext cx="1447844" cy="2011680"/>
          </a:xfrm>
          <a:prstGeom prst="roundRect">
            <a:avLst/>
          </a:prstGeom>
          <a:noFill/>
          <a:ln w="57150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r>
              <a:rPr lang="de-AT" b="0" noProof="0" dirty="0">
                <a:latin typeface="Calibri"/>
              </a:rPr>
              <a:t>WhatsApp</a:t>
            </a:r>
          </a:p>
          <a:p>
            <a:pPr algn="ctr"/>
            <a:r>
              <a:rPr lang="de-AT" b="0" noProof="0" dirty="0">
                <a:latin typeface="Calibri"/>
              </a:rPr>
              <a:t>Telegram</a:t>
            </a:r>
          </a:p>
          <a:p>
            <a:pPr algn="ctr"/>
            <a:r>
              <a:rPr lang="de-AT" b="0" noProof="0" dirty="0">
                <a:latin typeface="Calibri"/>
              </a:rPr>
              <a:t>Discord</a:t>
            </a:r>
          </a:p>
          <a:p>
            <a:pPr algn="ctr"/>
            <a:r>
              <a:rPr lang="de-AT" noProof="0" dirty="0">
                <a:latin typeface="Calibri"/>
              </a:rPr>
              <a:t>WeChat</a:t>
            </a:r>
          </a:p>
          <a:p>
            <a:pPr algn="ctr"/>
            <a:r>
              <a:rPr lang="de-AT" b="0" noProof="0" dirty="0">
                <a:latin typeface="Calibri"/>
              </a:rPr>
              <a:t>QQ</a:t>
            </a:r>
          </a:p>
          <a:p>
            <a:pPr algn="ctr"/>
            <a:r>
              <a:rPr lang="de-AT" b="0" noProof="0" dirty="0">
                <a:latin typeface="Calibri"/>
              </a:rPr>
              <a:t>Web UI</a:t>
            </a:r>
          </a:p>
          <a:p>
            <a:pPr algn="ctr"/>
            <a:r>
              <a:rPr lang="de-AT" noProof="0" dirty="0">
                <a:latin typeface="Calibri"/>
              </a:rPr>
              <a:t>…</a:t>
            </a:r>
            <a:endParaRPr lang="de-AT" b="0" noProof="0" dirty="0">
              <a:latin typeface="Calibri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F477CC3-AA26-3BDF-1216-3002638570FD}"/>
              </a:ext>
            </a:extLst>
          </p:cNvPr>
          <p:cNvSpPr/>
          <p:nvPr/>
        </p:nvSpPr>
        <p:spPr>
          <a:xfrm>
            <a:off x="2422154" y="2815459"/>
            <a:ext cx="1288612" cy="544698"/>
          </a:xfrm>
          <a:prstGeom prst="roundRect">
            <a:avLst/>
          </a:prstGeom>
          <a:noFill/>
          <a:ln w="57150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r>
              <a:rPr lang="de-AT" noProof="0" dirty="0"/>
              <a:t>OpenClaw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616933E1-A888-4582-5F70-295C66A6FA8B}"/>
              </a:ext>
            </a:extLst>
          </p:cNvPr>
          <p:cNvSpPr/>
          <p:nvPr/>
        </p:nvSpPr>
        <p:spPr>
          <a:xfrm>
            <a:off x="7748752" y="2438400"/>
            <a:ext cx="1037940" cy="2011680"/>
          </a:xfrm>
          <a:prstGeom prst="roundRect">
            <a:avLst/>
          </a:prstGeom>
          <a:noFill/>
          <a:ln w="57150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r>
              <a:rPr lang="de-AT" b="0" noProof="0" dirty="0">
                <a:latin typeface="Calibri"/>
              </a:rPr>
              <a:t>Claude</a:t>
            </a:r>
          </a:p>
          <a:p>
            <a:pPr algn="ctr"/>
            <a:r>
              <a:rPr lang="de-AT" b="0" noProof="0" dirty="0">
                <a:latin typeface="Calibri"/>
              </a:rPr>
              <a:t>GPT</a:t>
            </a:r>
          </a:p>
          <a:p>
            <a:pPr algn="ctr"/>
            <a:r>
              <a:rPr lang="de-AT" b="0" noProof="0" dirty="0">
                <a:latin typeface="Calibri"/>
              </a:rPr>
              <a:t>Gemini</a:t>
            </a:r>
          </a:p>
          <a:p>
            <a:pPr algn="ctr"/>
            <a:r>
              <a:rPr lang="de-AT" noProof="0" dirty="0">
                <a:latin typeface="Calibri"/>
              </a:rPr>
              <a:t>…</a:t>
            </a:r>
            <a:endParaRPr lang="de-AT" b="0" noProof="0" dirty="0">
              <a:latin typeface="Calibri"/>
            </a:endParaRPr>
          </a:p>
        </p:txBody>
      </p:sp>
      <p:pic>
        <p:nvPicPr>
          <p:cNvPr id="1026" name="Picture 2" descr="Man ">
            <a:extLst>
              <a:ext uri="{FF2B5EF4-FFF2-40B4-BE49-F238E27FC236}">
                <a16:creationId xmlns:a16="http://schemas.microsoft.com/office/drawing/2014/main" id="{F5CDEFC4-F484-5784-1E7C-5EAB2F21DA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892" y="1077685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Big data ">
            <a:extLst>
              <a:ext uri="{FF2B5EF4-FFF2-40B4-BE49-F238E27FC236}">
                <a16:creationId xmlns:a16="http://schemas.microsoft.com/office/drawing/2014/main" id="{32F4FA65-D20F-628D-2487-22D69C6EA6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8122" y="1219200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EEAB30E8-941D-911B-B8F5-BC8E5A4D4EFF}"/>
              </a:ext>
            </a:extLst>
          </p:cNvPr>
          <p:cNvSpPr txBox="1"/>
          <p:nvPr/>
        </p:nvSpPr>
        <p:spPr>
          <a:xfrm>
            <a:off x="2283553" y="3370589"/>
            <a:ext cx="15624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noProof="0" dirty="0"/>
              <a:t>Läuft lokal auf </a:t>
            </a:r>
          </a:p>
          <a:p>
            <a:r>
              <a:rPr lang="de-AT" noProof="0" dirty="0"/>
              <a:t>deinem Gerät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06584C3-586E-C9E8-E3C3-1CCBB52CF57E}"/>
              </a:ext>
            </a:extLst>
          </p:cNvPr>
          <p:cNvSpPr txBox="1"/>
          <p:nvPr/>
        </p:nvSpPr>
        <p:spPr>
          <a:xfrm>
            <a:off x="7131908" y="4530221"/>
            <a:ext cx="20898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AT" noProof="0" dirty="0"/>
              <a:t>Cloud- oder </a:t>
            </a:r>
          </a:p>
          <a:p>
            <a:pPr algn="ctr"/>
            <a:r>
              <a:rPr lang="de-AT" noProof="0" dirty="0"/>
              <a:t>lokale Bereitstellung</a:t>
            </a:r>
          </a:p>
        </p:txBody>
      </p: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63FF5F6C-DC76-6EB4-C950-57458CF67A61}"/>
              </a:ext>
            </a:extLst>
          </p:cNvPr>
          <p:cNvCxnSpPr>
            <a:cxnSpLocks/>
          </p:cNvCxnSpPr>
          <p:nvPr/>
        </p:nvCxnSpPr>
        <p:spPr>
          <a:xfrm flipV="1">
            <a:off x="3046905" y="4016920"/>
            <a:ext cx="0" cy="29631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ADD40341-652B-E697-5761-5D8334A1EF6A}"/>
              </a:ext>
            </a:extLst>
          </p:cNvPr>
          <p:cNvSpPr txBox="1"/>
          <p:nvPr/>
        </p:nvSpPr>
        <p:spPr>
          <a:xfrm>
            <a:off x="2027809" y="4437888"/>
            <a:ext cx="2038192" cy="646331"/>
          </a:xfrm>
          <a:prstGeom prst="rect">
            <a:avLst/>
          </a:prstGeom>
          <a:noFill/>
          <a:ln w="2857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wrap="square">
            <a:spAutoFit/>
          </a:bodyPr>
          <a:lstStyle/>
          <a:p>
            <a:pPr algn="ctr"/>
            <a:r>
              <a:rPr lang="de-AT" noProof="0" dirty="0"/>
              <a:t>„persönliche“ Dokumente und Daten</a:t>
            </a:r>
          </a:p>
        </p:txBody>
      </p:sp>
    </p:spTree>
    <p:extLst>
      <p:ext uri="{BB962C8B-B14F-4D97-AF65-F5344CB8AC3E}">
        <p14:creationId xmlns:p14="http://schemas.microsoft.com/office/powerpoint/2010/main" val="239913353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4C5A29-267D-5758-46C1-B42505BBD7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7E1CBB49-E6AA-79B7-431E-A2B73F8642CE}"/>
              </a:ext>
            </a:extLst>
          </p:cNvPr>
          <p:cNvSpPr/>
          <p:nvPr/>
        </p:nvSpPr>
        <p:spPr>
          <a:xfrm>
            <a:off x="357308" y="2438400"/>
            <a:ext cx="1447844" cy="2011680"/>
          </a:xfrm>
          <a:prstGeom prst="roundRect">
            <a:avLst/>
          </a:prstGeom>
          <a:noFill/>
          <a:ln w="57150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r>
              <a:rPr lang="de-AT" b="0" noProof="0" dirty="0">
                <a:latin typeface="Calibri"/>
              </a:rPr>
              <a:t>WhatsApp</a:t>
            </a:r>
          </a:p>
          <a:p>
            <a:pPr algn="ctr"/>
            <a:r>
              <a:rPr lang="de-AT" b="0" noProof="0" dirty="0">
                <a:latin typeface="Calibri"/>
              </a:rPr>
              <a:t>Telegram</a:t>
            </a:r>
          </a:p>
          <a:p>
            <a:pPr algn="ctr"/>
            <a:r>
              <a:rPr lang="de-AT" b="0" noProof="0" dirty="0">
                <a:latin typeface="Calibri"/>
              </a:rPr>
              <a:t>Discord</a:t>
            </a:r>
          </a:p>
          <a:p>
            <a:pPr algn="ctr"/>
            <a:r>
              <a:rPr lang="de-AT" noProof="0" dirty="0">
                <a:latin typeface="Calibri"/>
              </a:rPr>
              <a:t>WeChat</a:t>
            </a:r>
          </a:p>
          <a:p>
            <a:pPr algn="ctr"/>
            <a:r>
              <a:rPr lang="de-AT" b="0" noProof="0" dirty="0">
                <a:latin typeface="Calibri"/>
              </a:rPr>
              <a:t>QQ</a:t>
            </a:r>
          </a:p>
          <a:p>
            <a:pPr algn="ctr"/>
            <a:r>
              <a:rPr lang="de-AT" b="0" noProof="0" dirty="0">
                <a:latin typeface="Calibri"/>
              </a:rPr>
              <a:t>Web UI</a:t>
            </a:r>
          </a:p>
          <a:p>
            <a:pPr algn="ctr"/>
            <a:r>
              <a:rPr lang="de-AT" noProof="0" dirty="0">
                <a:latin typeface="Calibri"/>
              </a:rPr>
              <a:t>…</a:t>
            </a:r>
            <a:endParaRPr lang="de-AT" b="0" noProof="0" dirty="0">
              <a:latin typeface="Calibri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AD6DC4F-AC7E-8E3F-27B6-F96E6712D523}"/>
              </a:ext>
            </a:extLst>
          </p:cNvPr>
          <p:cNvSpPr/>
          <p:nvPr/>
        </p:nvSpPr>
        <p:spPr>
          <a:xfrm>
            <a:off x="2422154" y="2815459"/>
            <a:ext cx="1288612" cy="544698"/>
          </a:xfrm>
          <a:prstGeom prst="roundRect">
            <a:avLst/>
          </a:prstGeom>
          <a:noFill/>
          <a:ln w="57150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r>
              <a:rPr lang="de-AT" noProof="0" dirty="0"/>
              <a:t>OpenClaw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9619C96E-4A7E-90E4-6B08-AE97994AEE90}"/>
              </a:ext>
            </a:extLst>
          </p:cNvPr>
          <p:cNvSpPr/>
          <p:nvPr/>
        </p:nvSpPr>
        <p:spPr>
          <a:xfrm>
            <a:off x="7748752" y="2438400"/>
            <a:ext cx="1037940" cy="2011680"/>
          </a:xfrm>
          <a:prstGeom prst="roundRect">
            <a:avLst/>
          </a:prstGeom>
          <a:noFill/>
          <a:ln w="57150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r>
              <a:rPr lang="de-AT" b="0" noProof="0" dirty="0">
                <a:latin typeface="Calibri"/>
              </a:rPr>
              <a:t>Claude</a:t>
            </a:r>
          </a:p>
          <a:p>
            <a:pPr algn="ctr"/>
            <a:r>
              <a:rPr lang="de-AT" b="0" noProof="0" dirty="0">
                <a:latin typeface="Calibri"/>
              </a:rPr>
              <a:t>GPT</a:t>
            </a:r>
          </a:p>
          <a:p>
            <a:pPr algn="ctr"/>
            <a:r>
              <a:rPr lang="de-AT" b="0" noProof="0" dirty="0">
                <a:latin typeface="Calibri"/>
              </a:rPr>
              <a:t>Gemini</a:t>
            </a:r>
          </a:p>
          <a:p>
            <a:pPr algn="ctr"/>
            <a:r>
              <a:rPr lang="de-AT" noProof="0" dirty="0">
                <a:latin typeface="Calibri"/>
              </a:rPr>
              <a:t>…</a:t>
            </a:r>
            <a:endParaRPr lang="de-AT" b="0" noProof="0" dirty="0">
              <a:latin typeface="Calibri"/>
            </a:endParaRPr>
          </a:p>
        </p:txBody>
      </p:sp>
      <p:pic>
        <p:nvPicPr>
          <p:cNvPr id="1026" name="Picture 2" descr="Man ">
            <a:extLst>
              <a:ext uri="{FF2B5EF4-FFF2-40B4-BE49-F238E27FC236}">
                <a16:creationId xmlns:a16="http://schemas.microsoft.com/office/drawing/2014/main" id="{B82D76F6-9ECB-83E5-205A-8D3478CB12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892" y="1077685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Big data ">
            <a:extLst>
              <a:ext uri="{FF2B5EF4-FFF2-40B4-BE49-F238E27FC236}">
                <a16:creationId xmlns:a16="http://schemas.microsoft.com/office/drawing/2014/main" id="{5964CE34-CB64-35C9-C969-E176FB527B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8122" y="1219200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2A433283-BC07-5332-CB2F-88DD7EC11920}"/>
              </a:ext>
            </a:extLst>
          </p:cNvPr>
          <p:cNvSpPr txBox="1"/>
          <p:nvPr/>
        </p:nvSpPr>
        <p:spPr>
          <a:xfrm>
            <a:off x="2283553" y="3370589"/>
            <a:ext cx="15658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noProof="0" dirty="0"/>
              <a:t>Läuft lokal auf </a:t>
            </a:r>
          </a:p>
          <a:p>
            <a:r>
              <a:rPr lang="de-AT" noProof="0" dirty="0"/>
              <a:t>deinem Gerät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5359FA0-64AA-2EEF-FF61-651E53B76255}"/>
              </a:ext>
            </a:extLst>
          </p:cNvPr>
          <p:cNvSpPr txBox="1"/>
          <p:nvPr/>
        </p:nvSpPr>
        <p:spPr>
          <a:xfrm>
            <a:off x="7131908" y="4530221"/>
            <a:ext cx="20898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AT" noProof="0" dirty="0"/>
              <a:t>Cloud- oder </a:t>
            </a:r>
          </a:p>
          <a:p>
            <a:pPr algn="ctr"/>
            <a:r>
              <a:rPr lang="de-AT" noProof="0" dirty="0"/>
              <a:t>lokale Bereitstellung</a:t>
            </a:r>
          </a:p>
        </p:txBody>
      </p: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C7500B79-95E6-1E2E-A081-E58DC3655698}"/>
              </a:ext>
            </a:extLst>
          </p:cNvPr>
          <p:cNvCxnSpPr>
            <a:cxnSpLocks/>
          </p:cNvCxnSpPr>
          <p:nvPr/>
        </p:nvCxnSpPr>
        <p:spPr>
          <a:xfrm flipV="1">
            <a:off x="3046905" y="4016920"/>
            <a:ext cx="0" cy="29631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2B4039A7-A472-2A47-8048-C57549F64733}"/>
              </a:ext>
            </a:extLst>
          </p:cNvPr>
          <p:cNvSpPr txBox="1"/>
          <p:nvPr/>
        </p:nvSpPr>
        <p:spPr>
          <a:xfrm>
            <a:off x="2027809" y="4437888"/>
            <a:ext cx="2038192" cy="646331"/>
          </a:xfrm>
          <a:prstGeom prst="rect">
            <a:avLst/>
          </a:prstGeom>
          <a:noFill/>
          <a:ln w="2857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wrap="square">
            <a:spAutoFit/>
          </a:bodyPr>
          <a:lstStyle/>
          <a:p>
            <a:pPr algn="ctr"/>
            <a:r>
              <a:rPr lang="de-AT" noProof="0" dirty="0"/>
              <a:t>„persönliche“ Dokumente und Daten</a:t>
            </a:r>
          </a:p>
        </p:txBody>
      </p:sp>
      <p:cxnSp>
        <p:nvCxnSpPr>
          <p:cNvPr id="2" name="直接箭头连接符 1">
            <a:extLst>
              <a:ext uri="{FF2B5EF4-FFF2-40B4-BE49-F238E27FC236}">
                <a16:creationId xmlns:a16="http://schemas.microsoft.com/office/drawing/2014/main" id="{69ED95AB-A895-B18C-46ED-2D7BC85A51AF}"/>
              </a:ext>
            </a:extLst>
          </p:cNvPr>
          <p:cNvCxnSpPr/>
          <p:nvPr/>
        </p:nvCxnSpPr>
        <p:spPr>
          <a:xfrm>
            <a:off x="1882198" y="2963918"/>
            <a:ext cx="4572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3518EA2E-792D-D2DC-8BA6-DD149741EEB5}"/>
              </a:ext>
            </a:extLst>
          </p:cNvPr>
          <p:cNvCxnSpPr>
            <a:cxnSpLocks/>
          </p:cNvCxnSpPr>
          <p:nvPr/>
        </p:nvCxnSpPr>
        <p:spPr>
          <a:xfrm>
            <a:off x="3837401" y="2963918"/>
            <a:ext cx="373793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" name="Rounded Rectangle 3">
            <a:extLst>
              <a:ext uri="{FF2B5EF4-FFF2-40B4-BE49-F238E27FC236}">
                <a16:creationId xmlns:a16="http://schemas.microsoft.com/office/drawing/2014/main" id="{16C564A9-ECB0-98F1-CE59-2775BFDB5025}"/>
              </a:ext>
            </a:extLst>
          </p:cNvPr>
          <p:cNvSpPr/>
          <p:nvPr/>
        </p:nvSpPr>
        <p:spPr>
          <a:xfrm>
            <a:off x="1951027" y="2302578"/>
            <a:ext cx="1115432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600" noProof="0" dirty="0"/>
              <a:t>Nachricht</a:t>
            </a:r>
          </a:p>
        </p:txBody>
      </p:sp>
      <p:sp>
        <p:nvSpPr>
          <p:cNvPr id="11" name="Rounded Rectangle 3">
            <a:extLst>
              <a:ext uri="{FF2B5EF4-FFF2-40B4-BE49-F238E27FC236}">
                <a16:creationId xmlns:a16="http://schemas.microsoft.com/office/drawing/2014/main" id="{89E10DEF-6D77-0403-2A9D-DEE253B9A826}"/>
              </a:ext>
            </a:extLst>
          </p:cNvPr>
          <p:cNvSpPr/>
          <p:nvPr/>
        </p:nvSpPr>
        <p:spPr>
          <a:xfrm>
            <a:off x="5519827" y="2302578"/>
            <a:ext cx="1115432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600" noProof="0" dirty="0"/>
              <a:t>Nachricht</a:t>
            </a:r>
          </a:p>
        </p:txBody>
      </p:sp>
      <p:sp>
        <p:nvSpPr>
          <p:cNvPr id="12" name="Rounded Rectangle 3">
            <a:extLst>
              <a:ext uri="{FF2B5EF4-FFF2-40B4-BE49-F238E27FC236}">
                <a16:creationId xmlns:a16="http://schemas.microsoft.com/office/drawing/2014/main" id="{B5EE7CA7-5443-4181-8511-5FB23BF17853}"/>
              </a:ext>
            </a:extLst>
          </p:cNvPr>
          <p:cNvSpPr/>
          <p:nvPr/>
        </p:nvSpPr>
        <p:spPr>
          <a:xfrm>
            <a:off x="5519827" y="1568669"/>
            <a:ext cx="1115432" cy="657077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noProof="0" dirty="0"/>
              <a:t>System prompt</a:t>
            </a:r>
          </a:p>
        </p:txBody>
      </p:sp>
    </p:spTree>
    <p:extLst>
      <p:ext uri="{BB962C8B-B14F-4D97-AF65-F5344CB8AC3E}">
        <p14:creationId xmlns:p14="http://schemas.microsoft.com/office/powerpoint/2010/main" val="58015787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65EAB9-E75D-EA1D-54E5-E7A0779AC2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B9383558-64A3-F5D7-4C90-BF06D6DF95FC}"/>
              </a:ext>
            </a:extLst>
          </p:cNvPr>
          <p:cNvSpPr/>
          <p:nvPr/>
        </p:nvSpPr>
        <p:spPr>
          <a:xfrm>
            <a:off x="357308" y="2438400"/>
            <a:ext cx="1447844" cy="2011680"/>
          </a:xfrm>
          <a:prstGeom prst="roundRect">
            <a:avLst/>
          </a:prstGeom>
          <a:noFill/>
          <a:ln w="57150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r>
              <a:rPr lang="de-AT" b="0" noProof="0" dirty="0">
                <a:latin typeface="Calibri"/>
              </a:rPr>
              <a:t>WhatsApp</a:t>
            </a:r>
          </a:p>
          <a:p>
            <a:pPr algn="ctr"/>
            <a:r>
              <a:rPr lang="de-AT" b="0" noProof="0" dirty="0">
                <a:latin typeface="Calibri"/>
              </a:rPr>
              <a:t>Telegram</a:t>
            </a:r>
          </a:p>
          <a:p>
            <a:pPr algn="ctr"/>
            <a:r>
              <a:rPr lang="de-AT" b="0" noProof="0" dirty="0">
                <a:latin typeface="Calibri"/>
              </a:rPr>
              <a:t>Discord</a:t>
            </a:r>
          </a:p>
          <a:p>
            <a:pPr algn="ctr"/>
            <a:r>
              <a:rPr lang="de-AT" noProof="0" dirty="0">
                <a:latin typeface="Calibri"/>
              </a:rPr>
              <a:t>WeChat</a:t>
            </a:r>
          </a:p>
          <a:p>
            <a:pPr algn="ctr"/>
            <a:r>
              <a:rPr lang="de-AT" b="0" noProof="0" dirty="0">
                <a:latin typeface="Calibri"/>
              </a:rPr>
              <a:t>QQ</a:t>
            </a:r>
          </a:p>
          <a:p>
            <a:pPr algn="ctr"/>
            <a:r>
              <a:rPr lang="de-AT" b="0" noProof="0" dirty="0">
                <a:latin typeface="Calibri"/>
              </a:rPr>
              <a:t>Web UI</a:t>
            </a:r>
          </a:p>
          <a:p>
            <a:pPr algn="ctr"/>
            <a:r>
              <a:rPr lang="de-AT" noProof="0" dirty="0">
                <a:latin typeface="Calibri"/>
              </a:rPr>
              <a:t>…</a:t>
            </a:r>
            <a:endParaRPr lang="de-AT" b="0" noProof="0" dirty="0">
              <a:latin typeface="Calibri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3CDAE2D3-3881-C74B-F97C-DA77646D7BED}"/>
              </a:ext>
            </a:extLst>
          </p:cNvPr>
          <p:cNvSpPr/>
          <p:nvPr/>
        </p:nvSpPr>
        <p:spPr>
          <a:xfrm>
            <a:off x="2422154" y="2815459"/>
            <a:ext cx="1288612" cy="544698"/>
          </a:xfrm>
          <a:prstGeom prst="roundRect">
            <a:avLst/>
          </a:prstGeom>
          <a:noFill/>
          <a:ln w="57150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r>
              <a:rPr lang="de-AT" noProof="0" dirty="0"/>
              <a:t>OpenClaw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180B309D-5EF9-399B-919F-79FBBD46F87C}"/>
              </a:ext>
            </a:extLst>
          </p:cNvPr>
          <p:cNvSpPr/>
          <p:nvPr/>
        </p:nvSpPr>
        <p:spPr>
          <a:xfrm>
            <a:off x="7748752" y="2438400"/>
            <a:ext cx="1037940" cy="2011680"/>
          </a:xfrm>
          <a:prstGeom prst="roundRect">
            <a:avLst/>
          </a:prstGeom>
          <a:noFill/>
          <a:ln w="57150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r>
              <a:rPr lang="de-AT" b="0" noProof="0" dirty="0">
                <a:latin typeface="Calibri"/>
              </a:rPr>
              <a:t>Claude</a:t>
            </a:r>
          </a:p>
          <a:p>
            <a:pPr algn="ctr"/>
            <a:r>
              <a:rPr lang="de-AT" b="0" noProof="0" dirty="0">
                <a:latin typeface="Calibri"/>
              </a:rPr>
              <a:t>GPT</a:t>
            </a:r>
          </a:p>
          <a:p>
            <a:pPr algn="ctr"/>
            <a:r>
              <a:rPr lang="de-AT" b="0" noProof="0" dirty="0">
                <a:latin typeface="Calibri"/>
              </a:rPr>
              <a:t>Gemini</a:t>
            </a:r>
          </a:p>
          <a:p>
            <a:pPr algn="ctr"/>
            <a:r>
              <a:rPr lang="de-AT" noProof="0" dirty="0">
                <a:latin typeface="Calibri"/>
              </a:rPr>
              <a:t>…</a:t>
            </a:r>
            <a:endParaRPr lang="de-AT" b="0" noProof="0" dirty="0">
              <a:latin typeface="Calibri"/>
            </a:endParaRPr>
          </a:p>
        </p:txBody>
      </p:sp>
      <p:pic>
        <p:nvPicPr>
          <p:cNvPr id="1026" name="Picture 2" descr="Man ">
            <a:extLst>
              <a:ext uri="{FF2B5EF4-FFF2-40B4-BE49-F238E27FC236}">
                <a16:creationId xmlns:a16="http://schemas.microsoft.com/office/drawing/2014/main" id="{F3DC487D-AD06-DDD9-0606-99AF13043B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892" y="1077685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Big data ">
            <a:extLst>
              <a:ext uri="{FF2B5EF4-FFF2-40B4-BE49-F238E27FC236}">
                <a16:creationId xmlns:a16="http://schemas.microsoft.com/office/drawing/2014/main" id="{59EEDABB-DDFF-EBBA-FA83-A9417CB498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8122" y="1219200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31A6B50D-4565-85EB-4F60-D213EF2C890E}"/>
              </a:ext>
            </a:extLst>
          </p:cNvPr>
          <p:cNvSpPr txBox="1"/>
          <p:nvPr/>
        </p:nvSpPr>
        <p:spPr>
          <a:xfrm>
            <a:off x="2283553" y="3370589"/>
            <a:ext cx="15658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noProof="0" dirty="0"/>
              <a:t>Läuft lokal auf </a:t>
            </a:r>
          </a:p>
          <a:p>
            <a:r>
              <a:rPr lang="de-AT" noProof="0" dirty="0"/>
              <a:t>deinem Gerät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3852686-3F51-4CA0-69B0-6C952CFE9291}"/>
              </a:ext>
            </a:extLst>
          </p:cNvPr>
          <p:cNvSpPr txBox="1"/>
          <p:nvPr/>
        </p:nvSpPr>
        <p:spPr>
          <a:xfrm>
            <a:off x="7131908" y="4530221"/>
            <a:ext cx="20898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AT" noProof="0" dirty="0"/>
              <a:t>Cloud- oder </a:t>
            </a:r>
          </a:p>
          <a:p>
            <a:pPr algn="ctr"/>
            <a:r>
              <a:rPr lang="de-AT" noProof="0" dirty="0"/>
              <a:t>lokale Bereitstellung</a:t>
            </a:r>
          </a:p>
        </p:txBody>
      </p: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F1DE28CA-CEE8-1CD5-0DF6-C7A1E535658A}"/>
              </a:ext>
            </a:extLst>
          </p:cNvPr>
          <p:cNvCxnSpPr>
            <a:cxnSpLocks/>
          </p:cNvCxnSpPr>
          <p:nvPr/>
        </p:nvCxnSpPr>
        <p:spPr>
          <a:xfrm flipV="1">
            <a:off x="3046905" y="4016920"/>
            <a:ext cx="0" cy="29631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422445BC-4CCE-47A9-FCCC-9A04937FFA31}"/>
              </a:ext>
            </a:extLst>
          </p:cNvPr>
          <p:cNvSpPr txBox="1"/>
          <p:nvPr/>
        </p:nvSpPr>
        <p:spPr>
          <a:xfrm>
            <a:off x="2027809" y="4437888"/>
            <a:ext cx="2038192" cy="646331"/>
          </a:xfrm>
          <a:prstGeom prst="rect">
            <a:avLst/>
          </a:prstGeom>
          <a:noFill/>
          <a:ln w="2857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wrap="square">
            <a:spAutoFit/>
          </a:bodyPr>
          <a:lstStyle/>
          <a:p>
            <a:pPr algn="ctr"/>
            <a:r>
              <a:rPr lang="de-AT" noProof="0" dirty="0"/>
              <a:t>„persönliche“ Dokumente und Daten</a:t>
            </a:r>
          </a:p>
        </p:txBody>
      </p:sp>
      <p:cxnSp>
        <p:nvCxnSpPr>
          <p:cNvPr id="2" name="直接箭头连接符 1">
            <a:extLst>
              <a:ext uri="{FF2B5EF4-FFF2-40B4-BE49-F238E27FC236}">
                <a16:creationId xmlns:a16="http://schemas.microsoft.com/office/drawing/2014/main" id="{905C23EF-5E12-EBFD-559F-89A7544F9710}"/>
              </a:ext>
            </a:extLst>
          </p:cNvPr>
          <p:cNvCxnSpPr/>
          <p:nvPr/>
        </p:nvCxnSpPr>
        <p:spPr>
          <a:xfrm>
            <a:off x="1882198" y="2963918"/>
            <a:ext cx="4572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F5AB9F2A-9CD9-0D61-6950-B87302A0467A}"/>
              </a:ext>
            </a:extLst>
          </p:cNvPr>
          <p:cNvCxnSpPr>
            <a:cxnSpLocks/>
          </p:cNvCxnSpPr>
          <p:nvPr/>
        </p:nvCxnSpPr>
        <p:spPr>
          <a:xfrm>
            <a:off x="3837401" y="2963918"/>
            <a:ext cx="373793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" name="Rounded Rectangle 3">
            <a:extLst>
              <a:ext uri="{FF2B5EF4-FFF2-40B4-BE49-F238E27FC236}">
                <a16:creationId xmlns:a16="http://schemas.microsoft.com/office/drawing/2014/main" id="{361E7462-3D2B-7C4C-1763-43F2F9AD9914}"/>
              </a:ext>
            </a:extLst>
          </p:cNvPr>
          <p:cNvSpPr/>
          <p:nvPr/>
        </p:nvSpPr>
        <p:spPr>
          <a:xfrm>
            <a:off x="1951027" y="2302578"/>
            <a:ext cx="1115432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600" noProof="0" dirty="0"/>
              <a:t>Nachricht</a:t>
            </a:r>
          </a:p>
        </p:txBody>
      </p:sp>
      <p:sp>
        <p:nvSpPr>
          <p:cNvPr id="11" name="Rounded Rectangle 3">
            <a:extLst>
              <a:ext uri="{FF2B5EF4-FFF2-40B4-BE49-F238E27FC236}">
                <a16:creationId xmlns:a16="http://schemas.microsoft.com/office/drawing/2014/main" id="{9B70B309-129C-6894-0F35-858F3EB9A020}"/>
              </a:ext>
            </a:extLst>
          </p:cNvPr>
          <p:cNvSpPr/>
          <p:nvPr/>
        </p:nvSpPr>
        <p:spPr>
          <a:xfrm>
            <a:off x="5519827" y="2302578"/>
            <a:ext cx="1115432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600" noProof="0" dirty="0"/>
              <a:t>Nachricht</a:t>
            </a:r>
          </a:p>
        </p:txBody>
      </p:sp>
      <p:sp>
        <p:nvSpPr>
          <p:cNvPr id="12" name="Rounded Rectangle 3">
            <a:extLst>
              <a:ext uri="{FF2B5EF4-FFF2-40B4-BE49-F238E27FC236}">
                <a16:creationId xmlns:a16="http://schemas.microsoft.com/office/drawing/2014/main" id="{A7F2570F-D108-5142-39A9-328B2D5CABC2}"/>
              </a:ext>
            </a:extLst>
          </p:cNvPr>
          <p:cNvSpPr/>
          <p:nvPr/>
        </p:nvSpPr>
        <p:spPr>
          <a:xfrm>
            <a:off x="5519827" y="1568669"/>
            <a:ext cx="1115432" cy="657077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noProof="0" dirty="0"/>
              <a:t>System prompt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EC4DEE6-88A5-E504-889F-BFCEEFD2E1DE}"/>
              </a:ext>
            </a:extLst>
          </p:cNvPr>
          <p:cNvSpPr txBox="1"/>
          <p:nvPr/>
        </p:nvSpPr>
        <p:spPr>
          <a:xfrm>
            <a:off x="4002547" y="31732"/>
            <a:ext cx="4033948" cy="1384995"/>
          </a:xfrm>
          <a:prstGeom prst="rect">
            <a:avLst/>
          </a:prstGeom>
          <a:noFill/>
          <a:ln w="2857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AT" sz="1200" noProof="0" dirty="0">
                <a:solidFill>
                  <a:schemeClr val="accent6">
                    <a:lumMod val="75000"/>
                  </a:schemeClr>
                </a:solidFill>
                <a:latin typeface="Calibri"/>
              </a:rPr>
              <a:t>Identitätsbezogene Informationen (SOUL.md, IDENTITY.md, USER.md, MEMORY.md)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AT" sz="1200" noProof="0" dirty="0">
                <a:solidFill>
                  <a:schemeClr val="accent6">
                    <a:lumMod val="75000"/>
                  </a:schemeClr>
                </a:solidFill>
                <a:latin typeface="Calibri"/>
              </a:rPr>
              <a:t>Verfügbare Werkzeuge und deren Nutzung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AT" sz="1200" noProof="0" dirty="0">
                <a:solidFill>
                  <a:schemeClr val="accent6">
                    <a:lumMod val="75000"/>
                  </a:schemeClr>
                </a:solidFill>
                <a:latin typeface="Calibri"/>
              </a:rPr>
              <a:t>Verhalten des Modells (AGENTS.md)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AT" sz="1200" noProof="0" dirty="0">
                <a:solidFill>
                  <a:schemeClr val="accent6">
                    <a:lumMod val="75000"/>
                  </a:schemeClr>
                </a:solidFill>
                <a:latin typeface="Calibri"/>
              </a:rPr>
              <a:t>Verfügbare SKILLs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AT" sz="1200" noProof="0" dirty="0">
                <a:solidFill>
                  <a:schemeClr val="accent6">
                    <a:lumMod val="75000"/>
                  </a:schemeClr>
                </a:solidFill>
                <a:latin typeface="Calibri"/>
              </a:rPr>
              <a:t>Wo frühere Erinnerungen zu finden sind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AT" sz="1200" noProof="0" dirty="0">
                <a:solidFill>
                  <a:schemeClr val="accent6">
                    <a:lumMod val="75000"/>
                  </a:schemeClr>
                </a:solidFill>
                <a:latin typeface="Calibri"/>
              </a:rPr>
              <a:t>…</a:t>
            </a:r>
          </a:p>
        </p:txBody>
      </p:sp>
      <p:sp>
        <p:nvSpPr>
          <p:cNvPr id="13" name="右大括号 12">
            <a:extLst>
              <a:ext uri="{FF2B5EF4-FFF2-40B4-BE49-F238E27FC236}">
                <a16:creationId xmlns:a16="http://schemas.microsoft.com/office/drawing/2014/main" id="{29E58E29-4423-E67E-73C0-F42627839E90}"/>
              </a:ext>
            </a:extLst>
          </p:cNvPr>
          <p:cNvSpPr/>
          <p:nvPr/>
        </p:nvSpPr>
        <p:spPr>
          <a:xfrm rot="5400000">
            <a:off x="6018186" y="812754"/>
            <a:ext cx="118713" cy="1294634"/>
          </a:xfrm>
          <a:prstGeom prst="rightBrac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AT" noProof="0" dirty="0"/>
          </a:p>
        </p:txBody>
      </p:sp>
    </p:spTree>
    <p:extLst>
      <p:ext uri="{BB962C8B-B14F-4D97-AF65-F5344CB8AC3E}">
        <p14:creationId xmlns:p14="http://schemas.microsoft.com/office/powerpoint/2010/main" val="197116669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BFB7E5-E679-403C-805D-5ADC7A42E7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129A57F6-A693-1F5B-4726-EED44A5850D6}"/>
              </a:ext>
            </a:extLst>
          </p:cNvPr>
          <p:cNvSpPr/>
          <p:nvPr/>
        </p:nvSpPr>
        <p:spPr>
          <a:xfrm>
            <a:off x="357308" y="2438400"/>
            <a:ext cx="1447844" cy="2011680"/>
          </a:xfrm>
          <a:prstGeom prst="roundRect">
            <a:avLst/>
          </a:prstGeom>
          <a:noFill/>
          <a:ln w="57150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r>
              <a:rPr lang="de-AT" b="0" noProof="0" dirty="0">
                <a:latin typeface="Calibri"/>
              </a:rPr>
              <a:t>WhatsApp</a:t>
            </a:r>
          </a:p>
          <a:p>
            <a:pPr algn="ctr"/>
            <a:r>
              <a:rPr lang="de-AT" b="0" noProof="0" dirty="0">
                <a:latin typeface="Calibri"/>
              </a:rPr>
              <a:t>Telegram</a:t>
            </a:r>
          </a:p>
          <a:p>
            <a:pPr algn="ctr"/>
            <a:r>
              <a:rPr lang="de-AT" b="0" noProof="0" dirty="0">
                <a:latin typeface="Calibri"/>
              </a:rPr>
              <a:t>Discord</a:t>
            </a:r>
          </a:p>
          <a:p>
            <a:pPr algn="ctr"/>
            <a:r>
              <a:rPr lang="de-AT" noProof="0" dirty="0">
                <a:latin typeface="Calibri"/>
              </a:rPr>
              <a:t>WeChat</a:t>
            </a:r>
          </a:p>
          <a:p>
            <a:pPr algn="ctr"/>
            <a:r>
              <a:rPr lang="de-AT" b="0" noProof="0" dirty="0">
                <a:latin typeface="Calibri"/>
              </a:rPr>
              <a:t>QQ</a:t>
            </a:r>
          </a:p>
          <a:p>
            <a:pPr algn="ctr"/>
            <a:r>
              <a:rPr lang="de-AT" b="0" noProof="0" dirty="0">
                <a:latin typeface="Calibri"/>
              </a:rPr>
              <a:t>Web UI</a:t>
            </a:r>
          </a:p>
          <a:p>
            <a:pPr algn="ctr"/>
            <a:r>
              <a:rPr lang="de-AT" noProof="0" dirty="0">
                <a:latin typeface="Calibri"/>
              </a:rPr>
              <a:t>…</a:t>
            </a:r>
            <a:endParaRPr lang="de-AT" b="0" noProof="0" dirty="0">
              <a:latin typeface="Calibri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8340BE9-24AD-679D-F78A-2789F03F3FA8}"/>
              </a:ext>
            </a:extLst>
          </p:cNvPr>
          <p:cNvSpPr/>
          <p:nvPr/>
        </p:nvSpPr>
        <p:spPr>
          <a:xfrm>
            <a:off x="2422154" y="2815459"/>
            <a:ext cx="1288612" cy="544698"/>
          </a:xfrm>
          <a:prstGeom prst="roundRect">
            <a:avLst/>
          </a:prstGeom>
          <a:noFill/>
          <a:ln w="57150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r>
              <a:rPr lang="de-AT" noProof="0" dirty="0"/>
              <a:t>OpenClaw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97B901C8-7F9E-E143-553A-848AB68EDEA5}"/>
              </a:ext>
            </a:extLst>
          </p:cNvPr>
          <p:cNvSpPr/>
          <p:nvPr/>
        </p:nvSpPr>
        <p:spPr>
          <a:xfrm>
            <a:off x="7748752" y="2438400"/>
            <a:ext cx="1037940" cy="2011680"/>
          </a:xfrm>
          <a:prstGeom prst="roundRect">
            <a:avLst/>
          </a:prstGeom>
          <a:noFill/>
          <a:ln w="57150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r>
              <a:rPr lang="de-AT" b="0" noProof="0" dirty="0">
                <a:latin typeface="Calibri"/>
              </a:rPr>
              <a:t>Claude</a:t>
            </a:r>
          </a:p>
          <a:p>
            <a:pPr algn="ctr"/>
            <a:r>
              <a:rPr lang="de-AT" b="0" noProof="0" dirty="0">
                <a:latin typeface="Calibri"/>
              </a:rPr>
              <a:t>GPT</a:t>
            </a:r>
          </a:p>
          <a:p>
            <a:pPr algn="ctr"/>
            <a:r>
              <a:rPr lang="de-AT" b="0" noProof="0" dirty="0">
                <a:latin typeface="Calibri"/>
              </a:rPr>
              <a:t>Gemini</a:t>
            </a:r>
          </a:p>
          <a:p>
            <a:pPr algn="ctr"/>
            <a:r>
              <a:rPr lang="de-AT" noProof="0" dirty="0">
                <a:latin typeface="Calibri"/>
              </a:rPr>
              <a:t>…</a:t>
            </a:r>
            <a:endParaRPr lang="de-AT" b="0" noProof="0" dirty="0">
              <a:latin typeface="Calibri"/>
            </a:endParaRPr>
          </a:p>
        </p:txBody>
      </p:sp>
      <p:pic>
        <p:nvPicPr>
          <p:cNvPr id="1026" name="Picture 2" descr="Man ">
            <a:extLst>
              <a:ext uri="{FF2B5EF4-FFF2-40B4-BE49-F238E27FC236}">
                <a16:creationId xmlns:a16="http://schemas.microsoft.com/office/drawing/2014/main" id="{9E4A5898-1E3D-1448-3954-3A8CB11622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892" y="1077685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Big data ">
            <a:extLst>
              <a:ext uri="{FF2B5EF4-FFF2-40B4-BE49-F238E27FC236}">
                <a16:creationId xmlns:a16="http://schemas.microsoft.com/office/drawing/2014/main" id="{7BAB3587-C2AE-4CB7-8049-DBCF10391A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8122" y="1219200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8D61CCEB-9A20-AA79-FEAA-EE79076E732F}"/>
              </a:ext>
            </a:extLst>
          </p:cNvPr>
          <p:cNvCxnSpPr>
            <a:cxnSpLocks/>
          </p:cNvCxnSpPr>
          <p:nvPr/>
        </p:nvCxnSpPr>
        <p:spPr>
          <a:xfrm flipV="1">
            <a:off x="3046905" y="4016920"/>
            <a:ext cx="0" cy="29631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" name="直接箭头连接符 1">
            <a:extLst>
              <a:ext uri="{FF2B5EF4-FFF2-40B4-BE49-F238E27FC236}">
                <a16:creationId xmlns:a16="http://schemas.microsoft.com/office/drawing/2014/main" id="{0D58F28F-3B50-378B-D94E-117A82F7FC38}"/>
              </a:ext>
            </a:extLst>
          </p:cNvPr>
          <p:cNvCxnSpPr/>
          <p:nvPr/>
        </p:nvCxnSpPr>
        <p:spPr>
          <a:xfrm>
            <a:off x="1882198" y="2963918"/>
            <a:ext cx="4572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610809B3-8DBF-97B9-82E5-9A8E747B1896}"/>
              </a:ext>
            </a:extLst>
          </p:cNvPr>
          <p:cNvCxnSpPr>
            <a:cxnSpLocks/>
          </p:cNvCxnSpPr>
          <p:nvPr/>
        </p:nvCxnSpPr>
        <p:spPr>
          <a:xfrm>
            <a:off x="3837401" y="2963918"/>
            <a:ext cx="373793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2" name="Rounded Rectangle 3">
            <a:extLst>
              <a:ext uri="{FF2B5EF4-FFF2-40B4-BE49-F238E27FC236}">
                <a16:creationId xmlns:a16="http://schemas.microsoft.com/office/drawing/2014/main" id="{A5C852E3-7718-701B-6F5B-20DBEB031CE7}"/>
              </a:ext>
            </a:extLst>
          </p:cNvPr>
          <p:cNvSpPr/>
          <p:nvPr/>
        </p:nvSpPr>
        <p:spPr>
          <a:xfrm>
            <a:off x="5519827" y="1568669"/>
            <a:ext cx="1115432" cy="657077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noProof="0" dirty="0"/>
              <a:t>System prompt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E3A8E6F-44B2-D966-8F92-F10043CB0E5D}"/>
              </a:ext>
            </a:extLst>
          </p:cNvPr>
          <p:cNvSpPr txBox="1"/>
          <p:nvPr/>
        </p:nvSpPr>
        <p:spPr>
          <a:xfrm>
            <a:off x="4002547" y="31732"/>
            <a:ext cx="4033948" cy="1384995"/>
          </a:xfrm>
          <a:prstGeom prst="rect">
            <a:avLst/>
          </a:prstGeom>
          <a:noFill/>
          <a:ln w="2857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AT" sz="1200" noProof="0" dirty="0">
                <a:solidFill>
                  <a:schemeClr val="accent6">
                    <a:lumMod val="75000"/>
                  </a:schemeClr>
                </a:solidFill>
              </a:rPr>
              <a:t>Identitätsbezogene Informationen (SOUL.md, IDENTITY.md, USER.md, MEMORY.md)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AT" sz="1200" noProof="0" dirty="0">
                <a:solidFill>
                  <a:schemeClr val="accent6">
                    <a:lumMod val="75000"/>
                  </a:schemeClr>
                </a:solidFill>
              </a:rPr>
              <a:t>Verfügbare Werkzeuge und deren Nutzung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AT" sz="1200" noProof="0" dirty="0">
                <a:solidFill>
                  <a:schemeClr val="accent6">
                    <a:lumMod val="75000"/>
                  </a:schemeClr>
                </a:solidFill>
              </a:rPr>
              <a:t>Verhalten des Modells (AGENTS.md)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AT" sz="1200" noProof="0" dirty="0">
                <a:solidFill>
                  <a:schemeClr val="accent6">
                    <a:lumMod val="75000"/>
                  </a:schemeClr>
                </a:solidFill>
              </a:rPr>
              <a:t>Verfügbare SKILLs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AT" sz="1200" noProof="0" dirty="0">
                <a:solidFill>
                  <a:schemeClr val="accent6">
                    <a:lumMod val="75000"/>
                  </a:schemeClr>
                </a:solidFill>
              </a:rPr>
              <a:t>Wo frühere Erinnerungen zu finden sind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AT" sz="1200" noProof="0" dirty="0">
                <a:solidFill>
                  <a:schemeClr val="accent6">
                    <a:lumMod val="75000"/>
                  </a:schemeClr>
                </a:solidFill>
              </a:rPr>
              <a:t>…</a:t>
            </a:r>
          </a:p>
        </p:txBody>
      </p:sp>
      <p:sp>
        <p:nvSpPr>
          <p:cNvPr id="13" name="右大括号 12">
            <a:extLst>
              <a:ext uri="{FF2B5EF4-FFF2-40B4-BE49-F238E27FC236}">
                <a16:creationId xmlns:a16="http://schemas.microsoft.com/office/drawing/2014/main" id="{2AA7F117-84D0-C945-0253-4F0AE38BED29}"/>
              </a:ext>
            </a:extLst>
          </p:cNvPr>
          <p:cNvSpPr/>
          <p:nvPr/>
        </p:nvSpPr>
        <p:spPr>
          <a:xfrm rot="5400000">
            <a:off x="6018186" y="812754"/>
            <a:ext cx="118713" cy="1294634"/>
          </a:xfrm>
          <a:prstGeom prst="rightBrac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AT" noProof="0" dirty="0"/>
          </a:p>
        </p:txBody>
      </p:sp>
      <p:sp>
        <p:nvSpPr>
          <p:cNvPr id="17" name="对话气泡: 圆角矩形 16">
            <a:extLst>
              <a:ext uri="{FF2B5EF4-FFF2-40B4-BE49-F238E27FC236}">
                <a16:creationId xmlns:a16="http://schemas.microsoft.com/office/drawing/2014/main" id="{4EFD6E3E-1619-3BD6-E924-3C1C68D662F6}"/>
              </a:ext>
            </a:extLst>
          </p:cNvPr>
          <p:cNvSpPr/>
          <p:nvPr/>
        </p:nvSpPr>
        <p:spPr>
          <a:xfrm>
            <a:off x="3127770" y="1505389"/>
            <a:ext cx="2108528" cy="923315"/>
          </a:xfrm>
          <a:prstGeom prst="wedgeRoundRectCallout">
            <a:avLst>
              <a:gd name="adj1" fmla="val 61257"/>
              <a:gd name="adj2" fmla="val -2385"/>
              <a:gd name="adj3" fmla="val 16667"/>
            </a:avLst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400" noProof="0" dirty="0"/>
              <a:t>Der System Prompt wird bei jedem Modellaufruf mitgesendet.</a:t>
            </a:r>
          </a:p>
        </p:txBody>
      </p:sp>
      <p:sp>
        <p:nvSpPr>
          <p:cNvPr id="18" name="Rounded Rectangle 3">
            <a:extLst>
              <a:ext uri="{FF2B5EF4-FFF2-40B4-BE49-F238E27FC236}">
                <a16:creationId xmlns:a16="http://schemas.microsoft.com/office/drawing/2014/main" id="{98B847D2-4D49-EF8F-E88D-F883F04F9FCA}"/>
              </a:ext>
            </a:extLst>
          </p:cNvPr>
          <p:cNvSpPr/>
          <p:nvPr/>
        </p:nvSpPr>
        <p:spPr>
          <a:xfrm>
            <a:off x="1951027" y="2302578"/>
            <a:ext cx="1115432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600" noProof="0" dirty="0"/>
              <a:t>Nachricht</a:t>
            </a:r>
          </a:p>
        </p:txBody>
      </p:sp>
      <p:sp>
        <p:nvSpPr>
          <p:cNvPr id="19" name="Rounded Rectangle 3">
            <a:extLst>
              <a:ext uri="{FF2B5EF4-FFF2-40B4-BE49-F238E27FC236}">
                <a16:creationId xmlns:a16="http://schemas.microsoft.com/office/drawing/2014/main" id="{96E515FC-8E01-2E2B-7174-252BDCA7D1B2}"/>
              </a:ext>
            </a:extLst>
          </p:cNvPr>
          <p:cNvSpPr/>
          <p:nvPr/>
        </p:nvSpPr>
        <p:spPr>
          <a:xfrm>
            <a:off x="5519827" y="2302578"/>
            <a:ext cx="1115432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600" noProof="0" dirty="0"/>
              <a:t>Nachricht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045FB56-2CEF-0681-4EA5-4BCF41546BC7}"/>
              </a:ext>
            </a:extLst>
          </p:cNvPr>
          <p:cNvSpPr txBox="1"/>
          <p:nvPr/>
        </p:nvSpPr>
        <p:spPr>
          <a:xfrm>
            <a:off x="2283553" y="3370589"/>
            <a:ext cx="15658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noProof="0" dirty="0"/>
              <a:t>Läuft lokal auf </a:t>
            </a:r>
          </a:p>
          <a:p>
            <a:r>
              <a:rPr lang="de-AT" noProof="0" dirty="0"/>
              <a:t>deinem Gerät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D22399FA-7F46-A553-A124-28C9F1C77383}"/>
              </a:ext>
            </a:extLst>
          </p:cNvPr>
          <p:cNvSpPr txBox="1"/>
          <p:nvPr/>
        </p:nvSpPr>
        <p:spPr>
          <a:xfrm>
            <a:off x="7131908" y="4530221"/>
            <a:ext cx="20898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AT" noProof="0" dirty="0"/>
              <a:t>Cloud- oder </a:t>
            </a:r>
          </a:p>
          <a:p>
            <a:pPr algn="ctr"/>
            <a:r>
              <a:rPr lang="de-AT" noProof="0" dirty="0"/>
              <a:t>lokale Bereitstellung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3E84DB8C-6709-6B68-C5E3-9F242C9218E5}"/>
              </a:ext>
            </a:extLst>
          </p:cNvPr>
          <p:cNvSpPr txBox="1"/>
          <p:nvPr/>
        </p:nvSpPr>
        <p:spPr>
          <a:xfrm>
            <a:off x="2027809" y="4437888"/>
            <a:ext cx="2038192" cy="646331"/>
          </a:xfrm>
          <a:prstGeom prst="rect">
            <a:avLst/>
          </a:prstGeom>
          <a:noFill/>
          <a:ln w="2857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wrap="square">
            <a:spAutoFit/>
          </a:bodyPr>
          <a:lstStyle/>
          <a:p>
            <a:pPr algn="ctr"/>
            <a:r>
              <a:rPr lang="de-AT" noProof="0" dirty="0"/>
              <a:t>„persönliche“ Dokumente und Daten</a:t>
            </a:r>
          </a:p>
        </p:txBody>
      </p:sp>
    </p:spTree>
    <p:extLst>
      <p:ext uri="{BB962C8B-B14F-4D97-AF65-F5344CB8AC3E}">
        <p14:creationId xmlns:p14="http://schemas.microsoft.com/office/powerpoint/2010/main" val="369094334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448274-4E6B-5E93-6815-EC777A2818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A1BD2987-7235-D7F2-1B88-5DBD02F15936}"/>
              </a:ext>
            </a:extLst>
          </p:cNvPr>
          <p:cNvSpPr/>
          <p:nvPr/>
        </p:nvSpPr>
        <p:spPr>
          <a:xfrm>
            <a:off x="357308" y="2438400"/>
            <a:ext cx="1447844" cy="2011680"/>
          </a:xfrm>
          <a:prstGeom prst="roundRect">
            <a:avLst/>
          </a:prstGeom>
          <a:noFill/>
          <a:ln w="57150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r>
              <a:rPr lang="de-AT" b="0" noProof="0" dirty="0">
                <a:latin typeface="Calibri"/>
              </a:rPr>
              <a:t>WhatsApp</a:t>
            </a:r>
          </a:p>
          <a:p>
            <a:pPr algn="ctr"/>
            <a:r>
              <a:rPr lang="de-AT" b="0" noProof="0" dirty="0">
                <a:latin typeface="Calibri"/>
              </a:rPr>
              <a:t>Telegram</a:t>
            </a:r>
          </a:p>
          <a:p>
            <a:pPr algn="ctr"/>
            <a:r>
              <a:rPr lang="de-AT" b="0" noProof="0" dirty="0">
                <a:latin typeface="Calibri"/>
              </a:rPr>
              <a:t>Discord</a:t>
            </a:r>
          </a:p>
          <a:p>
            <a:pPr algn="ctr"/>
            <a:r>
              <a:rPr lang="de-AT" noProof="0" dirty="0">
                <a:latin typeface="Calibri"/>
              </a:rPr>
              <a:t>WeChat</a:t>
            </a:r>
          </a:p>
          <a:p>
            <a:pPr algn="ctr"/>
            <a:r>
              <a:rPr lang="de-AT" b="0" noProof="0" dirty="0">
                <a:latin typeface="Calibri"/>
              </a:rPr>
              <a:t>QQ</a:t>
            </a:r>
          </a:p>
          <a:p>
            <a:pPr algn="ctr"/>
            <a:r>
              <a:rPr lang="de-AT" b="0" noProof="0" dirty="0">
                <a:latin typeface="Calibri"/>
              </a:rPr>
              <a:t>Web UI</a:t>
            </a:r>
          </a:p>
          <a:p>
            <a:pPr algn="ctr"/>
            <a:r>
              <a:rPr lang="de-AT" noProof="0" dirty="0">
                <a:latin typeface="Calibri"/>
              </a:rPr>
              <a:t>…</a:t>
            </a:r>
            <a:endParaRPr lang="de-AT" b="0" noProof="0" dirty="0">
              <a:latin typeface="Calibri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FBBD7DE-D102-6FBB-B0B4-E1A6688A37F4}"/>
              </a:ext>
            </a:extLst>
          </p:cNvPr>
          <p:cNvSpPr/>
          <p:nvPr/>
        </p:nvSpPr>
        <p:spPr>
          <a:xfrm>
            <a:off x="2422154" y="2815459"/>
            <a:ext cx="1288612" cy="544698"/>
          </a:xfrm>
          <a:prstGeom prst="roundRect">
            <a:avLst/>
          </a:prstGeom>
          <a:noFill/>
          <a:ln w="57150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r>
              <a:rPr lang="de-AT" noProof="0" dirty="0"/>
              <a:t>OpenClaw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B0FBF373-A964-2F69-49C5-D08E0873F7C0}"/>
              </a:ext>
            </a:extLst>
          </p:cNvPr>
          <p:cNvSpPr/>
          <p:nvPr/>
        </p:nvSpPr>
        <p:spPr>
          <a:xfrm>
            <a:off x="7748752" y="2438400"/>
            <a:ext cx="1037940" cy="2011680"/>
          </a:xfrm>
          <a:prstGeom prst="roundRect">
            <a:avLst/>
          </a:prstGeom>
          <a:noFill/>
          <a:ln w="57150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r>
              <a:rPr lang="de-AT" b="0" noProof="0" dirty="0">
                <a:latin typeface="Calibri"/>
              </a:rPr>
              <a:t>Claude</a:t>
            </a:r>
          </a:p>
          <a:p>
            <a:pPr algn="ctr"/>
            <a:r>
              <a:rPr lang="de-AT" b="0" noProof="0" dirty="0">
                <a:latin typeface="Calibri"/>
              </a:rPr>
              <a:t>GPT</a:t>
            </a:r>
          </a:p>
          <a:p>
            <a:pPr algn="ctr"/>
            <a:r>
              <a:rPr lang="de-AT" b="0" noProof="0" dirty="0">
                <a:latin typeface="Calibri"/>
              </a:rPr>
              <a:t>Gemini</a:t>
            </a:r>
          </a:p>
          <a:p>
            <a:pPr algn="ctr"/>
            <a:r>
              <a:rPr lang="de-AT" noProof="0" dirty="0">
                <a:latin typeface="Calibri"/>
              </a:rPr>
              <a:t>…</a:t>
            </a:r>
            <a:endParaRPr lang="de-AT" b="0" noProof="0" dirty="0">
              <a:latin typeface="Calibri"/>
            </a:endParaRPr>
          </a:p>
        </p:txBody>
      </p:sp>
      <p:pic>
        <p:nvPicPr>
          <p:cNvPr id="1026" name="Picture 2" descr="Man ">
            <a:extLst>
              <a:ext uri="{FF2B5EF4-FFF2-40B4-BE49-F238E27FC236}">
                <a16:creationId xmlns:a16="http://schemas.microsoft.com/office/drawing/2014/main" id="{EE3EBC71-582A-BA57-082E-3F0B76C84C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892" y="1077685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Big data ">
            <a:extLst>
              <a:ext uri="{FF2B5EF4-FFF2-40B4-BE49-F238E27FC236}">
                <a16:creationId xmlns:a16="http://schemas.microsoft.com/office/drawing/2014/main" id="{C04D8514-8836-CF32-9B9D-430DC4F2D6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8122" y="1219200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" name="直接箭头连接符 1">
            <a:extLst>
              <a:ext uri="{FF2B5EF4-FFF2-40B4-BE49-F238E27FC236}">
                <a16:creationId xmlns:a16="http://schemas.microsoft.com/office/drawing/2014/main" id="{CE2AE9DD-24C3-199B-F37B-874F0341812E}"/>
              </a:ext>
            </a:extLst>
          </p:cNvPr>
          <p:cNvCxnSpPr/>
          <p:nvPr/>
        </p:nvCxnSpPr>
        <p:spPr>
          <a:xfrm>
            <a:off x="1882198" y="2963918"/>
            <a:ext cx="4572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2D7EA714-9F00-9428-9178-77CD7F3BB3A7}"/>
              </a:ext>
            </a:extLst>
          </p:cNvPr>
          <p:cNvCxnSpPr>
            <a:cxnSpLocks/>
          </p:cNvCxnSpPr>
          <p:nvPr/>
        </p:nvCxnSpPr>
        <p:spPr>
          <a:xfrm>
            <a:off x="3837401" y="2963918"/>
            <a:ext cx="373793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2" name="Rounded Rectangle 3">
            <a:extLst>
              <a:ext uri="{FF2B5EF4-FFF2-40B4-BE49-F238E27FC236}">
                <a16:creationId xmlns:a16="http://schemas.microsoft.com/office/drawing/2014/main" id="{6F049836-1C1D-ECEC-9A96-5453417B75BC}"/>
              </a:ext>
            </a:extLst>
          </p:cNvPr>
          <p:cNvSpPr/>
          <p:nvPr/>
        </p:nvSpPr>
        <p:spPr>
          <a:xfrm>
            <a:off x="5519827" y="1568669"/>
            <a:ext cx="1115432" cy="657077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noProof="0" dirty="0"/>
              <a:t>System prompt</a:t>
            </a:r>
          </a:p>
        </p:txBody>
      </p:sp>
      <p:sp>
        <p:nvSpPr>
          <p:cNvPr id="7" name="对话气泡: 圆角矩形 6">
            <a:extLst>
              <a:ext uri="{FF2B5EF4-FFF2-40B4-BE49-F238E27FC236}">
                <a16:creationId xmlns:a16="http://schemas.microsoft.com/office/drawing/2014/main" id="{6E9EEF00-6225-F9A7-53E9-8104EE7BDF55}"/>
              </a:ext>
            </a:extLst>
          </p:cNvPr>
          <p:cNvSpPr/>
          <p:nvPr/>
        </p:nvSpPr>
        <p:spPr>
          <a:xfrm>
            <a:off x="4183227" y="656300"/>
            <a:ext cx="2108528" cy="646331"/>
          </a:xfrm>
          <a:prstGeom prst="wedgeRoundRectCallout">
            <a:avLst>
              <a:gd name="adj1" fmla="val 30602"/>
              <a:gd name="adj2" fmla="val 84087"/>
              <a:gd name="adj3" fmla="val 16667"/>
            </a:avLst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altLang="zh-CN" sz="1400" dirty="0"/>
              <a:t>Wann welches Werkzeug oder welcher Befehl verwendet werden soll</a:t>
            </a:r>
            <a:endParaRPr lang="de-AT" sz="1400" noProof="0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7E70644-F6B2-88BA-9118-15B1A1F07CF9}"/>
              </a:ext>
            </a:extLst>
          </p:cNvPr>
          <p:cNvSpPr txBox="1"/>
          <p:nvPr/>
        </p:nvSpPr>
        <p:spPr>
          <a:xfrm>
            <a:off x="2283553" y="3370589"/>
            <a:ext cx="15658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noProof="0" dirty="0"/>
              <a:t>Läuft lokal auf </a:t>
            </a:r>
          </a:p>
          <a:p>
            <a:r>
              <a:rPr lang="de-AT" noProof="0" dirty="0"/>
              <a:t>deinem Gerät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3A98855-9B3B-4F94-FCC6-4B0B7E5F9F05}"/>
              </a:ext>
            </a:extLst>
          </p:cNvPr>
          <p:cNvSpPr txBox="1"/>
          <p:nvPr/>
        </p:nvSpPr>
        <p:spPr>
          <a:xfrm>
            <a:off x="7131908" y="4530221"/>
            <a:ext cx="20898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AT" noProof="0" dirty="0"/>
              <a:t>Cloud- oder </a:t>
            </a:r>
          </a:p>
          <a:p>
            <a:pPr algn="ctr"/>
            <a:r>
              <a:rPr lang="de-AT" noProof="0" dirty="0"/>
              <a:t>lokale Bereitstellung</a:t>
            </a:r>
          </a:p>
        </p:txBody>
      </p:sp>
      <p:sp>
        <p:nvSpPr>
          <p:cNvPr id="15" name="Rounded Rectangle 3">
            <a:extLst>
              <a:ext uri="{FF2B5EF4-FFF2-40B4-BE49-F238E27FC236}">
                <a16:creationId xmlns:a16="http://schemas.microsoft.com/office/drawing/2014/main" id="{4333A586-20F8-06E6-26D1-71646F61CAE1}"/>
              </a:ext>
            </a:extLst>
          </p:cNvPr>
          <p:cNvSpPr/>
          <p:nvPr/>
        </p:nvSpPr>
        <p:spPr>
          <a:xfrm>
            <a:off x="1951027" y="2302578"/>
            <a:ext cx="1115432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600" noProof="0" dirty="0"/>
              <a:t>Nachricht</a:t>
            </a:r>
          </a:p>
        </p:txBody>
      </p:sp>
      <p:sp>
        <p:nvSpPr>
          <p:cNvPr id="16" name="Rounded Rectangle 3">
            <a:extLst>
              <a:ext uri="{FF2B5EF4-FFF2-40B4-BE49-F238E27FC236}">
                <a16:creationId xmlns:a16="http://schemas.microsoft.com/office/drawing/2014/main" id="{6494F722-03FF-C858-0FCF-85F1F266B95A}"/>
              </a:ext>
            </a:extLst>
          </p:cNvPr>
          <p:cNvSpPr/>
          <p:nvPr/>
        </p:nvSpPr>
        <p:spPr>
          <a:xfrm>
            <a:off x="5519827" y="2302578"/>
            <a:ext cx="1115432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600" noProof="0" dirty="0"/>
              <a:t>Nachricht</a:t>
            </a:r>
          </a:p>
        </p:txBody>
      </p:sp>
    </p:spTree>
    <p:extLst>
      <p:ext uri="{BB962C8B-B14F-4D97-AF65-F5344CB8AC3E}">
        <p14:creationId xmlns:p14="http://schemas.microsoft.com/office/powerpoint/2010/main" val="230291943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FA09A9-5A6C-77BA-BDBE-195F8D3AD2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BA5FDDF-5A86-EEAE-B6CF-588C1E3D209C}"/>
              </a:ext>
            </a:extLst>
          </p:cNvPr>
          <p:cNvSpPr/>
          <p:nvPr/>
        </p:nvSpPr>
        <p:spPr>
          <a:xfrm>
            <a:off x="357308" y="2438400"/>
            <a:ext cx="1447844" cy="2011680"/>
          </a:xfrm>
          <a:prstGeom prst="roundRect">
            <a:avLst/>
          </a:prstGeom>
          <a:noFill/>
          <a:ln w="57150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r>
              <a:rPr lang="de-AT" b="0" noProof="0" dirty="0">
                <a:latin typeface="Calibri"/>
              </a:rPr>
              <a:t>WhatsApp</a:t>
            </a:r>
          </a:p>
          <a:p>
            <a:pPr algn="ctr"/>
            <a:r>
              <a:rPr lang="de-AT" b="0" noProof="0" dirty="0">
                <a:latin typeface="Calibri"/>
              </a:rPr>
              <a:t>Telegram</a:t>
            </a:r>
          </a:p>
          <a:p>
            <a:pPr algn="ctr"/>
            <a:r>
              <a:rPr lang="de-AT" b="0" noProof="0" dirty="0">
                <a:latin typeface="Calibri"/>
              </a:rPr>
              <a:t>Discord</a:t>
            </a:r>
          </a:p>
          <a:p>
            <a:pPr algn="ctr"/>
            <a:r>
              <a:rPr lang="de-AT" noProof="0" dirty="0">
                <a:latin typeface="Calibri"/>
              </a:rPr>
              <a:t>WeChat</a:t>
            </a:r>
          </a:p>
          <a:p>
            <a:pPr algn="ctr"/>
            <a:r>
              <a:rPr lang="de-AT" b="0" noProof="0" dirty="0">
                <a:latin typeface="Calibri"/>
              </a:rPr>
              <a:t>QQ</a:t>
            </a:r>
          </a:p>
          <a:p>
            <a:pPr algn="ctr"/>
            <a:r>
              <a:rPr lang="de-AT" b="0" noProof="0" dirty="0">
                <a:latin typeface="Calibri"/>
              </a:rPr>
              <a:t>Web UI</a:t>
            </a:r>
          </a:p>
          <a:p>
            <a:pPr algn="ctr"/>
            <a:r>
              <a:rPr lang="de-AT" noProof="0" dirty="0">
                <a:latin typeface="Calibri"/>
              </a:rPr>
              <a:t>…</a:t>
            </a:r>
            <a:endParaRPr lang="de-AT" b="0" noProof="0" dirty="0">
              <a:latin typeface="Calibri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3F077411-7D4D-830F-67D6-4A6A9A123F34}"/>
              </a:ext>
            </a:extLst>
          </p:cNvPr>
          <p:cNvSpPr/>
          <p:nvPr/>
        </p:nvSpPr>
        <p:spPr>
          <a:xfrm>
            <a:off x="2422154" y="2815459"/>
            <a:ext cx="1288612" cy="544698"/>
          </a:xfrm>
          <a:prstGeom prst="roundRect">
            <a:avLst/>
          </a:prstGeom>
          <a:noFill/>
          <a:ln w="57150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r>
              <a:rPr lang="de-AT" noProof="0" dirty="0"/>
              <a:t>OpenClaw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8D3EA679-24A1-75C8-9DCA-C38B7341E11C}"/>
              </a:ext>
            </a:extLst>
          </p:cNvPr>
          <p:cNvSpPr/>
          <p:nvPr/>
        </p:nvSpPr>
        <p:spPr>
          <a:xfrm>
            <a:off x="7748752" y="2438400"/>
            <a:ext cx="1037940" cy="2011680"/>
          </a:xfrm>
          <a:prstGeom prst="roundRect">
            <a:avLst/>
          </a:prstGeom>
          <a:noFill/>
          <a:ln w="57150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r>
              <a:rPr lang="de-AT" b="0" noProof="0" dirty="0">
                <a:latin typeface="Calibri"/>
              </a:rPr>
              <a:t>Claude</a:t>
            </a:r>
          </a:p>
          <a:p>
            <a:pPr algn="ctr"/>
            <a:r>
              <a:rPr lang="de-AT" b="0" noProof="0" dirty="0">
                <a:latin typeface="Calibri"/>
              </a:rPr>
              <a:t>GPT</a:t>
            </a:r>
          </a:p>
          <a:p>
            <a:pPr algn="ctr"/>
            <a:r>
              <a:rPr lang="de-AT" b="0" noProof="0" dirty="0">
                <a:latin typeface="Calibri"/>
              </a:rPr>
              <a:t>Gemini</a:t>
            </a:r>
          </a:p>
          <a:p>
            <a:pPr algn="ctr"/>
            <a:r>
              <a:rPr lang="de-AT" noProof="0" dirty="0">
                <a:latin typeface="Calibri"/>
              </a:rPr>
              <a:t>…</a:t>
            </a:r>
            <a:endParaRPr lang="de-AT" b="0" noProof="0" dirty="0">
              <a:latin typeface="Calibri"/>
            </a:endParaRPr>
          </a:p>
        </p:txBody>
      </p:sp>
      <p:pic>
        <p:nvPicPr>
          <p:cNvPr id="1026" name="Picture 2" descr="Man ">
            <a:extLst>
              <a:ext uri="{FF2B5EF4-FFF2-40B4-BE49-F238E27FC236}">
                <a16:creationId xmlns:a16="http://schemas.microsoft.com/office/drawing/2014/main" id="{5A369A06-849D-2A12-1BA1-40FF46C9C5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892" y="1077685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Big data ">
            <a:extLst>
              <a:ext uri="{FF2B5EF4-FFF2-40B4-BE49-F238E27FC236}">
                <a16:creationId xmlns:a16="http://schemas.microsoft.com/office/drawing/2014/main" id="{92B4B01B-2F0C-7BD0-7914-D30DE0AAA9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8122" y="1219200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" name="直接箭头连接符 1">
            <a:extLst>
              <a:ext uri="{FF2B5EF4-FFF2-40B4-BE49-F238E27FC236}">
                <a16:creationId xmlns:a16="http://schemas.microsoft.com/office/drawing/2014/main" id="{3C551BAF-BA7D-8A72-63FD-C3F095852AFB}"/>
              </a:ext>
            </a:extLst>
          </p:cNvPr>
          <p:cNvCxnSpPr/>
          <p:nvPr/>
        </p:nvCxnSpPr>
        <p:spPr>
          <a:xfrm>
            <a:off x="1882198" y="2963918"/>
            <a:ext cx="4572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C953F9CC-021A-39BF-8B35-D2D32E79E2C2}"/>
              </a:ext>
            </a:extLst>
          </p:cNvPr>
          <p:cNvCxnSpPr>
            <a:cxnSpLocks/>
          </p:cNvCxnSpPr>
          <p:nvPr/>
        </p:nvCxnSpPr>
        <p:spPr>
          <a:xfrm>
            <a:off x="3837401" y="2963918"/>
            <a:ext cx="373793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2" name="Rounded Rectangle 3">
            <a:extLst>
              <a:ext uri="{FF2B5EF4-FFF2-40B4-BE49-F238E27FC236}">
                <a16:creationId xmlns:a16="http://schemas.microsoft.com/office/drawing/2014/main" id="{EF8B7093-4F2C-324A-B185-2B17FC191EE5}"/>
              </a:ext>
            </a:extLst>
          </p:cNvPr>
          <p:cNvSpPr/>
          <p:nvPr/>
        </p:nvSpPr>
        <p:spPr>
          <a:xfrm>
            <a:off x="5519827" y="1568669"/>
            <a:ext cx="1115432" cy="657077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noProof="0" dirty="0"/>
              <a:t>System prompt</a:t>
            </a:r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1EB5BD58-685C-6091-C92B-DF4EBAE17832}"/>
              </a:ext>
            </a:extLst>
          </p:cNvPr>
          <p:cNvCxnSpPr>
            <a:cxnSpLocks/>
          </p:cNvCxnSpPr>
          <p:nvPr/>
        </p:nvCxnSpPr>
        <p:spPr>
          <a:xfrm flipH="1">
            <a:off x="3837401" y="3213719"/>
            <a:ext cx="373793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4" name="对话气泡: 圆角矩形 13">
            <a:extLst>
              <a:ext uri="{FF2B5EF4-FFF2-40B4-BE49-F238E27FC236}">
                <a16:creationId xmlns:a16="http://schemas.microsoft.com/office/drawing/2014/main" id="{BB4C6361-3B18-121E-470C-9336D58907A0}"/>
              </a:ext>
            </a:extLst>
          </p:cNvPr>
          <p:cNvSpPr/>
          <p:nvPr/>
        </p:nvSpPr>
        <p:spPr>
          <a:xfrm>
            <a:off x="4183227" y="656300"/>
            <a:ext cx="2108528" cy="646331"/>
          </a:xfrm>
          <a:prstGeom prst="wedgeRoundRectCallout">
            <a:avLst>
              <a:gd name="adj1" fmla="val 30602"/>
              <a:gd name="adj2" fmla="val 84087"/>
              <a:gd name="adj3" fmla="val 16667"/>
            </a:avLst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altLang="zh-CN" sz="1400" dirty="0"/>
              <a:t>Wann welches Werkzeug oder welcher Befehl verwendet werden soll</a:t>
            </a:r>
            <a:endParaRPr lang="de-AT" sz="1400" noProof="0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F1E9204-1492-FAD0-9688-60FAF04A841C}"/>
              </a:ext>
            </a:extLst>
          </p:cNvPr>
          <p:cNvSpPr txBox="1"/>
          <p:nvPr/>
        </p:nvSpPr>
        <p:spPr>
          <a:xfrm>
            <a:off x="2283553" y="3370589"/>
            <a:ext cx="15658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noProof="0" dirty="0"/>
              <a:t>Läuft lokal auf </a:t>
            </a:r>
          </a:p>
          <a:p>
            <a:r>
              <a:rPr lang="de-AT" noProof="0" dirty="0"/>
              <a:t>deinem Gerät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13C9669E-314B-BD1C-0CFC-2C9FF4136F7B}"/>
              </a:ext>
            </a:extLst>
          </p:cNvPr>
          <p:cNvSpPr txBox="1"/>
          <p:nvPr/>
        </p:nvSpPr>
        <p:spPr>
          <a:xfrm>
            <a:off x="7131908" y="4530221"/>
            <a:ext cx="20898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AT" noProof="0" dirty="0"/>
              <a:t>Cloud- oder </a:t>
            </a:r>
          </a:p>
          <a:p>
            <a:pPr algn="ctr"/>
            <a:r>
              <a:rPr lang="de-AT" noProof="0" dirty="0"/>
              <a:t>lokale Bereitstellung</a:t>
            </a:r>
          </a:p>
        </p:txBody>
      </p:sp>
      <p:sp>
        <p:nvSpPr>
          <p:cNvPr id="17" name="Rounded Rectangle 3">
            <a:extLst>
              <a:ext uri="{FF2B5EF4-FFF2-40B4-BE49-F238E27FC236}">
                <a16:creationId xmlns:a16="http://schemas.microsoft.com/office/drawing/2014/main" id="{DF8D692E-00B7-69F6-DB12-8BC39C654BA9}"/>
              </a:ext>
            </a:extLst>
          </p:cNvPr>
          <p:cNvSpPr/>
          <p:nvPr/>
        </p:nvSpPr>
        <p:spPr>
          <a:xfrm>
            <a:off x="1951027" y="2302578"/>
            <a:ext cx="1115432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600" noProof="0" dirty="0"/>
              <a:t>Nachricht</a:t>
            </a:r>
          </a:p>
        </p:txBody>
      </p:sp>
      <p:sp>
        <p:nvSpPr>
          <p:cNvPr id="18" name="Rounded Rectangle 3">
            <a:extLst>
              <a:ext uri="{FF2B5EF4-FFF2-40B4-BE49-F238E27FC236}">
                <a16:creationId xmlns:a16="http://schemas.microsoft.com/office/drawing/2014/main" id="{452370C3-A445-DC4C-9208-E1716735E744}"/>
              </a:ext>
            </a:extLst>
          </p:cNvPr>
          <p:cNvSpPr/>
          <p:nvPr/>
        </p:nvSpPr>
        <p:spPr>
          <a:xfrm>
            <a:off x="5519827" y="2302578"/>
            <a:ext cx="1115432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600" noProof="0" dirty="0"/>
              <a:t>Nachricht</a:t>
            </a:r>
          </a:p>
        </p:txBody>
      </p:sp>
    </p:spTree>
    <p:extLst>
      <p:ext uri="{BB962C8B-B14F-4D97-AF65-F5344CB8AC3E}">
        <p14:creationId xmlns:p14="http://schemas.microsoft.com/office/powerpoint/2010/main" val="417437399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CEC53B-0D5D-7B7C-3FB6-0A2F0677B3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526213A8-7C3C-122B-96ED-3E3242B65DD6}"/>
              </a:ext>
            </a:extLst>
          </p:cNvPr>
          <p:cNvSpPr/>
          <p:nvPr/>
        </p:nvSpPr>
        <p:spPr>
          <a:xfrm>
            <a:off x="357308" y="2438400"/>
            <a:ext cx="1447844" cy="2011680"/>
          </a:xfrm>
          <a:prstGeom prst="roundRect">
            <a:avLst/>
          </a:prstGeom>
          <a:noFill/>
          <a:ln w="57150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r>
              <a:rPr lang="de-AT" b="0" noProof="0" dirty="0">
                <a:latin typeface="Calibri"/>
              </a:rPr>
              <a:t>WhatsApp</a:t>
            </a:r>
          </a:p>
          <a:p>
            <a:pPr algn="ctr"/>
            <a:r>
              <a:rPr lang="de-AT" b="0" noProof="0" dirty="0">
                <a:latin typeface="Calibri"/>
              </a:rPr>
              <a:t>Telegram</a:t>
            </a:r>
          </a:p>
          <a:p>
            <a:pPr algn="ctr"/>
            <a:r>
              <a:rPr lang="de-AT" b="0" noProof="0" dirty="0">
                <a:latin typeface="Calibri"/>
              </a:rPr>
              <a:t>Discord</a:t>
            </a:r>
          </a:p>
          <a:p>
            <a:pPr algn="ctr"/>
            <a:r>
              <a:rPr lang="de-AT" noProof="0" dirty="0">
                <a:latin typeface="Calibri"/>
              </a:rPr>
              <a:t>WeChat</a:t>
            </a:r>
          </a:p>
          <a:p>
            <a:pPr algn="ctr"/>
            <a:r>
              <a:rPr lang="de-AT" b="0" noProof="0" dirty="0">
                <a:latin typeface="Calibri"/>
              </a:rPr>
              <a:t>QQ</a:t>
            </a:r>
          </a:p>
          <a:p>
            <a:pPr algn="ctr"/>
            <a:r>
              <a:rPr lang="de-AT" b="0" noProof="0" dirty="0">
                <a:latin typeface="Calibri"/>
              </a:rPr>
              <a:t>Web UI</a:t>
            </a:r>
          </a:p>
          <a:p>
            <a:pPr algn="ctr"/>
            <a:r>
              <a:rPr lang="de-AT" noProof="0" dirty="0">
                <a:latin typeface="Calibri"/>
              </a:rPr>
              <a:t>…</a:t>
            </a:r>
            <a:endParaRPr lang="de-AT" b="0" noProof="0" dirty="0">
              <a:latin typeface="Calibri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A11317C7-0A0D-23FE-A2AA-619BC63ACBCB}"/>
              </a:ext>
            </a:extLst>
          </p:cNvPr>
          <p:cNvSpPr/>
          <p:nvPr/>
        </p:nvSpPr>
        <p:spPr>
          <a:xfrm>
            <a:off x="2422154" y="2815459"/>
            <a:ext cx="1288612" cy="544698"/>
          </a:xfrm>
          <a:prstGeom prst="roundRect">
            <a:avLst/>
          </a:prstGeom>
          <a:noFill/>
          <a:ln w="57150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r>
              <a:rPr lang="de-AT" noProof="0" dirty="0"/>
              <a:t>OpenClaw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C97C2790-9C1F-C6BA-7AE3-FBDE87F0CDE9}"/>
              </a:ext>
            </a:extLst>
          </p:cNvPr>
          <p:cNvSpPr/>
          <p:nvPr/>
        </p:nvSpPr>
        <p:spPr>
          <a:xfrm>
            <a:off x="7748752" y="2438400"/>
            <a:ext cx="1037940" cy="2011680"/>
          </a:xfrm>
          <a:prstGeom prst="roundRect">
            <a:avLst/>
          </a:prstGeom>
          <a:noFill/>
          <a:ln w="57150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r>
              <a:rPr lang="de-AT" b="0" noProof="0" dirty="0">
                <a:latin typeface="Calibri"/>
              </a:rPr>
              <a:t>Claude</a:t>
            </a:r>
          </a:p>
          <a:p>
            <a:pPr algn="ctr"/>
            <a:r>
              <a:rPr lang="de-AT" b="0" noProof="0" dirty="0">
                <a:latin typeface="Calibri"/>
              </a:rPr>
              <a:t>GPT</a:t>
            </a:r>
          </a:p>
          <a:p>
            <a:pPr algn="ctr"/>
            <a:r>
              <a:rPr lang="de-AT" b="0" noProof="0" dirty="0">
                <a:latin typeface="Calibri"/>
              </a:rPr>
              <a:t>Gemini</a:t>
            </a:r>
          </a:p>
          <a:p>
            <a:pPr algn="ctr"/>
            <a:r>
              <a:rPr lang="de-AT" noProof="0" dirty="0">
                <a:latin typeface="Calibri"/>
              </a:rPr>
              <a:t>…</a:t>
            </a:r>
            <a:endParaRPr lang="de-AT" b="0" noProof="0" dirty="0">
              <a:latin typeface="Calibri"/>
            </a:endParaRPr>
          </a:p>
        </p:txBody>
      </p:sp>
      <p:pic>
        <p:nvPicPr>
          <p:cNvPr id="1026" name="Picture 2" descr="Man ">
            <a:extLst>
              <a:ext uri="{FF2B5EF4-FFF2-40B4-BE49-F238E27FC236}">
                <a16:creationId xmlns:a16="http://schemas.microsoft.com/office/drawing/2014/main" id="{39B680A6-AF59-A6A7-8C16-07BC55CC30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892" y="1077685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Big data ">
            <a:extLst>
              <a:ext uri="{FF2B5EF4-FFF2-40B4-BE49-F238E27FC236}">
                <a16:creationId xmlns:a16="http://schemas.microsoft.com/office/drawing/2014/main" id="{B48AEEAB-C765-FC89-4208-BFDE5A10D4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8122" y="1219200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" name="直接箭头连接符 1">
            <a:extLst>
              <a:ext uri="{FF2B5EF4-FFF2-40B4-BE49-F238E27FC236}">
                <a16:creationId xmlns:a16="http://schemas.microsoft.com/office/drawing/2014/main" id="{6639E2A1-B2ED-C0A5-0D02-B3E7F757DF7A}"/>
              </a:ext>
            </a:extLst>
          </p:cNvPr>
          <p:cNvCxnSpPr/>
          <p:nvPr/>
        </p:nvCxnSpPr>
        <p:spPr>
          <a:xfrm>
            <a:off x="1882198" y="2963918"/>
            <a:ext cx="4572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46D189C4-579E-4944-AC57-796A31ED2323}"/>
              </a:ext>
            </a:extLst>
          </p:cNvPr>
          <p:cNvCxnSpPr>
            <a:cxnSpLocks/>
          </p:cNvCxnSpPr>
          <p:nvPr/>
        </p:nvCxnSpPr>
        <p:spPr>
          <a:xfrm>
            <a:off x="3837401" y="2963918"/>
            <a:ext cx="373793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2" name="Rounded Rectangle 3">
            <a:extLst>
              <a:ext uri="{FF2B5EF4-FFF2-40B4-BE49-F238E27FC236}">
                <a16:creationId xmlns:a16="http://schemas.microsoft.com/office/drawing/2014/main" id="{9F7B33C9-AFF0-006E-CD7C-249FD812D56E}"/>
              </a:ext>
            </a:extLst>
          </p:cNvPr>
          <p:cNvSpPr/>
          <p:nvPr/>
        </p:nvSpPr>
        <p:spPr>
          <a:xfrm>
            <a:off x="5519827" y="1568669"/>
            <a:ext cx="1115432" cy="657077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noProof="0" dirty="0"/>
              <a:t>System prompt</a:t>
            </a:r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12F7313F-0E8E-05CE-39F0-2226766F658B}"/>
              </a:ext>
            </a:extLst>
          </p:cNvPr>
          <p:cNvCxnSpPr>
            <a:cxnSpLocks/>
          </p:cNvCxnSpPr>
          <p:nvPr/>
        </p:nvCxnSpPr>
        <p:spPr>
          <a:xfrm flipH="1">
            <a:off x="3837401" y="3213719"/>
            <a:ext cx="373793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F2BBBF5B-874A-49D1-7D78-9A6B9E10E28C}"/>
              </a:ext>
            </a:extLst>
          </p:cNvPr>
          <p:cNvCxnSpPr>
            <a:cxnSpLocks/>
          </p:cNvCxnSpPr>
          <p:nvPr/>
        </p:nvCxnSpPr>
        <p:spPr>
          <a:xfrm>
            <a:off x="3837401" y="3523571"/>
            <a:ext cx="373793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8A4F7BD4-F108-156F-C5AA-73977F4F63C9}"/>
              </a:ext>
            </a:extLst>
          </p:cNvPr>
          <p:cNvCxnSpPr>
            <a:cxnSpLocks/>
          </p:cNvCxnSpPr>
          <p:nvPr/>
        </p:nvCxnSpPr>
        <p:spPr>
          <a:xfrm flipH="1">
            <a:off x="3837401" y="3788740"/>
            <a:ext cx="373793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FE799F9F-9EE3-D0E7-5B88-E519B4951C66}"/>
              </a:ext>
            </a:extLst>
          </p:cNvPr>
          <p:cNvCxnSpPr>
            <a:cxnSpLocks/>
          </p:cNvCxnSpPr>
          <p:nvPr/>
        </p:nvCxnSpPr>
        <p:spPr>
          <a:xfrm flipH="1">
            <a:off x="1882198" y="3788740"/>
            <a:ext cx="4572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7" name="对话气泡: 圆角矩形 16">
            <a:extLst>
              <a:ext uri="{FF2B5EF4-FFF2-40B4-BE49-F238E27FC236}">
                <a16:creationId xmlns:a16="http://schemas.microsoft.com/office/drawing/2014/main" id="{0CCC34A9-09A1-82BF-5C95-303C1B321636}"/>
              </a:ext>
            </a:extLst>
          </p:cNvPr>
          <p:cNvSpPr/>
          <p:nvPr/>
        </p:nvSpPr>
        <p:spPr>
          <a:xfrm>
            <a:off x="4183227" y="656300"/>
            <a:ext cx="2108528" cy="646331"/>
          </a:xfrm>
          <a:prstGeom prst="wedgeRoundRectCallout">
            <a:avLst>
              <a:gd name="adj1" fmla="val 30602"/>
              <a:gd name="adj2" fmla="val 84087"/>
              <a:gd name="adj3" fmla="val 16667"/>
            </a:avLst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altLang="zh-CN" sz="1400" dirty="0"/>
              <a:t>Wann welches Werkzeug oder welcher Befehl verwendet werden soll</a:t>
            </a:r>
            <a:endParaRPr lang="de-AT" sz="1400" noProof="0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CB2C517C-B990-8DB4-30BE-B16BC3D57747}"/>
              </a:ext>
            </a:extLst>
          </p:cNvPr>
          <p:cNvSpPr txBox="1"/>
          <p:nvPr/>
        </p:nvSpPr>
        <p:spPr>
          <a:xfrm>
            <a:off x="2283553" y="3370589"/>
            <a:ext cx="15658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noProof="0" dirty="0"/>
              <a:t>Läuft lokal auf </a:t>
            </a:r>
          </a:p>
          <a:p>
            <a:r>
              <a:rPr lang="de-AT" noProof="0" dirty="0"/>
              <a:t>deinem Gerät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430834B2-8590-8977-EECD-B9762A3D5216}"/>
              </a:ext>
            </a:extLst>
          </p:cNvPr>
          <p:cNvSpPr txBox="1"/>
          <p:nvPr/>
        </p:nvSpPr>
        <p:spPr>
          <a:xfrm>
            <a:off x="7131908" y="4530221"/>
            <a:ext cx="20898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AT" noProof="0" dirty="0"/>
              <a:t>Cloud- oder </a:t>
            </a:r>
          </a:p>
          <a:p>
            <a:pPr algn="ctr"/>
            <a:r>
              <a:rPr lang="de-AT" noProof="0" dirty="0"/>
              <a:t>lokale Bereitstellung</a:t>
            </a:r>
          </a:p>
        </p:txBody>
      </p:sp>
      <p:sp>
        <p:nvSpPr>
          <p:cNvPr id="20" name="Rounded Rectangle 3">
            <a:extLst>
              <a:ext uri="{FF2B5EF4-FFF2-40B4-BE49-F238E27FC236}">
                <a16:creationId xmlns:a16="http://schemas.microsoft.com/office/drawing/2014/main" id="{94021136-172A-6C2B-9A8E-033E9BBBFDD0}"/>
              </a:ext>
            </a:extLst>
          </p:cNvPr>
          <p:cNvSpPr/>
          <p:nvPr/>
        </p:nvSpPr>
        <p:spPr>
          <a:xfrm>
            <a:off x="1951027" y="2302578"/>
            <a:ext cx="1115432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600" noProof="0" dirty="0"/>
              <a:t>Nachricht</a:t>
            </a:r>
          </a:p>
        </p:txBody>
      </p:sp>
      <p:sp>
        <p:nvSpPr>
          <p:cNvPr id="21" name="Rounded Rectangle 3">
            <a:extLst>
              <a:ext uri="{FF2B5EF4-FFF2-40B4-BE49-F238E27FC236}">
                <a16:creationId xmlns:a16="http://schemas.microsoft.com/office/drawing/2014/main" id="{7D6BF208-38A5-1D3D-4E5A-B925115CF509}"/>
              </a:ext>
            </a:extLst>
          </p:cNvPr>
          <p:cNvSpPr/>
          <p:nvPr/>
        </p:nvSpPr>
        <p:spPr>
          <a:xfrm>
            <a:off x="5519827" y="2302578"/>
            <a:ext cx="1115432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600" noProof="0" dirty="0"/>
              <a:t>Nachricht</a:t>
            </a:r>
          </a:p>
        </p:txBody>
      </p:sp>
    </p:spTree>
    <p:extLst>
      <p:ext uri="{BB962C8B-B14F-4D97-AF65-F5344CB8AC3E}">
        <p14:creationId xmlns:p14="http://schemas.microsoft.com/office/powerpoint/2010/main" val="350022244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A5BDFD-6AB0-3B91-631E-21C4EA8684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E4517ABE-95CF-3F3D-FFB7-E09BAA7ECAF1}"/>
              </a:ext>
            </a:extLst>
          </p:cNvPr>
          <p:cNvSpPr/>
          <p:nvPr/>
        </p:nvSpPr>
        <p:spPr>
          <a:xfrm>
            <a:off x="357308" y="2438400"/>
            <a:ext cx="1447844" cy="2011680"/>
          </a:xfrm>
          <a:prstGeom prst="roundRect">
            <a:avLst/>
          </a:prstGeom>
          <a:noFill/>
          <a:ln w="57150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r>
              <a:rPr lang="de-AT" b="0" noProof="0" dirty="0">
                <a:latin typeface="Calibri"/>
              </a:rPr>
              <a:t>WhatsApp</a:t>
            </a:r>
          </a:p>
          <a:p>
            <a:pPr algn="ctr"/>
            <a:r>
              <a:rPr lang="de-AT" b="0" noProof="0" dirty="0">
                <a:latin typeface="Calibri"/>
              </a:rPr>
              <a:t>Telegram</a:t>
            </a:r>
          </a:p>
          <a:p>
            <a:pPr algn="ctr"/>
            <a:r>
              <a:rPr lang="de-AT" b="0" noProof="0" dirty="0">
                <a:latin typeface="Calibri"/>
              </a:rPr>
              <a:t>Discord</a:t>
            </a:r>
          </a:p>
          <a:p>
            <a:pPr algn="ctr"/>
            <a:r>
              <a:rPr lang="de-AT" noProof="0" dirty="0">
                <a:latin typeface="Calibri"/>
              </a:rPr>
              <a:t>WeChat</a:t>
            </a:r>
          </a:p>
          <a:p>
            <a:pPr algn="ctr"/>
            <a:r>
              <a:rPr lang="de-AT" b="0" noProof="0" dirty="0">
                <a:latin typeface="Calibri"/>
              </a:rPr>
              <a:t>QQ</a:t>
            </a:r>
          </a:p>
          <a:p>
            <a:pPr algn="ctr"/>
            <a:r>
              <a:rPr lang="de-AT" b="0" noProof="0" dirty="0">
                <a:latin typeface="Calibri"/>
              </a:rPr>
              <a:t>Web UI</a:t>
            </a:r>
          </a:p>
          <a:p>
            <a:pPr algn="ctr"/>
            <a:r>
              <a:rPr lang="de-AT" noProof="0" dirty="0">
                <a:latin typeface="Calibri"/>
              </a:rPr>
              <a:t>…</a:t>
            </a:r>
            <a:endParaRPr lang="de-AT" b="0" noProof="0" dirty="0">
              <a:latin typeface="Calibri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77B74C8D-D92A-6B75-9FC1-B4A9E08E2802}"/>
              </a:ext>
            </a:extLst>
          </p:cNvPr>
          <p:cNvSpPr/>
          <p:nvPr/>
        </p:nvSpPr>
        <p:spPr>
          <a:xfrm>
            <a:off x="2422154" y="2815459"/>
            <a:ext cx="1288612" cy="544698"/>
          </a:xfrm>
          <a:prstGeom prst="roundRect">
            <a:avLst/>
          </a:prstGeom>
          <a:noFill/>
          <a:ln w="57150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r>
              <a:rPr lang="de-AT" noProof="0" dirty="0"/>
              <a:t>OpenClaw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064FCC1-1572-4EB8-8ED0-C5F1A36C40AF}"/>
              </a:ext>
            </a:extLst>
          </p:cNvPr>
          <p:cNvSpPr/>
          <p:nvPr/>
        </p:nvSpPr>
        <p:spPr>
          <a:xfrm>
            <a:off x="7748752" y="2438400"/>
            <a:ext cx="1037940" cy="2011680"/>
          </a:xfrm>
          <a:prstGeom prst="roundRect">
            <a:avLst/>
          </a:prstGeom>
          <a:noFill/>
          <a:ln w="57150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r>
              <a:rPr lang="de-AT" b="0" noProof="0" dirty="0">
                <a:latin typeface="Calibri"/>
              </a:rPr>
              <a:t>Claude</a:t>
            </a:r>
          </a:p>
          <a:p>
            <a:pPr algn="ctr"/>
            <a:r>
              <a:rPr lang="de-AT" b="0" noProof="0" dirty="0">
                <a:latin typeface="Calibri"/>
              </a:rPr>
              <a:t>GPT</a:t>
            </a:r>
          </a:p>
          <a:p>
            <a:pPr algn="ctr"/>
            <a:r>
              <a:rPr lang="de-AT" b="0" noProof="0" dirty="0">
                <a:latin typeface="Calibri"/>
              </a:rPr>
              <a:t>Gemini</a:t>
            </a:r>
          </a:p>
          <a:p>
            <a:pPr algn="ctr"/>
            <a:r>
              <a:rPr lang="de-AT" noProof="0" dirty="0">
                <a:latin typeface="Calibri"/>
              </a:rPr>
              <a:t>…</a:t>
            </a:r>
            <a:endParaRPr lang="de-AT" b="0" noProof="0" dirty="0">
              <a:latin typeface="Calibri"/>
            </a:endParaRPr>
          </a:p>
        </p:txBody>
      </p:sp>
      <p:pic>
        <p:nvPicPr>
          <p:cNvPr id="1026" name="Picture 2" descr="Man ">
            <a:extLst>
              <a:ext uri="{FF2B5EF4-FFF2-40B4-BE49-F238E27FC236}">
                <a16:creationId xmlns:a16="http://schemas.microsoft.com/office/drawing/2014/main" id="{838C134A-6B5B-197D-0208-CCB777E105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892" y="1077685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Big data ">
            <a:extLst>
              <a:ext uri="{FF2B5EF4-FFF2-40B4-BE49-F238E27FC236}">
                <a16:creationId xmlns:a16="http://schemas.microsoft.com/office/drawing/2014/main" id="{A0EB72A4-0066-91F9-B33B-C227A6C38D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8122" y="1219200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BF33FABC-E48F-E6EB-D87D-0BED18571205}"/>
              </a:ext>
            </a:extLst>
          </p:cNvPr>
          <p:cNvSpPr txBox="1"/>
          <p:nvPr/>
        </p:nvSpPr>
        <p:spPr>
          <a:xfrm>
            <a:off x="2214762" y="4391721"/>
            <a:ext cx="15658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altLang="zh-CN" dirty="0"/>
              <a:t>Läuft lokal auf </a:t>
            </a:r>
          </a:p>
          <a:p>
            <a:r>
              <a:rPr lang="de-AT" altLang="zh-CN" dirty="0"/>
              <a:t>deinem Gerät</a:t>
            </a:r>
          </a:p>
        </p:txBody>
      </p:sp>
      <p:cxnSp>
        <p:nvCxnSpPr>
          <p:cNvPr id="2" name="直接箭头连接符 1">
            <a:extLst>
              <a:ext uri="{FF2B5EF4-FFF2-40B4-BE49-F238E27FC236}">
                <a16:creationId xmlns:a16="http://schemas.microsoft.com/office/drawing/2014/main" id="{A6954170-ABBB-00FA-CD25-908B42325BCD}"/>
              </a:ext>
            </a:extLst>
          </p:cNvPr>
          <p:cNvCxnSpPr/>
          <p:nvPr/>
        </p:nvCxnSpPr>
        <p:spPr>
          <a:xfrm>
            <a:off x="1882198" y="2963918"/>
            <a:ext cx="4572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FDBC783C-FD81-9949-5A06-79E40508EE86}"/>
              </a:ext>
            </a:extLst>
          </p:cNvPr>
          <p:cNvCxnSpPr>
            <a:cxnSpLocks/>
          </p:cNvCxnSpPr>
          <p:nvPr/>
        </p:nvCxnSpPr>
        <p:spPr>
          <a:xfrm>
            <a:off x="3837401" y="2963918"/>
            <a:ext cx="373793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2" name="Rounded Rectangle 3">
            <a:extLst>
              <a:ext uri="{FF2B5EF4-FFF2-40B4-BE49-F238E27FC236}">
                <a16:creationId xmlns:a16="http://schemas.microsoft.com/office/drawing/2014/main" id="{0515EF76-3A83-9979-7BE4-474C7792F802}"/>
              </a:ext>
            </a:extLst>
          </p:cNvPr>
          <p:cNvSpPr/>
          <p:nvPr/>
        </p:nvSpPr>
        <p:spPr>
          <a:xfrm>
            <a:off x="5519827" y="1568669"/>
            <a:ext cx="1115432" cy="657077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noProof="0" dirty="0"/>
              <a:t>System prompt</a:t>
            </a:r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A3723E5B-3470-9787-7A8C-9466D87386D3}"/>
              </a:ext>
            </a:extLst>
          </p:cNvPr>
          <p:cNvCxnSpPr>
            <a:cxnSpLocks/>
          </p:cNvCxnSpPr>
          <p:nvPr/>
        </p:nvCxnSpPr>
        <p:spPr>
          <a:xfrm flipH="1">
            <a:off x="3837401" y="3213719"/>
            <a:ext cx="373793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69A5322F-1104-C54E-0E3D-4887434E9759}"/>
              </a:ext>
            </a:extLst>
          </p:cNvPr>
          <p:cNvCxnSpPr>
            <a:cxnSpLocks/>
          </p:cNvCxnSpPr>
          <p:nvPr/>
        </p:nvCxnSpPr>
        <p:spPr>
          <a:xfrm>
            <a:off x="3837401" y="3523571"/>
            <a:ext cx="373793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73DAFD84-F89E-8564-1865-29378F8B2131}"/>
              </a:ext>
            </a:extLst>
          </p:cNvPr>
          <p:cNvCxnSpPr>
            <a:cxnSpLocks/>
          </p:cNvCxnSpPr>
          <p:nvPr/>
        </p:nvCxnSpPr>
        <p:spPr>
          <a:xfrm flipH="1">
            <a:off x="3837401" y="3788740"/>
            <a:ext cx="373793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97612B66-E69D-58D9-9697-CCC6388BCE87}"/>
              </a:ext>
            </a:extLst>
          </p:cNvPr>
          <p:cNvCxnSpPr>
            <a:cxnSpLocks/>
          </p:cNvCxnSpPr>
          <p:nvPr/>
        </p:nvCxnSpPr>
        <p:spPr>
          <a:xfrm>
            <a:off x="2997669" y="3416988"/>
            <a:ext cx="0" cy="40966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77B6B1B5-5555-9351-201E-4BFA2BE10F1F}"/>
              </a:ext>
            </a:extLst>
          </p:cNvPr>
          <p:cNvSpPr txBox="1"/>
          <p:nvPr/>
        </p:nvSpPr>
        <p:spPr>
          <a:xfrm>
            <a:off x="1978573" y="3895107"/>
            <a:ext cx="2038192" cy="369332"/>
          </a:xfrm>
          <a:prstGeom prst="rect">
            <a:avLst/>
          </a:prstGeom>
          <a:noFill/>
          <a:ln w="2857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wrap="square">
            <a:spAutoFit/>
          </a:bodyPr>
          <a:lstStyle/>
          <a:p>
            <a:pPr algn="ctr"/>
            <a:r>
              <a:rPr lang="de-AT" noProof="0" dirty="0"/>
              <a:t>Code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4BADC67-9121-16C8-F9F7-38A6A722A66D}"/>
              </a:ext>
            </a:extLst>
          </p:cNvPr>
          <p:cNvSpPr txBox="1"/>
          <p:nvPr/>
        </p:nvSpPr>
        <p:spPr>
          <a:xfrm>
            <a:off x="7131908" y="4530221"/>
            <a:ext cx="20898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AT" noProof="0" dirty="0"/>
              <a:t>Cloud- oder </a:t>
            </a:r>
          </a:p>
          <a:p>
            <a:pPr algn="ctr"/>
            <a:r>
              <a:rPr lang="de-AT" noProof="0" dirty="0"/>
              <a:t>lokale Bereitstellung</a:t>
            </a:r>
          </a:p>
        </p:txBody>
      </p:sp>
      <p:sp>
        <p:nvSpPr>
          <p:cNvPr id="16" name="Rounded Rectangle 3">
            <a:extLst>
              <a:ext uri="{FF2B5EF4-FFF2-40B4-BE49-F238E27FC236}">
                <a16:creationId xmlns:a16="http://schemas.microsoft.com/office/drawing/2014/main" id="{CEB12A6A-AC91-67C4-07ED-7BE042DC7DD2}"/>
              </a:ext>
            </a:extLst>
          </p:cNvPr>
          <p:cNvSpPr/>
          <p:nvPr/>
        </p:nvSpPr>
        <p:spPr>
          <a:xfrm>
            <a:off x="1951027" y="2302578"/>
            <a:ext cx="1115432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600" noProof="0" dirty="0"/>
              <a:t>Nachricht</a:t>
            </a:r>
          </a:p>
        </p:txBody>
      </p:sp>
      <p:sp>
        <p:nvSpPr>
          <p:cNvPr id="19" name="Rounded Rectangle 3">
            <a:extLst>
              <a:ext uri="{FF2B5EF4-FFF2-40B4-BE49-F238E27FC236}">
                <a16:creationId xmlns:a16="http://schemas.microsoft.com/office/drawing/2014/main" id="{C4AFD513-79E8-540A-D689-9F5AD243DB70}"/>
              </a:ext>
            </a:extLst>
          </p:cNvPr>
          <p:cNvSpPr/>
          <p:nvPr/>
        </p:nvSpPr>
        <p:spPr>
          <a:xfrm>
            <a:off x="5519827" y="2302578"/>
            <a:ext cx="1115432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600" noProof="0" dirty="0"/>
              <a:t>Nachricht</a:t>
            </a:r>
          </a:p>
        </p:txBody>
      </p:sp>
    </p:spTree>
    <p:extLst>
      <p:ext uri="{BB962C8B-B14F-4D97-AF65-F5344CB8AC3E}">
        <p14:creationId xmlns:p14="http://schemas.microsoft.com/office/powerpoint/2010/main" val="187569863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A48CE6-EC1B-53DB-07C6-0D747B1769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F7520DF9-F0E5-8295-FA73-9CB34CEAE223}"/>
              </a:ext>
            </a:extLst>
          </p:cNvPr>
          <p:cNvSpPr/>
          <p:nvPr/>
        </p:nvSpPr>
        <p:spPr>
          <a:xfrm>
            <a:off x="357308" y="2438400"/>
            <a:ext cx="1447844" cy="2011680"/>
          </a:xfrm>
          <a:prstGeom prst="roundRect">
            <a:avLst/>
          </a:prstGeom>
          <a:noFill/>
          <a:ln w="57150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r>
              <a:rPr lang="de-AT" b="0" noProof="0" dirty="0">
                <a:latin typeface="Calibri"/>
              </a:rPr>
              <a:t>WhatsApp</a:t>
            </a:r>
          </a:p>
          <a:p>
            <a:pPr algn="ctr"/>
            <a:r>
              <a:rPr lang="de-AT" b="0" noProof="0" dirty="0">
                <a:latin typeface="Calibri"/>
              </a:rPr>
              <a:t>Telegram</a:t>
            </a:r>
          </a:p>
          <a:p>
            <a:pPr algn="ctr"/>
            <a:r>
              <a:rPr lang="de-AT" b="0" noProof="0" dirty="0">
                <a:latin typeface="Calibri"/>
              </a:rPr>
              <a:t>Discord</a:t>
            </a:r>
          </a:p>
          <a:p>
            <a:pPr algn="ctr"/>
            <a:r>
              <a:rPr lang="de-AT" noProof="0" dirty="0">
                <a:latin typeface="Calibri"/>
              </a:rPr>
              <a:t>WeChat</a:t>
            </a:r>
          </a:p>
          <a:p>
            <a:pPr algn="ctr"/>
            <a:r>
              <a:rPr lang="de-AT" b="0" noProof="0" dirty="0">
                <a:latin typeface="Calibri"/>
              </a:rPr>
              <a:t>QQ</a:t>
            </a:r>
          </a:p>
          <a:p>
            <a:pPr algn="ctr"/>
            <a:r>
              <a:rPr lang="de-AT" b="0" noProof="0" dirty="0">
                <a:latin typeface="Calibri"/>
              </a:rPr>
              <a:t>Web UI</a:t>
            </a:r>
          </a:p>
          <a:p>
            <a:pPr algn="ctr"/>
            <a:r>
              <a:rPr lang="de-AT" noProof="0" dirty="0">
                <a:latin typeface="Calibri"/>
              </a:rPr>
              <a:t>…</a:t>
            </a:r>
            <a:endParaRPr lang="de-AT" b="0" noProof="0" dirty="0">
              <a:latin typeface="Calibri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B1A59F8-9E44-9AAA-5CE1-CE0F6334163C}"/>
              </a:ext>
            </a:extLst>
          </p:cNvPr>
          <p:cNvSpPr/>
          <p:nvPr/>
        </p:nvSpPr>
        <p:spPr>
          <a:xfrm>
            <a:off x="2422154" y="2815459"/>
            <a:ext cx="1288612" cy="544698"/>
          </a:xfrm>
          <a:prstGeom prst="roundRect">
            <a:avLst/>
          </a:prstGeom>
          <a:noFill/>
          <a:ln w="57150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r>
              <a:rPr lang="de-AT" noProof="0" dirty="0"/>
              <a:t>OpenClaw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4D5045CC-C734-D8A7-E7A2-3912E55B7356}"/>
              </a:ext>
            </a:extLst>
          </p:cNvPr>
          <p:cNvSpPr/>
          <p:nvPr/>
        </p:nvSpPr>
        <p:spPr>
          <a:xfrm>
            <a:off x="7748752" y="2438400"/>
            <a:ext cx="1037940" cy="2011680"/>
          </a:xfrm>
          <a:prstGeom prst="roundRect">
            <a:avLst/>
          </a:prstGeom>
          <a:noFill/>
          <a:ln w="57150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r>
              <a:rPr lang="de-AT" b="0" noProof="0" dirty="0">
                <a:latin typeface="Calibri"/>
              </a:rPr>
              <a:t>Claude</a:t>
            </a:r>
          </a:p>
          <a:p>
            <a:pPr algn="ctr"/>
            <a:r>
              <a:rPr lang="de-AT" b="0" noProof="0" dirty="0">
                <a:latin typeface="Calibri"/>
              </a:rPr>
              <a:t>GPT</a:t>
            </a:r>
          </a:p>
          <a:p>
            <a:pPr algn="ctr"/>
            <a:r>
              <a:rPr lang="de-AT" b="0" noProof="0" dirty="0">
                <a:latin typeface="Calibri"/>
              </a:rPr>
              <a:t>Gemini</a:t>
            </a:r>
          </a:p>
          <a:p>
            <a:pPr algn="ctr"/>
            <a:r>
              <a:rPr lang="de-AT" noProof="0" dirty="0">
                <a:latin typeface="Calibri"/>
              </a:rPr>
              <a:t>…</a:t>
            </a:r>
            <a:endParaRPr lang="de-AT" b="0" noProof="0" dirty="0">
              <a:latin typeface="Calibri"/>
            </a:endParaRPr>
          </a:p>
        </p:txBody>
      </p:sp>
      <p:pic>
        <p:nvPicPr>
          <p:cNvPr id="1026" name="Picture 2" descr="Man ">
            <a:extLst>
              <a:ext uri="{FF2B5EF4-FFF2-40B4-BE49-F238E27FC236}">
                <a16:creationId xmlns:a16="http://schemas.microsoft.com/office/drawing/2014/main" id="{DC90BA63-6504-0E06-F83A-011816A36B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892" y="1077685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Big data ">
            <a:extLst>
              <a:ext uri="{FF2B5EF4-FFF2-40B4-BE49-F238E27FC236}">
                <a16:creationId xmlns:a16="http://schemas.microsoft.com/office/drawing/2014/main" id="{0BB4A791-EF55-06B1-A3FB-96A63B7BA5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8122" y="1219200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" name="直接箭头连接符 1">
            <a:extLst>
              <a:ext uri="{FF2B5EF4-FFF2-40B4-BE49-F238E27FC236}">
                <a16:creationId xmlns:a16="http://schemas.microsoft.com/office/drawing/2014/main" id="{7FDD0EF8-F2EE-39D0-63D1-66F0D02193AF}"/>
              </a:ext>
            </a:extLst>
          </p:cNvPr>
          <p:cNvCxnSpPr/>
          <p:nvPr/>
        </p:nvCxnSpPr>
        <p:spPr>
          <a:xfrm>
            <a:off x="1882198" y="2963918"/>
            <a:ext cx="4572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E7735190-9762-C566-4820-0B6BE834713C}"/>
              </a:ext>
            </a:extLst>
          </p:cNvPr>
          <p:cNvCxnSpPr>
            <a:cxnSpLocks/>
            <a:stCxn id="18" idx="3"/>
          </p:cNvCxnSpPr>
          <p:nvPr/>
        </p:nvCxnSpPr>
        <p:spPr>
          <a:xfrm>
            <a:off x="4679106" y="2487243"/>
            <a:ext cx="2896225" cy="47667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2" name="Rounded Rectangle 3">
            <a:extLst>
              <a:ext uri="{FF2B5EF4-FFF2-40B4-BE49-F238E27FC236}">
                <a16:creationId xmlns:a16="http://schemas.microsoft.com/office/drawing/2014/main" id="{24B80B93-998A-4C92-9CE2-AE9192EC6D8B}"/>
              </a:ext>
            </a:extLst>
          </p:cNvPr>
          <p:cNvSpPr/>
          <p:nvPr/>
        </p:nvSpPr>
        <p:spPr>
          <a:xfrm>
            <a:off x="5487759" y="1408652"/>
            <a:ext cx="1115432" cy="657077"/>
          </a:xfrm>
          <a:prstGeom prst="round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noProof="0" dirty="0"/>
              <a:t>System prompt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0B557A2A-AC91-4EC8-84F3-4F2D10A731D0}"/>
              </a:ext>
            </a:extLst>
          </p:cNvPr>
          <p:cNvSpPr txBox="1"/>
          <p:nvPr/>
        </p:nvSpPr>
        <p:spPr>
          <a:xfrm>
            <a:off x="1628990" y="1294630"/>
            <a:ext cx="158632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altLang="zh-CN" dirty="0"/>
              <a:t>Paper A und Paper B vergleichen</a:t>
            </a:r>
            <a:endParaRPr lang="de-AT" noProof="0" dirty="0">
              <a:latin typeface="Calibri"/>
            </a:endParaRPr>
          </a:p>
        </p:txBody>
      </p:sp>
      <p:sp>
        <p:nvSpPr>
          <p:cNvPr id="18" name="Rounded Rectangle 3">
            <a:extLst>
              <a:ext uri="{FF2B5EF4-FFF2-40B4-BE49-F238E27FC236}">
                <a16:creationId xmlns:a16="http://schemas.microsoft.com/office/drawing/2014/main" id="{CBB8897B-113B-4E11-C4DC-B36803350604}"/>
              </a:ext>
            </a:extLst>
          </p:cNvPr>
          <p:cNvSpPr/>
          <p:nvPr/>
        </p:nvSpPr>
        <p:spPr>
          <a:xfrm>
            <a:off x="3940689" y="2302578"/>
            <a:ext cx="738417" cy="369330"/>
          </a:xfrm>
          <a:prstGeom prst="roundRect">
            <a:avLst/>
          </a:prstGeom>
          <a:noFill/>
          <a:ln w="57150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r>
              <a:rPr lang="de-AT" noProof="0" dirty="0"/>
              <a:t>Claw</a:t>
            </a:r>
          </a:p>
        </p:txBody>
      </p:sp>
      <p:sp>
        <p:nvSpPr>
          <p:cNvPr id="19" name="Rounded Rectangle 3">
            <a:extLst>
              <a:ext uri="{FF2B5EF4-FFF2-40B4-BE49-F238E27FC236}">
                <a16:creationId xmlns:a16="http://schemas.microsoft.com/office/drawing/2014/main" id="{D883DB99-8CF7-D6C2-7AFE-E6B8A97F7590}"/>
              </a:ext>
            </a:extLst>
          </p:cNvPr>
          <p:cNvSpPr/>
          <p:nvPr/>
        </p:nvSpPr>
        <p:spPr>
          <a:xfrm>
            <a:off x="3940688" y="3360157"/>
            <a:ext cx="738417" cy="369330"/>
          </a:xfrm>
          <a:prstGeom prst="roundRect">
            <a:avLst/>
          </a:prstGeom>
          <a:noFill/>
          <a:ln w="57150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r>
              <a:rPr lang="de-AT" noProof="0" dirty="0"/>
              <a:t>Claw</a:t>
            </a:r>
          </a:p>
        </p:txBody>
      </p: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FC778701-1320-9DA5-CE29-FC382A863861}"/>
              </a:ext>
            </a:extLst>
          </p:cNvPr>
          <p:cNvCxnSpPr>
            <a:cxnSpLocks/>
            <a:stCxn id="4" idx="3"/>
            <a:endCxn id="18" idx="1"/>
          </p:cNvCxnSpPr>
          <p:nvPr/>
        </p:nvCxnSpPr>
        <p:spPr>
          <a:xfrm flipV="1">
            <a:off x="3710766" y="2487243"/>
            <a:ext cx="229923" cy="60056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3EA53580-B9E8-D38B-8C5B-BCED67514C6A}"/>
              </a:ext>
            </a:extLst>
          </p:cNvPr>
          <p:cNvCxnSpPr>
            <a:cxnSpLocks/>
            <a:stCxn id="4" idx="3"/>
            <a:endCxn id="19" idx="1"/>
          </p:cNvCxnSpPr>
          <p:nvPr/>
        </p:nvCxnSpPr>
        <p:spPr>
          <a:xfrm>
            <a:off x="3710766" y="3087808"/>
            <a:ext cx="229922" cy="45701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7F590B2C-ABBB-7A86-ED9F-FAFF1136331E}"/>
              </a:ext>
            </a:extLst>
          </p:cNvPr>
          <p:cNvCxnSpPr>
            <a:cxnSpLocks/>
            <a:stCxn id="19" idx="3"/>
          </p:cNvCxnSpPr>
          <p:nvPr/>
        </p:nvCxnSpPr>
        <p:spPr>
          <a:xfrm flipV="1">
            <a:off x="4679105" y="3087808"/>
            <a:ext cx="2896226" cy="45701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0" name="Rounded Rectangle 3">
            <a:extLst>
              <a:ext uri="{FF2B5EF4-FFF2-40B4-BE49-F238E27FC236}">
                <a16:creationId xmlns:a16="http://schemas.microsoft.com/office/drawing/2014/main" id="{A80229FD-649C-A682-3626-B4E656C0B07C}"/>
              </a:ext>
            </a:extLst>
          </p:cNvPr>
          <p:cNvSpPr/>
          <p:nvPr/>
        </p:nvSpPr>
        <p:spPr>
          <a:xfrm>
            <a:off x="5487759" y="4351205"/>
            <a:ext cx="1115432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altLang="zh-CN" sz="1600" dirty="0"/>
              <a:t>Nachricht</a:t>
            </a:r>
          </a:p>
        </p:txBody>
      </p:sp>
      <p:sp>
        <p:nvSpPr>
          <p:cNvPr id="31" name="Rounded Rectangle 3">
            <a:extLst>
              <a:ext uri="{FF2B5EF4-FFF2-40B4-BE49-F238E27FC236}">
                <a16:creationId xmlns:a16="http://schemas.microsoft.com/office/drawing/2014/main" id="{E9048967-BEA0-6E7D-72DA-4973E9BEE611}"/>
              </a:ext>
            </a:extLst>
          </p:cNvPr>
          <p:cNvSpPr/>
          <p:nvPr/>
        </p:nvSpPr>
        <p:spPr>
          <a:xfrm>
            <a:off x="5487759" y="3632183"/>
            <a:ext cx="1115432" cy="657077"/>
          </a:xfrm>
          <a:prstGeom prst="round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noProof="0" dirty="0"/>
              <a:t>System prompt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38F7DC3B-9796-75C8-30EB-AC8F79B6F298}"/>
              </a:ext>
            </a:extLst>
          </p:cNvPr>
          <p:cNvSpPr txBox="1"/>
          <p:nvPr/>
        </p:nvSpPr>
        <p:spPr>
          <a:xfrm>
            <a:off x="4682888" y="990854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altLang="zh-CN" dirty="0"/>
              <a:t>Paper A lesen und zusammenfassen</a:t>
            </a:r>
            <a:endParaRPr lang="de-AT" noProof="0" dirty="0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7D87D716-3C7A-7703-A3F3-AAFB8D2A2722}"/>
              </a:ext>
            </a:extLst>
          </p:cNvPr>
          <p:cNvSpPr txBox="1"/>
          <p:nvPr/>
        </p:nvSpPr>
        <p:spPr>
          <a:xfrm>
            <a:off x="4881719" y="4784071"/>
            <a:ext cx="23275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altLang="zh-CN" dirty="0"/>
              <a:t>Paper B lesen </a:t>
            </a:r>
          </a:p>
          <a:p>
            <a:pPr algn="ctr"/>
            <a:r>
              <a:rPr lang="de-DE" altLang="zh-CN" dirty="0"/>
              <a:t>und zusammenfassen</a:t>
            </a:r>
            <a:endParaRPr lang="de-AT" noProof="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E7CD78E-DE92-3CEA-5982-05C236689CF9}"/>
              </a:ext>
            </a:extLst>
          </p:cNvPr>
          <p:cNvSpPr txBox="1"/>
          <p:nvPr/>
        </p:nvSpPr>
        <p:spPr>
          <a:xfrm>
            <a:off x="7131908" y="4530221"/>
            <a:ext cx="20898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AT" noProof="0" dirty="0"/>
              <a:t>Cloud- oder </a:t>
            </a:r>
          </a:p>
          <a:p>
            <a:pPr algn="ctr"/>
            <a:r>
              <a:rPr lang="de-AT" noProof="0" dirty="0"/>
              <a:t>lokale Bereitstellung</a:t>
            </a:r>
          </a:p>
        </p:txBody>
      </p:sp>
      <p:sp>
        <p:nvSpPr>
          <p:cNvPr id="9" name="Rounded Rectangle 3">
            <a:extLst>
              <a:ext uri="{FF2B5EF4-FFF2-40B4-BE49-F238E27FC236}">
                <a16:creationId xmlns:a16="http://schemas.microsoft.com/office/drawing/2014/main" id="{DB98756C-2DDB-58AC-21A3-031E1DFD3CF3}"/>
              </a:ext>
            </a:extLst>
          </p:cNvPr>
          <p:cNvSpPr/>
          <p:nvPr/>
        </p:nvSpPr>
        <p:spPr>
          <a:xfrm>
            <a:off x="1951027" y="2302578"/>
            <a:ext cx="1115432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600" noProof="0" dirty="0"/>
              <a:t>Nachricht</a:t>
            </a:r>
          </a:p>
        </p:txBody>
      </p:sp>
      <p:sp>
        <p:nvSpPr>
          <p:cNvPr id="13" name="Rounded Rectangle 3">
            <a:extLst>
              <a:ext uri="{FF2B5EF4-FFF2-40B4-BE49-F238E27FC236}">
                <a16:creationId xmlns:a16="http://schemas.microsoft.com/office/drawing/2014/main" id="{91D823A6-4145-AE27-4A0E-25E0599FFA38}"/>
              </a:ext>
            </a:extLst>
          </p:cNvPr>
          <p:cNvSpPr/>
          <p:nvPr/>
        </p:nvSpPr>
        <p:spPr>
          <a:xfrm>
            <a:off x="5487759" y="2124743"/>
            <a:ext cx="1115432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600" noProof="0" dirty="0"/>
              <a:t>Nachricht</a:t>
            </a:r>
          </a:p>
        </p:txBody>
      </p:sp>
    </p:spTree>
    <p:extLst>
      <p:ext uri="{BB962C8B-B14F-4D97-AF65-F5344CB8AC3E}">
        <p14:creationId xmlns:p14="http://schemas.microsoft.com/office/powerpoint/2010/main" val="233243851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99A91B-841F-F55F-C128-59C032EF1D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E1C10239-1693-DF94-5877-40B37B3CC5B2}"/>
              </a:ext>
            </a:extLst>
          </p:cNvPr>
          <p:cNvSpPr/>
          <p:nvPr/>
        </p:nvSpPr>
        <p:spPr>
          <a:xfrm>
            <a:off x="357308" y="2438400"/>
            <a:ext cx="1447844" cy="2011680"/>
          </a:xfrm>
          <a:prstGeom prst="roundRect">
            <a:avLst/>
          </a:prstGeom>
          <a:noFill/>
          <a:ln w="57150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r>
              <a:rPr lang="de-AT" b="0" noProof="0" dirty="0">
                <a:latin typeface="Calibri"/>
              </a:rPr>
              <a:t>WhatsApp</a:t>
            </a:r>
          </a:p>
          <a:p>
            <a:pPr algn="ctr"/>
            <a:r>
              <a:rPr lang="de-AT" b="0" noProof="0" dirty="0">
                <a:latin typeface="Calibri"/>
              </a:rPr>
              <a:t>Telegram</a:t>
            </a:r>
          </a:p>
          <a:p>
            <a:pPr algn="ctr"/>
            <a:r>
              <a:rPr lang="de-AT" b="0" noProof="0" dirty="0">
                <a:latin typeface="Calibri"/>
              </a:rPr>
              <a:t>Discord</a:t>
            </a:r>
          </a:p>
          <a:p>
            <a:pPr algn="ctr"/>
            <a:r>
              <a:rPr lang="de-AT" noProof="0" dirty="0">
                <a:latin typeface="Calibri"/>
              </a:rPr>
              <a:t>WeChat</a:t>
            </a:r>
          </a:p>
          <a:p>
            <a:pPr algn="ctr"/>
            <a:r>
              <a:rPr lang="de-AT" b="0" noProof="0" dirty="0">
                <a:latin typeface="Calibri"/>
              </a:rPr>
              <a:t>QQ</a:t>
            </a:r>
          </a:p>
          <a:p>
            <a:pPr algn="ctr"/>
            <a:r>
              <a:rPr lang="de-AT" b="0" noProof="0" dirty="0">
                <a:latin typeface="Calibri"/>
              </a:rPr>
              <a:t>Web UI</a:t>
            </a:r>
          </a:p>
          <a:p>
            <a:pPr algn="ctr"/>
            <a:r>
              <a:rPr lang="de-AT" noProof="0" dirty="0">
                <a:latin typeface="Calibri"/>
              </a:rPr>
              <a:t>…</a:t>
            </a:r>
            <a:endParaRPr lang="de-AT" b="0" noProof="0" dirty="0">
              <a:latin typeface="Calibri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49924185-5008-9D93-20E5-9ED6859C645C}"/>
              </a:ext>
            </a:extLst>
          </p:cNvPr>
          <p:cNvSpPr/>
          <p:nvPr/>
        </p:nvSpPr>
        <p:spPr>
          <a:xfrm>
            <a:off x="2422154" y="2815459"/>
            <a:ext cx="1288612" cy="544698"/>
          </a:xfrm>
          <a:prstGeom prst="roundRect">
            <a:avLst/>
          </a:prstGeom>
          <a:noFill/>
          <a:ln w="57150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r>
              <a:rPr lang="de-AT" noProof="0" dirty="0"/>
              <a:t>OpenClaw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DBAF558F-3D69-DBAE-AADD-82ECC44CC94C}"/>
              </a:ext>
            </a:extLst>
          </p:cNvPr>
          <p:cNvSpPr/>
          <p:nvPr/>
        </p:nvSpPr>
        <p:spPr>
          <a:xfrm>
            <a:off x="7748752" y="2438400"/>
            <a:ext cx="1037940" cy="2011680"/>
          </a:xfrm>
          <a:prstGeom prst="roundRect">
            <a:avLst/>
          </a:prstGeom>
          <a:noFill/>
          <a:ln w="57150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r>
              <a:rPr lang="de-AT" b="0" noProof="0" dirty="0">
                <a:latin typeface="Calibri"/>
              </a:rPr>
              <a:t>Claude</a:t>
            </a:r>
          </a:p>
          <a:p>
            <a:pPr algn="ctr"/>
            <a:r>
              <a:rPr lang="de-AT" b="0" noProof="0" dirty="0">
                <a:latin typeface="Calibri"/>
              </a:rPr>
              <a:t>GPT</a:t>
            </a:r>
          </a:p>
          <a:p>
            <a:pPr algn="ctr"/>
            <a:r>
              <a:rPr lang="de-AT" b="0" noProof="0" dirty="0">
                <a:latin typeface="Calibri"/>
              </a:rPr>
              <a:t>Gemini</a:t>
            </a:r>
          </a:p>
          <a:p>
            <a:pPr algn="ctr"/>
            <a:r>
              <a:rPr lang="de-AT" noProof="0" dirty="0">
                <a:latin typeface="Calibri"/>
              </a:rPr>
              <a:t>…</a:t>
            </a:r>
            <a:endParaRPr lang="de-AT" b="0" noProof="0" dirty="0">
              <a:latin typeface="Calibri"/>
            </a:endParaRPr>
          </a:p>
        </p:txBody>
      </p:sp>
      <p:pic>
        <p:nvPicPr>
          <p:cNvPr id="1026" name="Picture 2" descr="Man ">
            <a:extLst>
              <a:ext uri="{FF2B5EF4-FFF2-40B4-BE49-F238E27FC236}">
                <a16:creationId xmlns:a16="http://schemas.microsoft.com/office/drawing/2014/main" id="{54169F62-8FDE-A362-CDDA-E93ED7E856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892" y="1077685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Big data ">
            <a:extLst>
              <a:ext uri="{FF2B5EF4-FFF2-40B4-BE49-F238E27FC236}">
                <a16:creationId xmlns:a16="http://schemas.microsoft.com/office/drawing/2014/main" id="{8CE3CD00-CBDA-4E5E-AF64-8AEED0FADF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8122" y="1219200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" name="直接箭头连接符 1">
            <a:extLst>
              <a:ext uri="{FF2B5EF4-FFF2-40B4-BE49-F238E27FC236}">
                <a16:creationId xmlns:a16="http://schemas.microsoft.com/office/drawing/2014/main" id="{5FA1D713-1315-B524-493E-5FDCC144DA45}"/>
              </a:ext>
            </a:extLst>
          </p:cNvPr>
          <p:cNvCxnSpPr/>
          <p:nvPr/>
        </p:nvCxnSpPr>
        <p:spPr>
          <a:xfrm>
            <a:off x="1882198" y="2963918"/>
            <a:ext cx="4572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13C6645C-FCEE-69DB-9B6C-334B1A0B7D6F}"/>
              </a:ext>
            </a:extLst>
          </p:cNvPr>
          <p:cNvCxnSpPr>
            <a:cxnSpLocks/>
            <a:stCxn id="18" idx="3"/>
          </p:cNvCxnSpPr>
          <p:nvPr/>
        </p:nvCxnSpPr>
        <p:spPr>
          <a:xfrm>
            <a:off x="4679106" y="2487243"/>
            <a:ext cx="2896225" cy="47667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2" name="Rounded Rectangle 3">
            <a:extLst>
              <a:ext uri="{FF2B5EF4-FFF2-40B4-BE49-F238E27FC236}">
                <a16:creationId xmlns:a16="http://schemas.microsoft.com/office/drawing/2014/main" id="{9545C31F-1A73-B58C-F916-35F9B469AAEC}"/>
              </a:ext>
            </a:extLst>
          </p:cNvPr>
          <p:cNvSpPr/>
          <p:nvPr/>
        </p:nvSpPr>
        <p:spPr>
          <a:xfrm>
            <a:off x="5487759" y="1408652"/>
            <a:ext cx="1115432" cy="657077"/>
          </a:xfrm>
          <a:prstGeom prst="round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noProof="0" dirty="0"/>
              <a:t>System prompt</a:t>
            </a:r>
          </a:p>
        </p:txBody>
      </p:sp>
      <p:sp>
        <p:nvSpPr>
          <p:cNvPr id="18" name="Rounded Rectangle 3">
            <a:extLst>
              <a:ext uri="{FF2B5EF4-FFF2-40B4-BE49-F238E27FC236}">
                <a16:creationId xmlns:a16="http://schemas.microsoft.com/office/drawing/2014/main" id="{E5DBAEEE-2BC5-A2DF-9460-4A55004FED43}"/>
              </a:ext>
            </a:extLst>
          </p:cNvPr>
          <p:cNvSpPr/>
          <p:nvPr/>
        </p:nvSpPr>
        <p:spPr>
          <a:xfrm>
            <a:off x="3940689" y="2302578"/>
            <a:ext cx="738417" cy="369330"/>
          </a:xfrm>
          <a:prstGeom prst="roundRect">
            <a:avLst/>
          </a:prstGeom>
          <a:noFill/>
          <a:ln w="57150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r>
              <a:rPr lang="de-AT" noProof="0" dirty="0"/>
              <a:t>Claw</a:t>
            </a:r>
          </a:p>
        </p:txBody>
      </p:sp>
      <p:sp>
        <p:nvSpPr>
          <p:cNvPr id="19" name="Rounded Rectangle 3">
            <a:extLst>
              <a:ext uri="{FF2B5EF4-FFF2-40B4-BE49-F238E27FC236}">
                <a16:creationId xmlns:a16="http://schemas.microsoft.com/office/drawing/2014/main" id="{2B2A188E-B779-E76C-F24C-D80085C72167}"/>
              </a:ext>
            </a:extLst>
          </p:cNvPr>
          <p:cNvSpPr/>
          <p:nvPr/>
        </p:nvSpPr>
        <p:spPr>
          <a:xfrm>
            <a:off x="3940688" y="3360157"/>
            <a:ext cx="738417" cy="369330"/>
          </a:xfrm>
          <a:prstGeom prst="roundRect">
            <a:avLst/>
          </a:prstGeom>
          <a:noFill/>
          <a:ln w="57150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r>
              <a:rPr lang="de-AT" noProof="0" dirty="0"/>
              <a:t>Claw</a:t>
            </a:r>
          </a:p>
        </p:txBody>
      </p: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9A325206-D02C-E1EB-6DF9-6EC383C43F6C}"/>
              </a:ext>
            </a:extLst>
          </p:cNvPr>
          <p:cNvCxnSpPr>
            <a:cxnSpLocks/>
            <a:stCxn id="4" idx="3"/>
            <a:endCxn id="18" idx="1"/>
          </p:cNvCxnSpPr>
          <p:nvPr/>
        </p:nvCxnSpPr>
        <p:spPr>
          <a:xfrm flipV="1">
            <a:off x="3710766" y="2487243"/>
            <a:ext cx="229923" cy="60056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03DC9665-458B-AC64-63D4-8B94C0F2DB99}"/>
              </a:ext>
            </a:extLst>
          </p:cNvPr>
          <p:cNvCxnSpPr>
            <a:cxnSpLocks/>
            <a:stCxn id="4" idx="3"/>
            <a:endCxn id="19" idx="1"/>
          </p:cNvCxnSpPr>
          <p:nvPr/>
        </p:nvCxnSpPr>
        <p:spPr>
          <a:xfrm>
            <a:off x="3710766" y="3087808"/>
            <a:ext cx="229922" cy="45701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8451A0C9-D9C6-D56D-65F6-AB330F1E31C1}"/>
              </a:ext>
            </a:extLst>
          </p:cNvPr>
          <p:cNvCxnSpPr>
            <a:cxnSpLocks/>
            <a:stCxn id="19" idx="3"/>
          </p:cNvCxnSpPr>
          <p:nvPr/>
        </p:nvCxnSpPr>
        <p:spPr>
          <a:xfrm flipV="1">
            <a:off x="4679105" y="3087808"/>
            <a:ext cx="2896226" cy="45701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1" name="Rounded Rectangle 3">
            <a:extLst>
              <a:ext uri="{FF2B5EF4-FFF2-40B4-BE49-F238E27FC236}">
                <a16:creationId xmlns:a16="http://schemas.microsoft.com/office/drawing/2014/main" id="{34DEC72D-5960-E400-2D9A-263FFF65DFEE}"/>
              </a:ext>
            </a:extLst>
          </p:cNvPr>
          <p:cNvSpPr/>
          <p:nvPr/>
        </p:nvSpPr>
        <p:spPr>
          <a:xfrm>
            <a:off x="5487759" y="3632183"/>
            <a:ext cx="1115432" cy="657077"/>
          </a:xfrm>
          <a:prstGeom prst="round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noProof="0" dirty="0"/>
              <a:t>System prompt</a:t>
            </a:r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4917E79F-5B92-B17F-4A9E-58A220DF9650}"/>
              </a:ext>
            </a:extLst>
          </p:cNvPr>
          <p:cNvCxnSpPr>
            <a:cxnSpLocks/>
          </p:cNvCxnSpPr>
          <p:nvPr/>
        </p:nvCxnSpPr>
        <p:spPr>
          <a:xfrm flipH="1" flipV="1">
            <a:off x="4741049" y="2692250"/>
            <a:ext cx="2687151" cy="35887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6956CB7E-B111-AEEA-57D4-82D2D8E5B75C}"/>
              </a:ext>
            </a:extLst>
          </p:cNvPr>
          <p:cNvCxnSpPr>
            <a:cxnSpLocks/>
          </p:cNvCxnSpPr>
          <p:nvPr/>
        </p:nvCxnSpPr>
        <p:spPr>
          <a:xfrm flipH="1">
            <a:off x="4679105" y="3076160"/>
            <a:ext cx="2735761" cy="31427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773E875C-1DD3-85CA-F151-3359E0DD5E5C}"/>
              </a:ext>
            </a:extLst>
          </p:cNvPr>
          <p:cNvCxnSpPr>
            <a:cxnSpLocks/>
          </p:cNvCxnSpPr>
          <p:nvPr/>
        </p:nvCxnSpPr>
        <p:spPr>
          <a:xfrm flipH="1" flipV="1">
            <a:off x="3857120" y="3116229"/>
            <a:ext cx="123518" cy="26592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D92A8554-F953-1B81-9BB3-FE2838AF39E6}"/>
              </a:ext>
            </a:extLst>
          </p:cNvPr>
          <p:cNvCxnSpPr>
            <a:cxnSpLocks/>
          </p:cNvCxnSpPr>
          <p:nvPr/>
        </p:nvCxnSpPr>
        <p:spPr>
          <a:xfrm flipH="1">
            <a:off x="3825727" y="2693352"/>
            <a:ext cx="205591" cy="40143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34" name="Rounded Rectangle 3">
            <a:extLst>
              <a:ext uri="{FF2B5EF4-FFF2-40B4-BE49-F238E27FC236}">
                <a16:creationId xmlns:a16="http://schemas.microsoft.com/office/drawing/2014/main" id="{2C9E384A-EDE5-8A1B-9DC7-FDC0040D0480}"/>
              </a:ext>
            </a:extLst>
          </p:cNvPr>
          <p:cNvSpPr/>
          <p:nvPr/>
        </p:nvSpPr>
        <p:spPr>
          <a:xfrm>
            <a:off x="4449183" y="2733853"/>
            <a:ext cx="1371368" cy="389672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altLang="zh-CN" sz="1050" dirty="0"/>
              <a:t>Zusammenfassung A</a:t>
            </a:r>
            <a:endParaRPr lang="de-AT" sz="1050" noProof="0" dirty="0"/>
          </a:p>
        </p:txBody>
      </p:sp>
      <p:sp>
        <p:nvSpPr>
          <p:cNvPr id="35" name="Rounded Rectangle 3">
            <a:extLst>
              <a:ext uri="{FF2B5EF4-FFF2-40B4-BE49-F238E27FC236}">
                <a16:creationId xmlns:a16="http://schemas.microsoft.com/office/drawing/2014/main" id="{6999DEC5-81A3-AF51-1AD6-82CE4C9520FD}"/>
              </a:ext>
            </a:extLst>
          </p:cNvPr>
          <p:cNvSpPr/>
          <p:nvPr/>
        </p:nvSpPr>
        <p:spPr>
          <a:xfrm>
            <a:off x="5012991" y="3187206"/>
            <a:ext cx="1371368" cy="389672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altLang="zh-CN" sz="1050" dirty="0"/>
              <a:t>Zusammenfassung B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81FAF5C-21EE-0C29-F5B2-2111B3583E99}"/>
              </a:ext>
            </a:extLst>
          </p:cNvPr>
          <p:cNvSpPr txBox="1"/>
          <p:nvPr/>
        </p:nvSpPr>
        <p:spPr>
          <a:xfrm>
            <a:off x="1628990" y="1294630"/>
            <a:ext cx="158632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altLang="zh-CN" dirty="0"/>
              <a:t>Paper A und Paper B vergleichen</a:t>
            </a:r>
            <a:endParaRPr lang="de-AT" noProof="0" dirty="0">
              <a:latin typeface="Calibri"/>
            </a:endParaRPr>
          </a:p>
        </p:txBody>
      </p:sp>
      <p:sp>
        <p:nvSpPr>
          <p:cNvPr id="13" name="Rounded Rectangle 3">
            <a:extLst>
              <a:ext uri="{FF2B5EF4-FFF2-40B4-BE49-F238E27FC236}">
                <a16:creationId xmlns:a16="http://schemas.microsoft.com/office/drawing/2014/main" id="{D4A6E566-3156-89E1-02B0-C8A98FCDF8A2}"/>
              </a:ext>
            </a:extLst>
          </p:cNvPr>
          <p:cNvSpPr/>
          <p:nvPr/>
        </p:nvSpPr>
        <p:spPr>
          <a:xfrm>
            <a:off x="5487759" y="4351205"/>
            <a:ext cx="1115432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altLang="zh-CN" sz="1600" dirty="0"/>
              <a:t>Nachricht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8672CB0B-C4DA-657A-BF64-C8A78FB2BDA1}"/>
              </a:ext>
            </a:extLst>
          </p:cNvPr>
          <p:cNvSpPr txBox="1"/>
          <p:nvPr/>
        </p:nvSpPr>
        <p:spPr>
          <a:xfrm>
            <a:off x="4682888" y="990854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altLang="zh-CN" dirty="0"/>
              <a:t>Paper A lesen und zusammenfassen</a:t>
            </a:r>
            <a:endParaRPr lang="de-AT" noProof="0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0440028-D23E-7D66-23DD-2E43106EB8ED}"/>
              </a:ext>
            </a:extLst>
          </p:cNvPr>
          <p:cNvSpPr txBox="1"/>
          <p:nvPr/>
        </p:nvSpPr>
        <p:spPr>
          <a:xfrm>
            <a:off x="4881719" y="4784071"/>
            <a:ext cx="23275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altLang="zh-CN" dirty="0"/>
              <a:t>Paper B lesen </a:t>
            </a:r>
          </a:p>
          <a:p>
            <a:pPr algn="ctr"/>
            <a:r>
              <a:rPr lang="de-DE" altLang="zh-CN" dirty="0"/>
              <a:t>und zusammenfassen</a:t>
            </a:r>
            <a:endParaRPr lang="de-AT" noProof="0" dirty="0"/>
          </a:p>
        </p:txBody>
      </p:sp>
      <p:sp>
        <p:nvSpPr>
          <p:cNvPr id="22" name="Rounded Rectangle 3">
            <a:extLst>
              <a:ext uri="{FF2B5EF4-FFF2-40B4-BE49-F238E27FC236}">
                <a16:creationId xmlns:a16="http://schemas.microsoft.com/office/drawing/2014/main" id="{AB662FE5-EF2B-072D-D57F-221C2205F819}"/>
              </a:ext>
            </a:extLst>
          </p:cNvPr>
          <p:cNvSpPr/>
          <p:nvPr/>
        </p:nvSpPr>
        <p:spPr>
          <a:xfrm>
            <a:off x="1951027" y="2302578"/>
            <a:ext cx="1115432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600" noProof="0" dirty="0"/>
              <a:t>Nachricht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356DA606-051C-B137-D5D9-BA9A5C3BF8C7}"/>
              </a:ext>
            </a:extLst>
          </p:cNvPr>
          <p:cNvSpPr txBox="1"/>
          <p:nvPr/>
        </p:nvSpPr>
        <p:spPr>
          <a:xfrm>
            <a:off x="7131908" y="4530221"/>
            <a:ext cx="20898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AT" noProof="0" dirty="0"/>
              <a:t>Cloud- oder </a:t>
            </a:r>
          </a:p>
          <a:p>
            <a:pPr algn="ctr"/>
            <a:r>
              <a:rPr lang="de-AT" noProof="0" dirty="0"/>
              <a:t>lokale Bereitstellung</a:t>
            </a:r>
          </a:p>
        </p:txBody>
      </p:sp>
      <p:sp>
        <p:nvSpPr>
          <p:cNvPr id="28" name="Rounded Rectangle 3">
            <a:extLst>
              <a:ext uri="{FF2B5EF4-FFF2-40B4-BE49-F238E27FC236}">
                <a16:creationId xmlns:a16="http://schemas.microsoft.com/office/drawing/2014/main" id="{EFF43B09-E474-A3C3-D5CE-D011E452284B}"/>
              </a:ext>
            </a:extLst>
          </p:cNvPr>
          <p:cNvSpPr/>
          <p:nvPr/>
        </p:nvSpPr>
        <p:spPr>
          <a:xfrm>
            <a:off x="5487759" y="2124743"/>
            <a:ext cx="1115432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600" noProof="0" dirty="0"/>
              <a:t>Nachricht</a:t>
            </a:r>
          </a:p>
        </p:txBody>
      </p:sp>
    </p:spTree>
    <p:extLst>
      <p:ext uri="{BB962C8B-B14F-4D97-AF65-F5344CB8AC3E}">
        <p14:creationId xmlns:p14="http://schemas.microsoft.com/office/powerpoint/2010/main" val="72197431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A98892-7A14-A7E0-D21A-81425E091A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62F15330-C92D-1E2D-3F3D-A48836063586}"/>
              </a:ext>
            </a:extLst>
          </p:cNvPr>
          <p:cNvSpPr/>
          <p:nvPr/>
        </p:nvSpPr>
        <p:spPr>
          <a:xfrm>
            <a:off x="357308" y="2438400"/>
            <a:ext cx="1447844" cy="2011680"/>
          </a:xfrm>
          <a:prstGeom prst="roundRect">
            <a:avLst/>
          </a:prstGeom>
          <a:noFill/>
          <a:ln w="57150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r>
              <a:rPr lang="de-AT" b="0" noProof="0" dirty="0">
                <a:latin typeface="Calibri"/>
              </a:rPr>
              <a:t>WhatsApp</a:t>
            </a:r>
          </a:p>
          <a:p>
            <a:pPr algn="ctr"/>
            <a:r>
              <a:rPr lang="de-AT" b="0" noProof="0" dirty="0">
                <a:latin typeface="Calibri"/>
              </a:rPr>
              <a:t>Telegram</a:t>
            </a:r>
          </a:p>
          <a:p>
            <a:pPr algn="ctr"/>
            <a:r>
              <a:rPr lang="de-AT" b="0" noProof="0" dirty="0">
                <a:latin typeface="Calibri"/>
              </a:rPr>
              <a:t>Discord</a:t>
            </a:r>
          </a:p>
          <a:p>
            <a:pPr algn="ctr"/>
            <a:r>
              <a:rPr lang="de-AT" noProof="0" dirty="0">
                <a:latin typeface="Calibri"/>
              </a:rPr>
              <a:t>WeChat</a:t>
            </a:r>
          </a:p>
          <a:p>
            <a:pPr algn="ctr"/>
            <a:r>
              <a:rPr lang="de-AT" b="0" noProof="0" dirty="0">
                <a:latin typeface="Calibri"/>
              </a:rPr>
              <a:t>QQ</a:t>
            </a:r>
          </a:p>
          <a:p>
            <a:pPr algn="ctr"/>
            <a:r>
              <a:rPr lang="de-AT" b="0" noProof="0" dirty="0">
                <a:latin typeface="Calibri"/>
              </a:rPr>
              <a:t>Web UI</a:t>
            </a:r>
          </a:p>
          <a:p>
            <a:pPr algn="ctr"/>
            <a:r>
              <a:rPr lang="de-AT" noProof="0" dirty="0">
                <a:latin typeface="Calibri"/>
              </a:rPr>
              <a:t>…</a:t>
            </a:r>
            <a:endParaRPr lang="de-AT" b="0" noProof="0" dirty="0">
              <a:latin typeface="Calibri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FB4CDB70-BAA9-28BA-FFB1-9EA88302D84A}"/>
              </a:ext>
            </a:extLst>
          </p:cNvPr>
          <p:cNvSpPr/>
          <p:nvPr/>
        </p:nvSpPr>
        <p:spPr>
          <a:xfrm>
            <a:off x="2422154" y="2815459"/>
            <a:ext cx="1288612" cy="544698"/>
          </a:xfrm>
          <a:prstGeom prst="roundRect">
            <a:avLst/>
          </a:prstGeom>
          <a:noFill/>
          <a:ln w="57150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r>
              <a:rPr lang="de-AT" noProof="0" dirty="0"/>
              <a:t>OpenClaw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2BD1CD57-5839-D5E6-AD86-04156346E7C1}"/>
              </a:ext>
            </a:extLst>
          </p:cNvPr>
          <p:cNvSpPr/>
          <p:nvPr/>
        </p:nvSpPr>
        <p:spPr>
          <a:xfrm>
            <a:off x="7748752" y="2438400"/>
            <a:ext cx="1037940" cy="2011680"/>
          </a:xfrm>
          <a:prstGeom prst="roundRect">
            <a:avLst/>
          </a:prstGeom>
          <a:noFill/>
          <a:ln w="57150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r>
              <a:rPr lang="de-AT" b="0" noProof="0" dirty="0">
                <a:latin typeface="Calibri"/>
              </a:rPr>
              <a:t>Claude</a:t>
            </a:r>
          </a:p>
          <a:p>
            <a:pPr algn="ctr"/>
            <a:r>
              <a:rPr lang="de-AT" b="0" noProof="0" dirty="0">
                <a:latin typeface="Calibri"/>
              </a:rPr>
              <a:t>GPT</a:t>
            </a:r>
          </a:p>
          <a:p>
            <a:pPr algn="ctr"/>
            <a:r>
              <a:rPr lang="de-AT" b="0" noProof="0" dirty="0">
                <a:latin typeface="Calibri"/>
              </a:rPr>
              <a:t>Gemini</a:t>
            </a:r>
          </a:p>
          <a:p>
            <a:pPr algn="ctr"/>
            <a:r>
              <a:rPr lang="de-AT" noProof="0" dirty="0">
                <a:latin typeface="Calibri"/>
              </a:rPr>
              <a:t>…</a:t>
            </a:r>
            <a:endParaRPr lang="de-AT" b="0" noProof="0" dirty="0">
              <a:latin typeface="Calibri"/>
            </a:endParaRPr>
          </a:p>
        </p:txBody>
      </p:sp>
      <p:pic>
        <p:nvPicPr>
          <p:cNvPr id="1026" name="Picture 2" descr="Man ">
            <a:extLst>
              <a:ext uri="{FF2B5EF4-FFF2-40B4-BE49-F238E27FC236}">
                <a16:creationId xmlns:a16="http://schemas.microsoft.com/office/drawing/2014/main" id="{76CD903D-AB1B-F01B-AB43-1B07D6996C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892" y="1077685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Big data ">
            <a:extLst>
              <a:ext uri="{FF2B5EF4-FFF2-40B4-BE49-F238E27FC236}">
                <a16:creationId xmlns:a16="http://schemas.microsoft.com/office/drawing/2014/main" id="{C1AC76FC-6DC3-E0E9-2BB5-6DCEBDB63B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8122" y="1219200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" name="直接箭头连接符 1">
            <a:extLst>
              <a:ext uri="{FF2B5EF4-FFF2-40B4-BE49-F238E27FC236}">
                <a16:creationId xmlns:a16="http://schemas.microsoft.com/office/drawing/2014/main" id="{C911A595-63E9-281C-261E-4807897CA7CE}"/>
              </a:ext>
            </a:extLst>
          </p:cNvPr>
          <p:cNvCxnSpPr/>
          <p:nvPr/>
        </p:nvCxnSpPr>
        <p:spPr>
          <a:xfrm>
            <a:off x="1882198" y="2963918"/>
            <a:ext cx="4572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871537D7-6E3E-9471-BF27-D9BAEF287E19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3710766" y="3087808"/>
            <a:ext cx="394735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9" name="Rounded Rectangle 3">
            <a:extLst>
              <a:ext uri="{FF2B5EF4-FFF2-40B4-BE49-F238E27FC236}">
                <a16:creationId xmlns:a16="http://schemas.microsoft.com/office/drawing/2014/main" id="{94F71E29-BB18-03D1-BF8A-7964964FA3E6}"/>
              </a:ext>
            </a:extLst>
          </p:cNvPr>
          <p:cNvSpPr/>
          <p:nvPr/>
        </p:nvSpPr>
        <p:spPr>
          <a:xfrm>
            <a:off x="4749567" y="2239206"/>
            <a:ext cx="1371368" cy="389672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altLang="zh-CN" sz="1050" dirty="0"/>
              <a:t>Zusammenfassung A</a:t>
            </a:r>
          </a:p>
        </p:txBody>
      </p:sp>
      <p:sp>
        <p:nvSpPr>
          <p:cNvPr id="13" name="Rounded Rectangle 3">
            <a:extLst>
              <a:ext uri="{FF2B5EF4-FFF2-40B4-BE49-F238E27FC236}">
                <a16:creationId xmlns:a16="http://schemas.microsoft.com/office/drawing/2014/main" id="{EDCE4A1D-884F-21C8-1F37-C73B3C0111A6}"/>
              </a:ext>
            </a:extLst>
          </p:cNvPr>
          <p:cNvSpPr/>
          <p:nvPr/>
        </p:nvSpPr>
        <p:spPr>
          <a:xfrm>
            <a:off x="4749567" y="2639475"/>
            <a:ext cx="1371368" cy="389672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altLang="zh-CN" sz="1050" dirty="0"/>
              <a:t>Zusammenfassung B</a:t>
            </a:r>
          </a:p>
        </p:txBody>
      </p:sp>
      <p:sp>
        <p:nvSpPr>
          <p:cNvPr id="22" name="Rounded Rectangle 3">
            <a:extLst>
              <a:ext uri="{FF2B5EF4-FFF2-40B4-BE49-F238E27FC236}">
                <a16:creationId xmlns:a16="http://schemas.microsoft.com/office/drawing/2014/main" id="{F1F17CF8-E093-F11D-4CE4-BDE406EF3CD8}"/>
              </a:ext>
            </a:extLst>
          </p:cNvPr>
          <p:cNvSpPr/>
          <p:nvPr/>
        </p:nvSpPr>
        <p:spPr>
          <a:xfrm>
            <a:off x="4879004" y="1789668"/>
            <a:ext cx="1115432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altLang="zh-CN" sz="1600" dirty="0"/>
              <a:t>Nachricht</a:t>
            </a:r>
          </a:p>
        </p:txBody>
      </p:sp>
      <p:sp>
        <p:nvSpPr>
          <p:cNvPr id="25" name="Rounded Rectangle 3">
            <a:extLst>
              <a:ext uri="{FF2B5EF4-FFF2-40B4-BE49-F238E27FC236}">
                <a16:creationId xmlns:a16="http://schemas.microsoft.com/office/drawing/2014/main" id="{9D0CE49E-7076-FC46-9000-4D6443A08AF8}"/>
              </a:ext>
            </a:extLst>
          </p:cNvPr>
          <p:cNvSpPr/>
          <p:nvPr/>
        </p:nvSpPr>
        <p:spPr>
          <a:xfrm>
            <a:off x="4879004" y="1055759"/>
            <a:ext cx="1115432" cy="657077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noProof="0" dirty="0"/>
              <a:t>System prompt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DC1EAD2-09E1-A0E9-3537-0FA2E5F39929}"/>
              </a:ext>
            </a:extLst>
          </p:cNvPr>
          <p:cNvSpPr txBox="1"/>
          <p:nvPr/>
        </p:nvSpPr>
        <p:spPr>
          <a:xfrm>
            <a:off x="1628990" y="1294630"/>
            <a:ext cx="158632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altLang="zh-CN" dirty="0"/>
              <a:t>Paper A und Paper B vergleichen</a:t>
            </a:r>
            <a:endParaRPr lang="de-AT" noProof="0" dirty="0">
              <a:latin typeface="Calibri"/>
            </a:endParaRPr>
          </a:p>
        </p:txBody>
      </p:sp>
      <p:sp>
        <p:nvSpPr>
          <p:cNvPr id="11" name="Rounded Rectangle 3">
            <a:extLst>
              <a:ext uri="{FF2B5EF4-FFF2-40B4-BE49-F238E27FC236}">
                <a16:creationId xmlns:a16="http://schemas.microsoft.com/office/drawing/2014/main" id="{A6BCB632-F292-8845-0FCC-8D086FD1B004}"/>
              </a:ext>
            </a:extLst>
          </p:cNvPr>
          <p:cNvSpPr/>
          <p:nvPr/>
        </p:nvSpPr>
        <p:spPr>
          <a:xfrm>
            <a:off x="1951027" y="2302578"/>
            <a:ext cx="1115432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600" noProof="0" dirty="0"/>
              <a:t>Nachricht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5991904-22D0-A3CC-FE66-8D6C8CD45F92}"/>
              </a:ext>
            </a:extLst>
          </p:cNvPr>
          <p:cNvSpPr txBox="1"/>
          <p:nvPr/>
        </p:nvSpPr>
        <p:spPr>
          <a:xfrm>
            <a:off x="7131908" y="4530221"/>
            <a:ext cx="20898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AT" noProof="0" dirty="0"/>
              <a:t>Cloud- oder </a:t>
            </a:r>
          </a:p>
          <a:p>
            <a:pPr algn="ctr"/>
            <a:r>
              <a:rPr lang="de-AT" noProof="0" dirty="0"/>
              <a:t>lokale Bereitstellung</a:t>
            </a:r>
          </a:p>
        </p:txBody>
      </p:sp>
    </p:spTree>
    <p:extLst>
      <p:ext uri="{BB962C8B-B14F-4D97-AF65-F5344CB8AC3E}">
        <p14:creationId xmlns:p14="http://schemas.microsoft.com/office/powerpoint/2010/main" val="153219352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592434-2056-C051-592A-08368C152E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39C4FC86-18B8-A475-0B41-84A8F95F9D0D}"/>
              </a:ext>
            </a:extLst>
          </p:cNvPr>
          <p:cNvSpPr/>
          <p:nvPr/>
        </p:nvSpPr>
        <p:spPr>
          <a:xfrm>
            <a:off x="357308" y="2438400"/>
            <a:ext cx="1447844" cy="2011680"/>
          </a:xfrm>
          <a:prstGeom prst="roundRect">
            <a:avLst/>
          </a:prstGeom>
          <a:noFill/>
          <a:ln w="57150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r>
              <a:rPr lang="de-AT" b="0" noProof="0" dirty="0">
                <a:latin typeface="Calibri"/>
              </a:rPr>
              <a:t>WhatsApp</a:t>
            </a:r>
          </a:p>
          <a:p>
            <a:pPr algn="ctr"/>
            <a:r>
              <a:rPr lang="de-AT" b="0" noProof="0" dirty="0">
                <a:latin typeface="Calibri"/>
              </a:rPr>
              <a:t>Telegram</a:t>
            </a:r>
          </a:p>
          <a:p>
            <a:pPr algn="ctr"/>
            <a:r>
              <a:rPr lang="de-AT" b="0" noProof="0" dirty="0">
                <a:latin typeface="Calibri"/>
              </a:rPr>
              <a:t>Discord</a:t>
            </a:r>
          </a:p>
          <a:p>
            <a:pPr algn="ctr"/>
            <a:r>
              <a:rPr lang="de-AT" noProof="0" dirty="0">
                <a:latin typeface="Calibri"/>
              </a:rPr>
              <a:t>WeChat</a:t>
            </a:r>
          </a:p>
          <a:p>
            <a:pPr algn="ctr"/>
            <a:r>
              <a:rPr lang="de-AT" b="0" noProof="0" dirty="0">
                <a:latin typeface="Calibri"/>
              </a:rPr>
              <a:t>QQ</a:t>
            </a:r>
          </a:p>
          <a:p>
            <a:pPr algn="ctr"/>
            <a:r>
              <a:rPr lang="de-AT" b="0" noProof="0" dirty="0">
                <a:latin typeface="Calibri"/>
              </a:rPr>
              <a:t>Web UI</a:t>
            </a:r>
          </a:p>
          <a:p>
            <a:pPr algn="ctr"/>
            <a:r>
              <a:rPr lang="de-AT" noProof="0" dirty="0">
                <a:latin typeface="Calibri"/>
              </a:rPr>
              <a:t>…</a:t>
            </a:r>
            <a:endParaRPr lang="de-AT" b="0" noProof="0" dirty="0">
              <a:latin typeface="Calibri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5DE3C05-5F50-7EEF-6F3C-0F88161DD1E2}"/>
              </a:ext>
            </a:extLst>
          </p:cNvPr>
          <p:cNvSpPr/>
          <p:nvPr/>
        </p:nvSpPr>
        <p:spPr>
          <a:xfrm>
            <a:off x="2422154" y="2815459"/>
            <a:ext cx="1288612" cy="544698"/>
          </a:xfrm>
          <a:prstGeom prst="roundRect">
            <a:avLst/>
          </a:prstGeom>
          <a:noFill/>
          <a:ln w="57150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r>
              <a:rPr lang="de-AT" noProof="0" dirty="0"/>
              <a:t>OpenClaw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C5F776F1-355A-DD61-3B30-775144251BA4}"/>
              </a:ext>
            </a:extLst>
          </p:cNvPr>
          <p:cNvSpPr/>
          <p:nvPr/>
        </p:nvSpPr>
        <p:spPr>
          <a:xfrm>
            <a:off x="7748752" y="2438400"/>
            <a:ext cx="1037940" cy="2011680"/>
          </a:xfrm>
          <a:prstGeom prst="roundRect">
            <a:avLst/>
          </a:prstGeom>
          <a:noFill/>
          <a:ln w="57150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r>
              <a:rPr lang="de-AT" b="0" noProof="0" dirty="0">
                <a:latin typeface="Calibri"/>
              </a:rPr>
              <a:t>Claude</a:t>
            </a:r>
          </a:p>
          <a:p>
            <a:pPr algn="ctr"/>
            <a:r>
              <a:rPr lang="de-AT" b="0" noProof="0" dirty="0">
                <a:latin typeface="Calibri"/>
              </a:rPr>
              <a:t>GPT</a:t>
            </a:r>
          </a:p>
          <a:p>
            <a:pPr algn="ctr"/>
            <a:r>
              <a:rPr lang="de-AT" b="0" noProof="0" dirty="0">
                <a:latin typeface="Calibri"/>
              </a:rPr>
              <a:t>Gemini</a:t>
            </a:r>
          </a:p>
          <a:p>
            <a:pPr algn="ctr"/>
            <a:r>
              <a:rPr lang="de-AT" noProof="0" dirty="0">
                <a:latin typeface="Calibri"/>
              </a:rPr>
              <a:t>…</a:t>
            </a:r>
            <a:endParaRPr lang="de-AT" b="0" noProof="0" dirty="0">
              <a:latin typeface="Calibri"/>
            </a:endParaRPr>
          </a:p>
        </p:txBody>
      </p:sp>
      <p:pic>
        <p:nvPicPr>
          <p:cNvPr id="1026" name="Picture 2" descr="Man ">
            <a:extLst>
              <a:ext uri="{FF2B5EF4-FFF2-40B4-BE49-F238E27FC236}">
                <a16:creationId xmlns:a16="http://schemas.microsoft.com/office/drawing/2014/main" id="{B3604E48-9ADE-5636-EBEC-D0CFB70E90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892" y="1077685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Big data ">
            <a:extLst>
              <a:ext uri="{FF2B5EF4-FFF2-40B4-BE49-F238E27FC236}">
                <a16:creationId xmlns:a16="http://schemas.microsoft.com/office/drawing/2014/main" id="{55269476-F0C3-53D7-EF23-7081BE282B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8122" y="1219200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" name="直接箭头连接符 1">
            <a:extLst>
              <a:ext uri="{FF2B5EF4-FFF2-40B4-BE49-F238E27FC236}">
                <a16:creationId xmlns:a16="http://schemas.microsoft.com/office/drawing/2014/main" id="{83D91A67-039D-E7F5-C6D5-BE1D837E9CBA}"/>
              </a:ext>
            </a:extLst>
          </p:cNvPr>
          <p:cNvCxnSpPr/>
          <p:nvPr/>
        </p:nvCxnSpPr>
        <p:spPr>
          <a:xfrm>
            <a:off x="1882198" y="2963918"/>
            <a:ext cx="4572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1E7FED80-41BA-E1E7-E9BF-0B8DA47BC613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3710766" y="3087808"/>
            <a:ext cx="394735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1259913F-1D4E-154D-BF86-91AFED870D3C}"/>
              </a:ext>
            </a:extLst>
          </p:cNvPr>
          <p:cNvSpPr txBox="1"/>
          <p:nvPr/>
        </p:nvSpPr>
        <p:spPr>
          <a:xfrm>
            <a:off x="6071794" y="2305713"/>
            <a:ext cx="15863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AT" noProof="0" dirty="0">
                <a:solidFill>
                  <a:srgbClr val="00B050"/>
                </a:solidFill>
              </a:rPr>
              <a:t>Context Engineering</a:t>
            </a:r>
            <a:endParaRPr lang="de-AT" noProof="0" dirty="0">
              <a:solidFill>
                <a:srgbClr val="00B050"/>
              </a:solidFill>
              <a:latin typeface="Calibri"/>
            </a:endParaRPr>
          </a:p>
        </p:txBody>
      </p:sp>
      <p:sp>
        <p:nvSpPr>
          <p:cNvPr id="25" name="Rounded Rectangle 3">
            <a:extLst>
              <a:ext uri="{FF2B5EF4-FFF2-40B4-BE49-F238E27FC236}">
                <a16:creationId xmlns:a16="http://schemas.microsoft.com/office/drawing/2014/main" id="{696D7275-775B-271C-15E1-67E2493E5D12}"/>
              </a:ext>
            </a:extLst>
          </p:cNvPr>
          <p:cNvSpPr/>
          <p:nvPr/>
        </p:nvSpPr>
        <p:spPr>
          <a:xfrm>
            <a:off x="4879004" y="1055759"/>
            <a:ext cx="1115432" cy="657077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noProof="0" dirty="0"/>
              <a:t>System prompt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002F4A87-CDAF-08D4-C355-5D150165CF48}"/>
              </a:ext>
            </a:extLst>
          </p:cNvPr>
          <p:cNvSpPr/>
          <p:nvPr/>
        </p:nvSpPr>
        <p:spPr>
          <a:xfrm>
            <a:off x="4648840" y="2179340"/>
            <a:ext cx="1586328" cy="908468"/>
          </a:xfrm>
          <a:prstGeom prst="roundRect">
            <a:avLst/>
          </a:prstGeom>
          <a:noFill/>
          <a:ln w="28575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endParaRPr lang="de-AT" noProof="0" dirty="0"/>
          </a:p>
        </p:txBody>
      </p:sp>
      <p:sp>
        <p:nvSpPr>
          <p:cNvPr id="7" name="Rounded Rectangle 3">
            <a:extLst>
              <a:ext uri="{FF2B5EF4-FFF2-40B4-BE49-F238E27FC236}">
                <a16:creationId xmlns:a16="http://schemas.microsoft.com/office/drawing/2014/main" id="{FB5DF40B-8EDB-1CEE-1415-7648C84BBCF5}"/>
              </a:ext>
            </a:extLst>
          </p:cNvPr>
          <p:cNvSpPr/>
          <p:nvPr/>
        </p:nvSpPr>
        <p:spPr>
          <a:xfrm>
            <a:off x="4749567" y="2239206"/>
            <a:ext cx="1371368" cy="389672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altLang="zh-CN" sz="1050" dirty="0"/>
              <a:t>Zusammenfassung A</a:t>
            </a:r>
          </a:p>
        </p:txBody>
      </p:sp>
      <p:sp>
        <p:nvSpPr>
          <p:cNvPr id="11" name="Rounded Rectangle 3">
            <a:extLst>
              <a:ext uri="{FF2B5EF4-FFF2-40B4-BE49-F238E27FC236}">
                <a16:creationId xmlns:a16="http://schemas.microsoft.com/office/drawing/2014/main" id="{18B2B185-FA9E-F9EC-B832-216AB25D4D15}"/>
              </a:ext>
            </a:extLst>
          </p:cNvPr>
          <p:cNvSpPr/>
          <p:nvPr/>
        </p:nvSpPr>
        <p:spPr>
          <a:xfrm>
            <a:off x="4749567" y="2639475"/>
            <a:ext cx="1371368" cy="389672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altLang="zh-CN" sz="1050" dirty="0"/>
              <a:t>Zusammenfassung B</a:t>
            </a:r>
          </a:p>
        </p:txBody>
      </p:sp>
      <p:sp>
        <p:nvSpPr>
          <p:cNvPr id="14" name="Rounded Rectangle 3">
            <a:extLst>
              <a:ext uri="{FF2B5EF4-FFF2-40B4-BE49-F238E27FC236}">
                <a16:creationId xmlns:a16="http://schemas.microsoft.com/office/drawing/2014/main" id="{DA944ABB-E765-FCD5-F2A2-74311DCD7494}"/>
              </a:ext>
            </a:extLst>
          </p:cNvPr>
          <p:cNvSpPr/>
          <p:nvPr/>
        </p:nvSpPr>
        <p:spPr>
          <a:xfrm>
            <a:off x="4879004" y="1789668"/>
            <a:ext cx="1115432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altLang="zh-CN" sz="1600" dirty="0"/>
              <a:t>Nachricht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403EB93-4733-D6C2-19A8-A1ABF293D852}"/>
              </a:ext>
            </a:extLst>
          </p:cNvPr>
          <p:cNvSpPr txBox="1"/>
          <p:nvPr/>
        </p:nvSpPr>
        <p:spPr>
          <a:xfrm>
            <a:off x="1628990" y="1294630"/>
            <a:ext cx="158632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altLang="zh-CN" dirty="0"/>
              <a:t>Paper A und Paper B vergleichen</a:t>
            </a:r>
            <a:endParaRPr lang="de-AT" noProof="0" dirty="0">
              <a:latin typeface="Calibri"/>
            </a:endParaRPr>
          </a:p>
        </p:txBody>
      </p:sp>
      <p:sp>
        <p:nvSpPr>
          <p:cNvPr id="16" name="Rounded Rectangle 3">
            <a:extLst>
              <a:ext uri="{FF2B5EF4-FFF2-40B4-BE49-F238E27FC236}">
                <a16:creationId xmlns:a16="http://schemas.microsoft.com/office/drawing/2014/main" id="{2B11C69C-0007-D484-C239-69DF39EE678A}"/>
              </a:ext>
            </a:extLst>
          </p:cNvPr>
          <p:cNvSpPr/>
          <p:nvPr/>
        </p:nvSpPr>
        <p:spPr>
          <a:xfrm>
            <a:off x="1951027" y="2302578"/>
            <a:ext cx="1115432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600" noProof="0" dirty="0"/>
              <a:t>Nachricht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2AAF23FD-9775-FB75-67FE-BFD33950EE84}"/>
              </a:ext>
            </a:extLst>
          </p:cNvPr>
          <p:cNvSpPr txBox="1"/>
          <p:nvPr/>
        </p:nvSpPr>
        <p:spPr>
          <a:xfrm>
            <a:off x="7131908" y="4530221"/>
            <a:ext cx="20898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AT" noProof="0" dirty="0"/>
              <a:t>Cloud- oder </a:t>
            </a:r>
          </a:p>
          <a:p>
            <a:pPr algn="ctr"/>
            <a:r>
              <a:rPr lang="de-AT" noProof="0" dirty="0"/>
              <a:t>lokale Bereitstellung</a:t>
            </a:r>
          </a:p>
        </p:txBody>
      </p:sp>
    </p:spTree>
    <p:extLst>
      <p:ext uri="{BB962C8B-B14F-4D97-AF65-F5344CB8AC3E}">
        <p14:creationId xmlns:p14="http://schemas.microsoft.com/office/powerpoint/2010/main" val="87906612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1C3982-386F-29FC-9C93-96C8E38AA2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5811841-48D4-E6CB-3E4F-1A282CBC7EEE}"/>
              </a:ext>
            </a:extLst>
          </p:cNvPr>
          <p:cNvSpPr/>
          <p:nvPr/>
        </p:nvSpPr>
        <p:spPr>
          <a:xfrm>
            <a:off x="357308" y="2438400"/>
            <a:ext cx="1447844" cy="2011680"/>
          </a:xfrm>
          <a:prstGeom prst="roundRect">
            <a:avLst/>
          </a:prstGeom>
          <a:noFill/>
          <a:ln w="57150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r>
              <a:rPr lang="de-AT" b="0" noProof="0" dirty="0">
                <a:latin typeface="Calibri"/>
              </a:rPr>
              <a:t>WhatsApp</a:t>
            </a:r>
          </a:p>
          <a:p>
            <a:pPr algn="ctr"/>
            <a:r>
              <a:rPr lang="de-AT" b="0" noProof="0" dirty="0">
                <a:latin typeface="Calibri"/>
              </a:rPr>
              <a:t>Telegram</a:t>
            </a:r>
          </a:p>
          <a:p>
            <a:pPr algn="ctr"/>
            <a:r>
              <a:rPr lang="de-AT" b="0" noProof="0" dirty="0">
                <a:latin typeface="Calibri"/>
              </a:rPr>
              <a:t>Discord</a:t>
            </a:r>
          </a:p>
          <a:p>
            <a:pPr algn="ctr"/>
            <a:r>
              <a:rPr lang="de-AT" noProof="0" dirty="0">
                <a:latin typeface="Calibri"/>
              </a:rPr>
              <a:t>WeChat</a:t>
            </a:r>
          </a:p>
          <a:p>
            <a:pPr algn="ctr"/>
            <a:r>
              <a:rPr lang="de-AT" b="0" noProof="0" dirty="0">
                <a:latin typeface="Calibri"/>
              </a:rPr>
              <a:t>QQ</a:t>
            </a:r>
          </a:p>
          <a:p>
            <a:pPr algn="ctr"/>
            <a:r>
              <a:rPr lang="de-AT" b="0" noProof="0" dirty="0">
                <a:latin typeface="Calibri"/>
              </a:rPr>
              <a:t>Web UI</a:t>
            </a:r>
          </a:p>
          <a:p>
            <a:pPr algn="ctr"/>
            <a:r>
              <a:rPr lang="de-AT" noProof="0" dirty="0">
                <a:latin typeface="Calibri"/>
              </a:rPr>
              <a:t>…</a:t>
            </a:r>
            <a:endParaRPr lang="de-AT" b="0" noProof="0" dirty="0">
              <a:latin typeface="Calibri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EB4D3BFD-1F5A-4A98-C3FB-7362A15E78EB}"/>
              </a:ext>
            </a:extLst>
          </p:cNvPr>
          <p:cNvSpPr/>
          <p:nvPr/>
        </p:nvSpPr>
        <p:spPr>
          <a:xfrm>
            <a:off x="2422154" y="2815459"/>
            <a:ext cx="1288612" cy="544698"/>
          </a:xfrm>
          <a:prstGeom prst="roundRect">
            <a:avLst/>
          </a:prstGeom>
          <a:noFill/>
          <a:ln w="57150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r>
              <a:rPr lang="de-AT" noProof="0" dirty="0"/>
              <a:t>OpenClaw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DE177551-6614-F063-5B2A-E60A870B574F}"/>
              </a:ext>
            </a:extLst>
          </p:cNvPr>
          <p:cNvSpPr/>
          <p:nvPr/>
        </p:nvSpPr>
        <p:spPr>
          <a:xfrm>
            <a:off x="7748752" y="2438400"/>
            <a:ext cx="1037940" cy="2011680"/>
          </a:xfrm>
          <a:prstGeom prst="roundRect">
            <a:avLst/>
          </a:prstGeom>
          <a:noFill/>
          <a:ln w="57150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r>
              <a:rPr lang="de-AT" b="0" noProof="0" dirty="0">
                <a:latin typeface="Calibri"/>
              </a:rPr>
              <a:t>Claude</a:t>
            </a:r>
          </a:p>
          <a:p>
            <a:pPr algn="ctr"/>
            <a:r>
              <a:rPr lang="de-AT" b="0" noProof="0" dirty="0">
                <a:latin typeface="Calibri"/>
              </a:rPr>
              <a:t>GPT</a:t>
            </a:r>
          </a:p>
          <a:p>
            <a:pPr algn="ctr"/>
            <a:r>
              <a:rPr lang="de-AT" b="0" noProof="0" dirty="0">
                <a:latin typeface="Calibri"/>
              </a:rPr>
              <a:t>Gemini</a:t>
            </a:r>
          </a:p>
          <a:p>
            <a:pPr algn="ctr"/>
            <a:r>
              <a:rPr lang="de-AT" noProof="0" dirty="0">
                <a:latin typeface="Calibri"/>
              </a:rPr>
              <a:t>…</a:t>
            </a:r>
            <a:endParaRPr lang="de-AT" b="0" noProof="0" dirty="0">
              <a:latin typeface="Calibri"/>
            </a:endParaRPr>
          </a:p>
        </p:txBody>
      </p:sp>
      <p:pic>
        <p:nvPicPr>
          <p:cNvPr id="1026" name="Picture 2" descr="Man ">
            <a:extLst>
              <a:ext uri="{FF2B5EF4-FFF2-40B4-BE49-F238E27FC236}">
                <a16:creationId xmlns:a16="http://schemas.microsoft.com/office/drawing/2014/main" id="{CF79F125-20B6-63FD-46E6-D37B11FAF6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892" y="1077685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Big data ">
            <a:extLst>
              <a:ext uri="{FF2B5EF4-FFF2-40B4-BE49-F238E27FC236}">
                <a16:creationId xmlns:a16="http://schemas.microsoft.com/office/drawing/2014/main" id="{6E365A51-C682-D62A-221A-FD277ED99B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8122" y="1219200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" name="直接箭头连接符 1">
            <a:extLst>
              <a:ext uri="{FF2B5EF4-FFF2-40B4-BE49-F238E27FC236}">
                <a16:creationId xmlns:a16="http://schemas.microsoft.com/office/drawing/2014/main" id="{A02C6BE1-6736-8800-C6B0-925FBE735072}"/>
              </a:ext>
            </a:extLst>
          </p:cNvPr>
          <p:cNvCxnSpPr/>
          <p:nvPr/>
        </p:nvCxnSpPr>
        <p:spPr>
          <a:xfrm>
            <a:off x="1882198" y="2963918"/>
            <a:ext cx="4572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61CE8358-C411-72AB-1E12-26465BD6E369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3710766" y="3087808"/>
            <a:ext cx="394735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62182A29-C156-2B66-01B3-F7032AD31D71}"/>
              </a:ext>
            </a:extLst>
          </p:cNvPr>
          <p:cNvSpPr txBox="1"/>
          <p:nvPr/>
        </p:nvSpPr>
        <p:spPr>
          <a:xfrm>
            <a:off x="6071794" y="1706361"/>
            <a:ext cx="15863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AT" noProof="0" dirty="0">
                <a:solidFill>
                  <a:srgbClr val="00B050"/>
                </a:solidFill>
              </a:rPr>
              <a:t>Context Engineering</a:t>
            </a:r>
            <a:endParaRPr lang="de-AT" noProof="0" dirty="0">
              <a:solidFill>
                <a:srgbClr val="00B050"/>
              </a:solidFill>
              <a:latin typeface="Calibri"/>
            </a:endParaRPr>
          </a:p>
        </p:txBody>
      </p:sp>
      <p:sp>
        <p:nvSpPr>
          <p:cNvPr id="9" name="Rounded Rectangle 3">
            <a:extLst>
              <a:ext uri="{FF2B5EF4-FFF2-40B4-BE49-F238E27FC236}">
                <a16:creationId xmlns:a16="http://schemas.microsoft.com/office/drawing/2014/main" id="{C8F4053F-B1D6-046E-E59F-A67ABCF5811E}"/>
              </a:ext>
            </a:extLst>
          </p:cNvPr>
          <p:cNvSpPr/>
          <p:nvPr/>
        </p:nvSpPr>
        <p:spPr>
          <a:xfrm>
            <a:off x="4749567" y="1639854"/>
            <a:ext cx="1371368" cy="389672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altLang="zh-CN" sz="1050" dirty="0"/>
              <a:t>Zusammenfassung A</a:t>
            </a:r>
          </a:p>
        </p:txBody>
      </p:sp>
      <p:sp>
        <p:nvSpPr>
          <p:cNvPr id="13" name="Rounded Rectangle 3">
            <a:extLst>
              <a:ext uri="{FF2B5EF4-FFF2-40B4-BE49-F238E27FC236}">
                <a16:creationId xmlns:a16="http://schemas.microsoft.com/office/drawing/2014/main" id="{C102B58A-CAC1-8362-C5D5-E8BABC45B2E9}"/>
              </a:ext>
            </a:extLst>
          </p:cNvPr>
          <p:cNvSpPr/>
          <p:nvPr/>
        </p:nvSpPr>
        <p:spPr>
          <a:xfrm>
            <a:off x="4749567" y="2040123"/>
            <a:ext cx="1371368" cy="389672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altLang="zh-CN" sz="1050" dirty="0"/>
              <a:t>Zusammenfassung B</a:t>
            </a:r>
          </a:p>
        </p:txBody>
      </p:sp>
      <p:sp>
        <p:nvSpPr>
          <p:cNvPr id="22" name="Rounded Rectangle 3">
            <a:extLst>
              <a:ext uri="{FF2B5EF4-FFF2-40B4-BE49-F238E27FC236}">
                <a16:creationId xmlns:a16="http://schemas.microsoft.com/office/drawing/2014/main" id="{469A7307-CDF5-7D3D-35C0-CB455809C482}"/>
              </a:ext>
            </a:extLst>
          </p:cNvPr>
          <p:cNvSpPr/>
          <p:nvPr/>
        </p:nvSpPr>
        <p:spPr>
          <a:xfrm>
            <a:off x="4879004" y="1190316"/>
            <a:ext cx="1115432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altLang="zh-CN" sz="1600" dirty="0"/>
              <a:t>Nachricht</a:t>
            </a:r>
          </a:p>
        </p:txBody>
      </p:sp>
      <p:sp>
        <p:nvSpPr>
          <p:cNvPr id="25" name="Rounded Rectangle 3">
            <a:extLst>
              <a:ext uri="{FF2B5EF4-FFF2-40B4-BE49-F238E27FC236}">
                <a16:creationId xmlns:a16="http://schemas.microsoft.com/office/drawing/2014/main" id="{F0528CAF-ED60-61D7-0EA9-6CB85DF90F5F}"/>
              </a:ext>
            </a:extLst>
          </p:cNvPr>
          <p:cNvSpPr/>
          <p:nvPr/>
        </p:nvSpPr>
        <p:spPr>
          <a:xfrm>
            <a:off x="4879004" y="456407"/>
            <a:ext cx="1115432" cy="657077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noProof="0" dirty="0"/>
              <a:t>System prompt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9A722516-3DAC-78ED-145B-FF6813CDDA9E}"/>
              </a:ext>
            </a:extLst>
          </p:cNvPr>
          <p:cNvSpPr/>
          <p:nvPr/>
        </p:nvSpPr>
        <p:spPr>
          <a:xfrm>
            <a:off x="4648840" y="1579988"/>
            <a:ext cx="1586328" cy="908468"/>
          </a:xfrm>
          <a:prstGeom prst="roundRect">
            <a:avLst/>
          </a:prstGeom>
          <a:noFill/>
          <a:ln w="28575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endParaRPr lang="de-AT" noProof="0" dirty="0"/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1FDC283B-91A5-4464-8779-78AD04888227}"/>
              </a:ext>
            </a:extLst>
          </p:cNvPr>
          <p:cNvSpPr/>
          <p:nvPr/>
        </p:nvSpPr>
        <p:spPr>
          <a:xfrm>
            <a:off x="4648840" y="368837"/>
            <a:ext cx="1586328" cy="2658671"/>
          </a:xfrm>
          <a:prstGeom prst="roundRect">
            <a:avLst/>
          </a:prstGeom>
          <a:noFill/>
          <a:ln>
            <a:prstDash val="dash"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AT" noProof="0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05D2CB4-8C83-5D4D-0952-5238F40FB03E}"/>
              </a:ext>
            </a:extLst>
          </p:cNvPr>
          <p:cNvSpPr txBox="1"/>
          <p:nvPr/>
        </p:nvSpPr>
        <p:spPr>
          <a:xfrm>
            <a:off x="4495161" y="9972"/>
            <a:ext cx="17740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AT" noProof="0" dirty="0"/>
              <a:t>Context Window</a:t>
            </a:r>
            <a:endParaRPr lang="de-AT" noProof="0" dirty="0">
              <a:latin typeface="Calibri"/>
            </a:endParaRPr>
          </a:p>
        </p:txBody>
      </p:sp>
      <p:sp>
        <p:nvSpPr>
          <p:cNvPr id="14" name="Rounded Rectangle 3">
            <a:extLst>
              <a:ext uri="{FF2B5EF4-FFF2-40B4-BE49-F238E27FC236}">
                <a16:creationId xmlns:a16="http://schemas.microsoft.com/office/drawing/2014/main" id="{151279CD-0D26-3156-B206-AEF6FD3A8F21}"/>
              </a:ext>
            </a:extLst>
          </p:cNvPr>
          <p:cNvSpPr/>
          <p:nvPr/>
        </p:nvSpPr>
        <p:spPr>
          <a:xfrm>
            <a:off x="4877535" y="2530964"/>
            <a:ext cx="1115432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noProof="0" dirty="0"/>
              <a:t>…</a:t>
            </a:r>
          </a:p>
        </p:txBody>
      </p:sp>
      <p:sp>
        <p:nvSpPr>
          <p:cNvPr id="15" name="Rounded Rectangle 3">
            <a:extLst>
              <a:ext uri="{FF2B5EF4-FFF2-40B4-BE49-F238E27FC236}">
                <a16:creationId xmlns:a16="http://schemas.microsoft.com/office/drawing/2014/main" id="{5968E693-BC9B-DCDE-858C-50F025DA66F9}"/>
              </a:ext>
            </a:extLst>
          </p:cNvPr>
          <p:cNvSpPr/>
          <p:nvPr/>
        </p:nvSpPr>
        <p:spPr>
          <a:xfrm>
            <a:off x="1951027" y="2302578"/>
            <a:ext cx="1115432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600" noProof="0" dirty="0"/>
              <a:t>Nachricht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53885AA7-B357-1EAB-2206-5F6174058E8F}"/>
              </a:ext>
            </a:extLst>
          </p:cNvPr>
          <p:cNvSpPr txBox="1"/>
          <p:nvPr/>
        </p:nvSpPr>
        <p:spPr>
          <a:xfrm>
            <a:off x="7131908" y="4530221"/>
            <a:ext cx="20898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AT" noProof="0" dirty="0"/>
              <a:t>Cloud- oder </a:t>
            </a:r>
          </a:p>
          <a:p>
            <a:pPr algn="ctr"/>
            <a:r>
              <a:rPr lang="de-AT" noProof="0" dirty="0"/>
              <a:t>lokale Bereitstellung</a:t>
            </a:r>
          </a:p>
        </p:txBody>
      </p:sp>
    </p:spTree>
    <p:extLst>
      <p:ext uri="{BB962C8B-B14F-4D97-AF65-F5344CB8AC3E}">
        <p14:creationId xmlns:p14="http://schemas.microsoft.com/office/powerpoint/2010/main" val="85607232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74D106-F08F-EB33-1ACE-8927836A8D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E8470037-A6A0-6595-D161-D89BCE0B6C04}"/>
              </a:ext>
            </a:extLst>
          </p:cNvPr>
          <p:cNvSpPr/>
          <p:nvPr/>
        </p:nvSpPr>
        <p:spPr>
          <a:xfrm>
            <a:off x="357308" y="2438400"/>
            <a:ext cx="1447844" cy="2011680"/>
          </a:xfrm>
          <a:prstGeom prst="roundRect">
            <a:avLst/>
          </a:prstGeom>
          <a:noFill/>
          <a:ln w="57150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r>
              <a:rPr lang="de-AT" b="0" noProof="0" dirty="0">
                <a:latin typeface="Calibri"/>
              </a:rPr>
              <a:t>WhatsApp</a:t>
            </a:r>
          </a:p>
          <a:p>
            <a:pPr algn="ctr"/>
            <a:r>
              <a:rPr lang="de-AT" b="0" noProof="0" dirty="0">
                <a:latin typeface="Calibri"/>
              </a:rPr>
              <a:t>Telegram</a:t>
            </a:r>
          </a:p>
          <a:p>
            <a:pPr algn="ctr"/>
            <a:r>
              <a:rPr lang="de-AT" b="0" noProof="0" dirty="0">
                <a:latin typeface="Calibri"/>
              </a:rPr>
              <a:t>Discord</a:t>
            </a:r>
          </a:p>
          <a:p>
            <a:pPr algn="ctr"/>
            <a:r>
              <a:rPr lang="de-AT" noProof="0" dirty="0">
                <a:latin typeface="Calibri"/>
              </a:rPr>
              <a:t>WeChat</a:t>
            </a:r>
          </a:p>
          <a:p>
            <a:pPr algn="ctr"/>
            <a:r>
              <a:rPr lang="de-AT" b="0" noProof="0" dirty="0">
                <a:latin typeface="Calibri"/>
              </a:rPr>
              <a:t>QQ</a:t>
            </a:r>
          </a:p>
          <a:p>
            <a:pPr algn="ctr"/>
            <a:r>
              <a:rPr lang="de-AT" b="0" noProof="0" dirty="0">
                <a:latin typeface="Calibri"/>
              </a:rPr>
              <a:t>Web UI</a:t>
            </a:r>
          </a:p>
          <a:p>
            <a:pPr algn="ctr"/>
            <a:r>
              <a:rPr lang="de-AT" noProof="0" dirty="0">
                <a:latin typeface="Calibri"/>
              </a:rPr>
              <a:t>…</a:t>
            </a:r>
            <a:endParaRPr lang="de-AT" b="0" noProof="0" dirty="0">
              <a:latin typeface="Calibri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D84B3FCE-F081-A176-AB94-41FDF351607A}"/>
              </a:ext>
            </a:extLst>
          </p:cNvPr>
          <p:cNvSpPr/>
          <p:nvPr/>
        </p:nvSpPr>
        <p:spPr>
          <a:xfrm>
            <a:off x="2422154" y="2815459"/>
            <a:ext cx="1288612" cy="544698"/>
          </a:xfrm>
          <a:prstGeom prst="roundRect">
            <a:avLst/>
          </a:prstGeom>
          <a:noFill/>
          <a:ln w="57150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r>
              <a:rPr lang="de-AT" noProof="0" dirty="0"/>
              <a:t>OpenClaw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8703D0E3-92E6-F13E-8F94-F1F21ED9DB0C}"/>
              </a:ext>
            </a:extLst>
          </p:cNvPr>
          <p:cNvSpPr/>
          <p:nvPr/>
        </p:nvSpPr>
        <p:spPr>
          <a:xfrm>
            <a:off x="7748752" y="2438400"/>
            <a:ext cx="1037940" cy="2011680"/>
          </a:xfrm>
          <a:prstGeom prst="roundRect">
            <a:avLst/>
          </a:prstGeom>
          <a:noFill/>
          <a:ln w="57150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r>
              <a:rPr lang="de-AT" b="0" noProof="0" dirty="0">
                <a:latin typeface="Calibri"/>
              </a:rPr>
              <a:t>Claude</a:t>
            </a:r>
          </a:p>
          <a:p>
            <a:pPr algn="ctr"/>
            <a:r>
              <a:rPr lang="de-AT" b="0" noProof="0" dirty="0">
                <a:latin typeface="Calibri"/>
              </a:rPr>
              <a:t>GPT</a:t>
            </a:r>
          </a:p>
          <a:p>
            <a:pPr algn="ctr"/>
            <a:r>
              <a:rPr lang="de-AT" b="0" noProof="0" dirty="0">
                <a:latin typeface="Calibri"/>
              </a:rPr>
              <a:t>Gemini</a:t>
            </a:r>
          </a:p>
          <a:p>
            <a:pPr algn="ctr"/>
            <a:r>
              <a:rPr lang="de-AT" noProof="0" dirty="0">
                <a:latin typeface="Calibri"/>
              </a:rPr>
              <a:t>…</a:t>
            </a:r>
            <a:endParaRPr lang="de-AT" b="0" noProof="0" dirty="0">
              <a:latin typeface="Calibri"/>
            </a:endParaRPr>
          </a:p>
        </p:txBody>
      </p:sp>
      <p:pic>
        <p:nvPicPr>
          <p:cNvPr id="1026" name="Picture 2" descr="Man ">
            <a:extLst>
              <a:ext uri="{FF2B5EF4-FFF2-40B4-BE49-F238E27FC236}">
                <a16:creationId xmlns:a16="http://schemas.microsoft.com/office/drawing/2014/main" id="{7108A54B-27AB-4AA5-0F46-8520138417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892" y="1077685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Big data ">
            <a:extLst>
              <a:ext uri="{FF2B5EF4-FFF2-40B4-BE49-F238E27FC236}">
                <a16:creationId xmlns:a16="http://schemas.microsoft.com/office/drawing/2014/main" id="{16891663-84AA-18F4-47B7-8E9ACB9572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8122" y="1219200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" name="直接箭头连接符 1">
            <a:extLst>
              <a:ext uri="{FF2B5EF4-FFF2-40B4-BE49-F238E27FC236}">
                <a16:creationId xmlns:a16="http://schemas.microsoft.com/office/drawing/2014/main" id="{64A327D5-1CD6-0F9D-B905-5B8F38845EA3}"/>
              </a:ext>
            </a:extLst>
          </p:cNvPr>
          <p:cNvCxnSpPr/>
          <p:nvPr/>
        </p:nvCxnSpPr>
        <p:spPr>
          <a:xfrm>
            <a:off x="1882198" y="2963918"/>
            <a:ext cx="4572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8" name="Rounded Rectangle 3">
            <a:extLst>
              <a:ext uri="{FF2B5EF4-FFF2-40B4-BE49-F238E27FC236}">
                <a16:creationId xmlns:a16="http://schemas.microsoft.com/office/drawing/2014/main" id="{9CBF7B88-B8E7-18D4-A43C-F110A42FFBFB}"/>
              </a:ext>
            </a:extLst>
          </p:cNvPr>
          <p:cNvSpPr/>
          <p:nvPr/>
        </p:nvSpPr>
        <p:spPr>
          <a:xfrm>
            <a:off x="3940689" y="2302578"/>
            <a:ext cx="738417" cy="369330"/>
          </a:xfrm>
          <a:prstGeom prst="roundRect">
            <a:avLst/>
          </a:prstGeom>
          <a:noFill/>
          <a:ln w="57150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r>
              <a:rPr lang="de-AT" noProof="0" dirty="0"/>
              <a:t>Claw</a:t>
            </a:r>
          </a:p>
        </p:txBody>
      </p:sp>
      <p:sp>
        <p:nvSpPr>
          <p:cNvPr id="19" name="Rounded Rectangle 3">
            <a:extLst>
              <a:ext uri="{FF2B5EF4-FFF2-40B4-BE49-F238E27FC236}">
                <a16:creationId xmlns:a16="http://schemas.microsoft.com/office/drawing/2014/main" id="{2A068212-0547-EBE6-A234-28A8CFADA8A9}"/>
              </a:ext>
            </a:extLst>
          </p:cNvPr>
          <p:cNvSpPr/>
          <p:nvPr/>
        </p:nvSpPr>
        <p:spPr>
          <a:xfrm>
            <a:off x="4972073" y="2340926"/>
            <a:ext cx="534100" cy="292634"/>
          </a:xfrm>
          <a:prstGeom prst="roundRect">
            <a:avLst/>
          </a:prstGeom>
          <a:noFill/>
          <a:ln w="57150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r>
              <a:rPr lang="de-AT" sz="1200" noProof="0" dirty="0"/>
              <a:t>Claw</a:t>
            </a:r>
          </a:p>
        </p:txBody>
      </p: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583A233B-C9DB-9987-540F-8592F7A15C42}"/>
              </a:ext>
            </a:extLst>
          </p:cNvPr>
          <p:cNvCxnSpPr>
            <a:cxnSpLocks/>
            <a:stCxn id="4" idx="3"/>
            <a:endCxn id="18" idx="1"/>
          </p:cNvCxnSpPr>
          <p:nvPr/>
        </p:nvCxnSpPr>
        <p:spPr>
          <a:xfrm flipV="1">
            <a:off x="3710766" y="2487243"/>
            <a:ext cx="229923" cy="60056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9" name="Rounded Rectangle 3">
            <a:extLst>
              <a:ext uri="{FF2B5EF4-FFF2-40B4-BE49-F238E27FC236}">
                <a16:creationId xmlns:a16="http://schemas.microsoft.com/office/drawing/2014/main" id="{B02478C4-CA8C-4FDF-0D70-F02E6C4312E8}"/>
              </a:ext>
            </a:extLst>
          </p:cNvPr>
          <p:cNvSpPr/>
          <p:nvPr/>
        </p:nvSpPr>
        <p:spPr>
          <a:xfrm>
            <a:off x="5825588" y="2372640"/>
            <a:ext cx="534100" cy="229206"/>
          </a:xfrm>
          <a:prstGeom prst="roundRect">
            <a:avLst/>
          </a:prstGeom>
          <a:noFill/>
          <a:ln w="57150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r>
              <a:rPr lang="de-AT" sz="1050" noProof="0" dirty="0"/>
              <a:t>Claw</a:t>
            </a:r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8975002B-379A-D38B-AE29-4A6314BE7ECA}"/>
              </a:ext>
            </a:extLst>
          </p:cNvPr>
          <p:cNvCxnSpPr>
            <a:cxnSpLocks/>
            <a:stCxn id="18" idx="3"/>
            <a:endCxn id="19" idx="1"/>
          </p:cNvCxnSpPr>
          <p:nvPr/>
        </p:nvCxnSpPr>
        <p:spPr>
          <a:xfrm>
            <a:off x="4679106" y="2487243"/>
            <a:ext cx="292967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04DE9795-2EC7-3CE8-9071-12B045F0E4E6}"/>
              </a:ext>
            </a:extLst>
          </p:cNvPr>
          <p:cNvCxnSpPr>
            <a:cxnSpLocks/>
            <a:stCxn id="19" idx="3"/>
            <a:endCxn id="9" idx="1"/>
          </p:cNvCxnSpPr>
          <p:nvPr/>
        </p:nvCxnSpPr>
        <p:spPr>
          <a:xfrm>
            <a:off x="5506173" y="2487243"/>
            <a:ext cx="319415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6" name="Rounded Rectangle 3">
            <a:extLst>
              <a:ext uri="{FF2B5EF4-FFF2-40B4-BE49-F238E27FC236}">
                <a16:creationId xmlns:a16="http://schemas.microsoft.com/office/drawing/2014/main" id="{F87108DE-96F0-7D04-31B9-9072711A7384}"/>
              </a:ext>
            </a:extLst>
          </p:cNvPr>
          <p:cNvSpPr/>
          <p:nvPr/>
        </p:nvSpPr>
        <p:spPr>
          <a:xfrm>
            <a:off x="1951027" y="2302578"/>
            <a:ext cx="1115432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600" noProof="0" dirty="0"/>
              <a:t>Nachricht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9F9916E-03FE-F152-450E-C53156CBE734}"/>
              </a:ext>
            </a:extLst>
          </p:cNvPr>
          <p:cNvSpPr txBox="1"/>
          <p:nvPr/>
        </p:nvSpPr>
        <p:spPr>
          <a:xfrm>
            <a:off x="7131908" y="4530221"/>
            <a:ext cx="20898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AT" noProof="0" dirty="0"/>
              <a:t>Cloud- oder </a:t>
            </a:r>
          </a:p>
          <a:p>
            <a:pPr algn="ctr"/>
            <a:r>
              <a:rPr lang="de-AT" noProof="0" dirty="0"/>
              <a:t>lokale Bereitstellung</a:t>
            </a:r>
          </a:p>
        </p:txBody>
      </p:sp>
    </p:spTree>
    <p:extLst>
      <p:ext uri="{BB962C8B-B14F-4D97-AF65-F5344CB8AC3E}">
        <p14:creationId xmlns:p14="http://schemas.microsoft.com/office/powerpoint/2010/main" val="86017335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3FDAD7-3E21-67F5-1B42-26A3602B35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F882187A-4D85-FB90-EE1A-6D9A686B6CB0}"/>
              </a:ext>
            </a:extLst>
          </p:cNvPr>
          <p:cNvSpPr/>
          <p:nvPr/>
        </p:nvSpPr>
        <p:spPr>
          <a:xfrm>
            <a:off x="357308" y="2438400"/>
            <a:ext cx="1447844" cy="2011680"/>
          </a:xfrm>
          <a:prstGeom prst="roundRect">
            <a:avLst/>
          </a:prstGeom>
          <a:noFill/>
          <a:ln w="57150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r>
              <a:rPr lang="de-AT" b="0" noProof="0" dirty="0">
                <a:latin typeface="Calibri"/>
              </a:rPr>
              <a:t>WhatsApp</a:t>
            </a:r>
          </a:p>
          <a:p>
            <a:pPr algn="ctr"/>
            <a:r>
              <a:rPr lang="de-AT" b="0" noProof="0" dirty="0">
                <a:latin typeface="Calibri"/>
              </a:rPr>
              <a:t>Telegram</a:t>
            </a:r>
          </a:p>
          <a:p>
            <a:pPr algn="ctr"/>
            <a:r>
              <a:rPr lang="de-AT" b="0" noProof="0" dirty="0">
                <a:latin typeface="Calibri"/>
              </a:rPr>
              <a:t>Discord</a:t>
            </a:r>
          </a:p>
          <a:p>
            <a:pPr algn="ctr"/>
            <a:r>
              <a:rPr lang="de-AT" noProof="0" dirty="0">
                <a:latin typeface="Calibri"/>
              </a:rPr>
              <a:t>WeChat</a:t>
            </a:r>
          </a:p>
          <a:p>
            <a:pPr algn="ctr"/>
            <a:r>
              <a:rPr lang="de-AT" b="0" noProof="0" dirty="0">
                <a:latin typeface="Calibri"/>
              </a:rPr>
              <a:t>QQ</a:t>
            </a:r>
          </a:p>
          <a:p>
            <a:pPr algn="ctr"/>
            <a:r>
              <a:rPr lang="de-AT" b="0" noProof="0" dirty="0">
                <a:latin typeface="Calibri"/>
              </a:rPr>
              <a:t>Web UI</a:t>
            </a:r>
          </a:p>
          <a:p>
            <a:pPr algn="ctr"/>
            <a:r>
              <a:rPr lang="de-AT" noProof="0" dirty="0">
                <a:latin typeface="Calibri"/>
              </a:rPr>
              <a:t>…</a:t>
            </a:r>
            <a:endParaRPr lang="de-AT" b="0" noProof="0" dirty="0">
              <a:latin typeface="Calibri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C361ADC6-0944-9911-29FD-2928788462DB}"/>
              </a:ext>
            </a:extLst>
          </p:cNvPr>
          <p:cNvSpPr/>
          <p:nvPr/>
        </p:nvSpPr>
        <p:spPr>
          <a:xfrm>
            <a:off x="2422154" y="2815459"/>
            <a:ext cx="1288612" cy="544698"/>
          </a:xfrm>
          <a:prstGeom prst="roundRect">
            <a:avLst/>
          </a:prstGeom>
          <a:noFill/>
          <a:ln w="57150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r>
              <a:rPr lang="de-AT" noProof="0" dirty="0"/>
              <a:t>OpenClaw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4D532D2-0429-15BB-4B0B-4209F5C3F7FA}"/>
              </a:ext>
            </a:extLst>
          </p:cNvPr>
          <p:cNvSpPr/>
          <p:nvPr/>
        </p:nvSpPr>
        <p:spPr>
          <a:xfrm>
            <a:off x="7748752" y="2438400"/>
            <a:ext cx="1037940" cy="2011680"/>
          </a:xfrm>
          <a:prstGeom prst="roundRect">
            <a:avLst/>
          </a:prstGeom>
          <a:noFill/>
          <a:ln w="57150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r>
              <a:rPr lang="de-AT" b="0" noProof="0" dirty="0">
                <a:latin typeface="Calibri"/>
              </a:rPr>
              <a:t>Claude</a:t>
            </a:r>
          </a:p>
          <a:p>
            <a:pPr algn="ctr"/>
            <a:r>
              <a:rPr lang="de-AT" b="0" noProof="0" dirty="0">
                <a:latin typeface="Calibri"/>
              </a:rPr>
              <a:t>GPT</a:t>
            </a:r>
          </a:p>
          <a:p>
            <a:pPr algn="ctr"/>
            <a:r>
              <a:rPr lang="de-AT" b="0" noProof="0" dirty="0">
                <a:latin typeface="Calibri"/>
              </a:rPr>
              <a:t>Gemini</a:t>
            </a:r>
          </a:p>
          <a:p>
            <a:pPr algn="ctr"/>
            <a:r>
              <a:rPr lang="de-AT" noProof="0" dirty="0">
                <a:latin typeface="Calibri"/>
              </a:rPr>
              <a:t>…</a:t>
            </a:r>
            <a:endParaRPr lang="de-AT" b="0" noProof="0" dirty="0">
              <a:latin typeface="Calibri"/>
            </a:endParaRPr>
          </a:p>
        </p:txBody>
      </p:sp>
      <p:pic>
        <p:nvPicPr>
          <p:cNvPr id="1026" name="Picture 2" descr="Man ">
            <a:extLst>
              <a:ext uri="{FF2B5EF4-FFF2-40B4-BE49-F238E27FC236}">
                <a16:creationId xmlns:a16="http://schemas.microsoft.com/office/drawing/2014/main" id="{A678450D-92F3-C9A6-1287-95CED3DCA6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892" y="1077685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Big data ">
            <a:extLst>
              <a:ext uri="{FF2B5EF4-FFF2-40B4-BE49-F238E27FC236}">
                <a16:creationId xmlns:a16="http://schemas.microsoft.com/office/drawing/2014/main" id="{F2AC1BA1-3839-9753-90F6-FFD15D82DA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8122" y="1219200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35C9F1C9-A5A6-3AC1-9891-BEDDF8B5C19C}"/>
              </a:ext>
            </a:extLst>
          </p:cNvPr>
          <p:cNvCxnSpPr>
            <a:cxnSpLocks/>
          </p:cNvCxnSpPr>
          <p:nvPr/>
        </p:nvCxnSpPr>
        <p:spPr>
          <a:xfrm flipV="1">
            <a:off x="3046905" y="4016920"/>
            <a:ext cx="0" cy="29631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CA616CA4-8E4B-A872-8E61-301FB128F50F}"/>
              </a:ext>
            </a:extLst>
          </p:cNvPr>
          <p:cNvSpPr txBox="1"/>
          <p:nvPr/>
        </p:nvSpPr>
        <p:spPr>
          <a:xfrm>
            <a:off x="2027809" y="4437888"/>
            <a:ext cx="2038192" cy="369332"/>
          </a:xfrm>
          <a:prstGeom prst="rect">
            <a:avLst/>
          </a:prstGeom>
          <a:noFill/>
          <a:ln w="2857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wrap="square">
            <a:spAutoFit/>
          </a:bodyPr>
          <a:lstStyle/>
          <a:p>
            <a:pPr algn="ctr"/>
            <a:r>
              <a:rPr lang="de-AT" noProof="0" dirty="0"/>
              <a:t>SKILL.md</a:t>
            </a:r>
          </a:p>
        </p:txBody>
      </p:sp>
      <p:cxnSp>
        <p:nvCxnSpPr>
          <p:cNvPr id="2" name="直接箭头连接符 1">
            <a:extLst>
              <a:ext uri="{FF2B5EF4-FFF2-40B4-BE49-F238E27FC236}">
                <a16:creationId xmlns:a16="http://schemas.microsoft.com/office/drawing/2014/main" id="{B9942AC3-6BF7-C240-CB0C-B980A40A272B}"/>
              </a:ext>
            </a:extLst>
          </p:cNvPr>
          <p:cNvCxnSpPr/>
          <p:nvPr/>
        </p:nvCxnSpPr>
        <p:spPr>
          <a:xfrm>
            <a:off x="1882198" y="2963918"/>
            <a:ext cx="4572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BA657BB6-546F-1766-13DA-8513962AA598}"/>
              </a:ext>
            </a:extLst>
          </p:cNvPr>
          <p:cNvCxnSpPr>
            <a:cxnSpLocks/>
          </p:cNvCxnSpPr>
          <p:nvPr/>
        </p:nvCxnSpPr>
        <p:spPr>
          <a:xfrm>
            <a:off x="3837401" y="2963918"/>
            <a:ext cx="373793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2" name="Rounded Rectangle 3">
            <a:extLst>
              <a:ext uri="{FF2B5EF4-FFF2-40B4-BE49-F238E27FC236}">
                <a16:creationId xmlns:a16="http://schemas.microsoft.com/office/drawing/2014/main" id="{9CE0D5AA-20E3-5396-4D87-2A1794FA9977}"/>
              </a:ext>
            </a:extLst>
          </p:cNvPr>
          <p:cNvSpPr/>
          <p:nvPr/>
        </p:nvSpPr>
        <p:spPr>
          <a:xfrm>
            <a:off x="5519827" y="1568669"/>
            <a:ext cx="1115432" cy="657077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noProof="0" dirty="0"/>
              <a:t>System prompt</a:t>
            </a:r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FAE242C6-18ED-868A-6818-D771BF2BC240}"/>
              </a:ext>
            </a:extLst>
          </p:cNvPr>
          <p:cNvCxnSpPr>
            <a:cxnSpLocks/>
            <a:endCxn id="12" idx="1"/>
          </p:cNvCxnSpPr>
          <p:nvPr/>
        </p:nvCxnSpPr>
        <p:spPr>
          <a:xfrm flipV="1">
            <a:off x="3196558" y="1897208"/>
            <a:ext cx="2323269" cy="79504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Rounded Rectangle 3">
            <a:extLst>
              <a:ext uri="{FF2B5EF4-FFF2-40B4-BE49-F238E27FC236}">
                <a16:creationId xmlns:a16="http://schemas.microsoft.com/office/drawing/2014/main" id="{BAF6440A-92FA-F062-9865-A7F3B2CC58CB}"/>
              </a:ext>
            </a:extLst>
          </p:cNvPr>
          <p:cNvSpPr/>
          <p:nvPr/>
        </p:nvSpPr>
        <p:spPr>
          <a:xfrm>
            <a:off x="1951027" y="2302578"/>
            <a:ext cx="1115432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600" noProof="0" dirty="0"/>
              <a:t>Nachricht</a:t>
            </a:r>
          </a:p>
        </p:txBody>
      </p:sp>
      <p:sp>
        <p:nvSpPr>
          <p:cNvPr id="14" name="Rounded Rectangle 3">
            <a:extLst>
              <a:ext uri="{FF2B5EF4-FFF2-40B4-BE49-F238E27FC236}">
                <a16:creationId xmlns:a16="http://schemas.microsoft.com/office/drawing/2014/main" id="{26D1836C-9EC5-BCF7-4F6C-CD8DBE0F67B5}"/>
              </a:ext>
            </a:extLst>
          </p:cNvPr>
          <p:cNvSpPr/>
          <p:nvPr/>
        </p:nvSpPr>
        <p:spPr>
          <a:xfrm>
            <a:off x="5519827" y="2302578"/>
            <a:ext cx="1115432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600" noProof="0" dirty="0"/>
              <a:t>Nachricht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E13849E-69DE-811C-9894-65E3BD6A116E}"/>
              </a:ext>
            </a:extLst>
          </p:cNvPr>
          <p:cNvSpPr txBox="1"/>
          <p:nvPr/>
        </p:nvSpPr>
        <p:spPr>
          <a:xfrm>
            <a:off x="2283553" y="3370589"/>
            <a:ext cx="15658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noProof="0" dirty="0"/>
              <a:t>Läuft lokal auf </a:t>
            </a:r>
          </a:p>
          <a:p>
            <a:r>
              <a:rPr lang="de-AT" noProof="0" dirty="0"/>
              <a:t>deinem Gerät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C0707CD7-2FBA-F3C4-A1B7-FD791B217B3C}"/>
              </a:ext>
            </a:extLst>
          </p:cNvPr>
          <p:cNvSpPr txBox="1"/>
          <p:nvPr/>
        </p:nvSpPr>
        <p:spPr>
          <a:xfrm>
            <a:off x="7131908" y="4530221"/>
            <a:ext cx="20898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AT" noProof="0" dirty="0"/>
              <a:t>Cloud- oder </a:t>
            </a:r>
          </a:p>
          <a:p>
            <a:pPr algn="ctr"/>
            <a:r>
              <a:rPr lang="de-AT" noProof="0" dirty="0"/>
              <a:t>lokale Bereitstellung</a:t>
            </a:r>
          </a:p>
        </p:txBody>
      </p:sp>
    </p:spTree>
    <p:extLst>
      <p:ext uri="{BB962C8B-B14F-4D97-AF65-F5344CB8AC3E}">
        <p14:creationId xmlns:p14="http://schemas.microsoft.com/office/powerpoint/2010/main" val="324020506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7ADE26-98D7-A3C8-C817-E3A8F0FB51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739EC1E-11A7-BFFE-63BF-75D23E5F91C3}"/>
              </a:ext>
            </a:extLst>
          </p:cNvPr>
          <p:cNvSpPr/>
          <p:nvPr/>
        </p:nvSpPr>
        <p:spPr>
          <a:xfrm>
            <a:off x="2422154" y="2815459"/>
            <a:ext cx="1288612" cy="544698"/>
          </a:xfrm>
          <a:prstGeom prst="roundRect">
            <a:avLst/>
          </a:prstGeom>
          <a:noFill/>
          <a:ln w="57150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r>
              <a:rPr lang="de-AT" noProof="0" dirty="0"/>
              <a:t>OpenClaw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FD9692D-8031-696A-D64C-F0D0CF6C10DC}"/>
              </a:ext>
            </a:extLst>
          </p:cNvPr>
          <p:cNvSpPr/>
          <p:nvPr/>
        </p:nvSpPr>
        <p:spPr>
          <a:xfrm>
            <a:off x="7748752" y="2438400"/>
            <a:ext cx="1037940" cy="2011680"/>
          </a:xfrm>
          <a:prstGeom prst="roundRect">
            <a:avLst/>
          </a:prstGeom>
          <a:noFill/>
          <a:ln w="57150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r>
              <a:rPr lang="de-AT" b="0" noProof="0" dirty="0">
                <a:latin typeface="Calibri"/>
              </a:rPr>
              <a:t>Claude</a:t>
            </a:r>
          </a:p>
          <a:p>
            <a:pPr algn="ctr"/>
            <a:r>
              <a:rPr lang="de-AT" b="0" noProof="0" dirty="0">
                <a:latin typeface="Calibri"/>
              </a:rPr>
              <a:t>GPT</a:t>
            </a:r>
          </a:p>
          <a:p>
            <a:pPr algn="ctr"/>
            <a:r>
              <a:rPr lang="de-AT" b="0" noProof="0" dirty="0">
                <a:latin typeface="Calibri"/>
              </a:rPr>
              <a:t>Gemini</a:t>
            </a:r>
          </a:p>
          <a:p>
            <a:pPr algn="ctr"/>
            <a:r>
              <a:rPr lang="de-AT" noProof="0" dirty="0">
                <a:latin typeface="Calibri"/>
              </a:rPr>
              <a:t>…</a:t>
            </a:r>
            <a:endParaRPr lang="de-AT" b="0" noProof="0" dirty="0">
              <a:latin typeface="Calibri"/>
            </a:endParaRPr>
          </a:p>
        </p:txBody>
      </p:sp>
      <p:pic>
        <p:nvPicPr>
          <p:cNvPr id="1028" name="Picture 4" descr="Big data ">
            <a:extLst>
              <a:ext uri="{FF2B5EF4-FFF2-40B4-BE49-F238E27FC236}">
                <a16:creationId xmlns:a16="http://schemas.microsoft.com/office/drawing/2014/main" id="{C91F8637-E64B-ECA1-5DF8-95779E1B3A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8122" y="1219200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92662859-D9FD-4099-9E2C-92AB7F717ECB}"/>
              </a:ext>
            </a:extLst>
          </p:cNvPr>
          <p:cNvCxnSpPr>
            <a:cxnSpLocks/>
          </p:cNvCxnSpPr>
          <p:nvPr/>
        </p:nvCxnSpPr>
        <p:spPr>
          <a:xfrm flipV="1">
            <a:off x="3046905" y="4016920"/>
            <a:ext cx="0" cy="29631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D6783964-DAFD-17B3-AE16-CA90D6FF3EF2}"/>
              </a:ext>
            </a:extLst>
          </p:cNvPr>
          <p:cNvSpPr txBox="1"/>
          <p:nvPr/>
        </p:nvSpPr>
        <p:spPr>
          <a:xfrm>
            <a:off x="2027809" y="4437888"/>
            <a:ext cx="2038192" cy="369332"/>
          </a:xfrm>
          <a:prstGeom prst="rect">
            <a:avLst/>
          </a:prstGeom>
          <a:noFill/>
          <a:ln w="2857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wrap="square">
            <a:spAutoFit/>
          </a:bodyPr>
          <a:lstStyle/>
          <a:p>
            <a:pPr algn="ctr"/>
            <a:r>
              <a:rPr lang="de-AT" noProof="0" dirty="0"/>
              <a:t>HEARTBEAT.md</a:t>
            </a:r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61577DB6-6BD2-84F8-17F6-3034C89F2A98}"/>
              </a:ext>
            </a:extLst>
          </p:cNvPr>
          <p:cNvCxnSpPr>
            <a:cxnSpLocks/>
          </p:cNvCxnSpPr>
          <p:nvPr/>
        </p:nvCxnSpPr>
        <p:spPr>
          <a:xfrm>
            <a:off x="3837401" y="2963918"/>
            <a:ext cx="373793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2" name="Rounded Rectangle 3">
            <a:extLst>
              <a:ext uri="{FF2B5EF4-FFF2-40B4-BE49-F238E27FC236}">
                <a16:creationId xmlns:a16="http://schemas.microsoft.com/office/drawing/2014/main" id="{6B1981ED-03AC-7A3F-10AA-5B0DBB6172FE}"/>
              </a:ext>
            </a:extLst>
          </p:cNvPr>
          <p:cNvSpPr/>
          <p:nvPr/>
        </p:nvSpPr>
        <p:spPr>
          <a:xfrm>
            <a:off x="4962111" y="1069077"/>
            <a:ext cx="1115432" cy="657077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noProof="0" dirty="0"/>
              <a:t>System prompt</a:t>
            </a: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B25EFEE2-D5D6-327C-BC5F-C51DA33452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0577" y="1828800"/>
            <a:ext cx="3238500" cy="742950"/>
          </a:xfrm>
          <a:prstGeom prst="rect">
            <a:avLst/>
          </a:prstGeom>
        </p:spPr>
      </p:pic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C21D44FE-7932-17BA-D6A4-398B0AC86FC4}"/>
              </a:ext>
            </a:extLst>
          </p:cNvPr>
          <p:cNvCxnSpPr>
            <a:cxnSpLocks/>
          </p:cNvCxnSpPr>
          <p:nvPr/>
        </p:nvCxnSpPr>
        <p:spPr>
          <a:xfrm flipH="1">
            <a:off x="3849366" y="3176524"/>
            <a:ext cx="3626931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ADED7C3E-F4A2-248A-202E-0040DC46FC79}"/>
              </a:ext>
            </a:extLst>
          </p:cNvPr>
          <p:cNvSpPr txBox="1"/>
          <p:nvPr/>
        </p:nvSpPr>
        <p:spPr>
          <a:xfrm>
            <a:off x="2283553" y="3370589"/>
            <a:ext cx="15658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noProof="0" dirty="0"/>
              <a:t>Läuft lokal auf </a:t>
            </a:r>
          </a:p>
          <a:p>
            <a:r>
              <a:rPr lang="de-AT" noProof="0" dirty="0"/>
              <a:t>deinem Gerät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E37C1C3-C8BD-D43D-7FD5-A9303B112BD9}"/>
              </a:ext>
            </a:extLst>
          </p:cNvPr>
          <p:cNvSpPr txBox="1"/>
          <p:nvPr/>
        </p:nvSpPr>
        <p:spPr>
          <a:xfrm>
            <a:off x="7131908" y="4530221"/>
            <a:ext cx="20898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AT" noProof="0" dirty="0"/>
              <a:t>Cloud- oder </a:t>
            </a:r>
          </a:p>
          <a:p>
            <a:pPr algn="ctr"/>
            <a:r>
              <a:rPr lang="de-AT" noProof="0" dirty="0"/>
              <a:t>lokale Bereitstellung</a:t>
            </a:r>
          </a:p>
        </p:txBody>
      </p:sp>
    </p:spTree>
    <p:extLst>
      <p:ext uri="{BB962C8B-B14F-4D97-AF65-F5344CB8AC3E}">
        <p14:creationId xmlns:p14="http://schemas.microsoft.com/office/powerpoint/2010/main" val="365101997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3B0823-B78F-2291-85C5-ABBF0CA90A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C253D84F-F31D-1131-F9D7-AA0D2B732E17}"/>
              </a:ext>
            </a:extLst>
          </p:cNvPr>
          <p:cNvSpPr/>
          <p:nvPr/>
        </p:nvSpPr>
        <p:spPr>
          <a:xfrm>
            <a:off x="357308" y="2438400"/>
            <a:ext cx="1447844" cy="2011680"/>
          </a:xfrm>
          <a:prstGeom prst="roundRect">
            <a:avLst/>
          </a:prstGeom>
          <a:noFill/>
          <a:ln w="57150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r>
              <a:rPr lang="de-AT" b="0" noProof="0" dirty="0">
                <a:latin typeface="Calibri"/>
              </a:rPr>
              <a:t>WhatsApp</a:t>
            </a:r>
          </a:p>
          <a:p>
            <a:pPr algn="ctr"/>
            <a:r>
              <a:rPr lang="de-AT" b="0" noProof="0" dirty="0">
                <a:latin typeface="Calibri"/>
              </a:rPr>
              <a:t>Telegram</a:t>
            </a:r>
          </a:p>
          <a:p>
            <a:pPr algn="ctr"/>
            <a:r>
              <a:rPr lang="de-AT" b="0" noProof="0" dirty="0">
                <a:latin typeface="Calibri"/>
              </a:rPr>
              <a:t>Discord</a:t>
            </a:r>
          </a:p>
          <a:p>
            <a:pPr algn="ctr"/>
            <a:r>
              <a:rPr lang="de-AT" noProof="0" dirty="0">
                <a:latin typeface="Calibri"/>
              </a:rPr>
              <a:t>WeChat</a:t>
            </a:r>
          </a:p>
          <a:p>
            <a:pPr algn="ctr"/>
            <a:r>
              <a:rPr lang="de-AT" b="0" noProof="0" dirty="0">
                <a:latin typeface="Calibri"/>
              </a:rPr>
              <a:t>QQ</a:t>
            </a:r>
          </a:p>
          <a:p>
            <a:pPr algn="ctr"/>
            <a:r>
              <a:rPr lang="de-AT" b="0" noProof="0" dirty="0">
                <a:latin typeface="Calibri"/>
              </a:rPr>
              <a:t>Web UI</a:t>
            </a:r>
          </a:p>
          <a:p>
            <a:pPr algn="ctr"/>
            <a:r>
              <a:rPr lang="de-AT" noProof="0" dirty="0">
                <a:latin typeface="Calibri"/>
              </a:rPr>
              <a:t>…</a:t>
            </a:r>
            <a:endParaRPr lang="de-AT" b="0" noProof="0" dirty="0">
              <a:latin typeface="Calibri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C58EA3A8-387F-291E-CCBE-4BC211A79C23}"/>
              </a:ext>
            </a:extLst>
          </p:cNvPr>
          <p:cNvSpPr/>
          <p:nvPr/>
        </p:nvSpPr>
        <p:spPr>
          <a:xfrm>
            <a:off x="2422154" y="2815459"/>
            <a:ext cx="1288612" cy="544698"/>
          </a:xfrm>
          <a:prstGeom prst="roundRect">
            <a:avLst/>
          </a:prstGeom>
          <a:noFill/>
          <a:ln w="57150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r>
              <a:rPr lang="de-AT" noProof="0" dirty="0"/>
              <a:t>OpenClaw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B63B82C6-7036-577E-EA05-B7EEBF591A58}"/>
              </a:ext>
            </a:extLst>
          </p:cNvPr>
          <p:cNvSpPr/>
          <p:nvPr/>
        </p:nvSpPr>
        <p:spPr>
          <a:xfrm>
            <a:off x="7748752" y="2438400"/>
            <a:ext cx="1037940" cy="2011680"/>
          </a:xfrm>
          <a:prstGeom prst="roundRect">
            <a:avLst/>
          </a:prstGeom>
          <a:noFill/>
          <a:ln w="57150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r>
              <a:rPr lang="de-AT" b="0" noProof="0" dirty="0">
                <a:latin typeface="Calibri"/>
              </a:rPr>
              <a:t>Claude</a:t>
            </a:r>
          </a:p>
          <a:p>
            <a:pPr algn="ctr"/>
            <a:r>
              <a:rPr lang="de-AT" b="0" noProof="0" dirty="0">
                <a:latin typeface="Calibri"/>
              </a:rPr>
              <a:t>GPT</a:t>
            </a:r>
          </a:p>
          <a:p>
            <a:pPr algn="ctr"/>
            <a:r>
              <a:rPr lang="de-AT" b="0" noProof="0" dirty="0">
                <a:latin typeface="Calibri"/>
              </a:rPr>
              <a:t>Gemini</a:t>
            </a:r>
          </a:p>
          <a:p>
            <a:pPr algn="ctr"/>
            <a:r>
              <a:rPr lang="de-AT" noProof="0" dirty="0">
                <a:latin typeface="Calibri"/>
              </a:rPr>
              <a:t>…</a:t>
            </a:r>
            <a:endParaRPr lang="de-AT" b="0" noProof="0" dirty="0">
              <a:latin typeface="Calibri"/>
            </a:endParaRPr>
          </a:p>
        </p:txBody>
      </p:sp>
      <p:pic>
        <p:nvPicPr>
          <p:cNvPr id="1026" name="Picture 2" descr="Man ">
            <a:extLst>
              <a:ext uri="{FF2B5EF4-FFF2-40B4-BE49-F238E27FC236}">
                <a16:creationId xmlns:a16="http://schemas.microsoft.com/office/drawing/2014/main" id="{F5D76B5F-EBFF-B9C1-856E-7CB318F562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892" y="1077685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Big data ">
            <a:extLst>
              <a:ext uri="{FF2B5EF4-FFF2-40B4-BE49-F238E27FC236}">
                <a16:creationId xmlns:a16="http://schemas.microsoft.com/office/drawing/2014/main" id="{2A5373AB-2C4A-D030-ACFF-F05A50B2BA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8122" y="1219200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" name="直接箭头连接符 1">
            <a:extLst>
              <a:ext uri="{FF2B5EF4-FFF2-40B4-BE49-F238E27FC236}">
                <a16:creationId xmlns:a16="http://schemas.microsoft.com/office/drawing/2014/main" id="{DCE0E5DA-4129-5084-ABCB-1F88F4105FA9}"/>
              </a:ext>
            </a:extLst>
          </p:cNvPr>
          <p:cNvCxnSpPr/>
          <p:nvPr/>
        </p:nvCxnSpPr>
        <p:spPr>
          <a:xfrm>
            <a:off x="1882198" y="2963918"/>
            <a:ext cx="4572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E54E042A-5242-FEE1-2530-99179CF597AF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3710766" y="3087808"/>
            <a:ext cx="394735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2" name="Rounded Rectangle 3">
            <a:extLst>
              <a:ext uri="{FF2B5EF4-FFF2-40B4-BE49-F238E27FC236}">
                <a16:creationId xmlns:a16="http://schemas.microsoft.com/office/drawing/2014/main" id="{1FC47360-5E41-EB85-9DF8-E010B37C2FAE}"/>
              </a:ext>
            </a:extLst>
          </p:cNvPr>
          <p:cNvSpPr/>
          <p:nvPr/>
        </p:nvSpPr>
        <p:spPr>
          <a:xfrm>
            <a:off x="3786624" y="794154"/>
            <a:ext cx="1115432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noProof="0" dirty="0"/>
          </a:p>
        </p:txBody>
      </p:sp>
      <p:sp>
        <p:nvSpPr>
          <p:cNvPr id="25" name="Rounded Rectangle 3">
            <a:extLst>
              <a:ext uri="{FF2B5EF4-FFF2-40B4-BE49-F238E27FC236}">
                <a16:creationId xmlns:a16="http://schemas.microsoft.com/office/drawing/2014/main" id="{0C97A1D3-467B-32A4-3A1B-010EA5B77231}"/>
              </a:ext>
            </a:extLst>
          </p:cNvPr>
          <p:cNvSpPr/>
          <p:nvPr/>
        </p:nvSpPr>
        <p:spPr>
          <a:xfrm>
            <a:off x="3786624" y="60245"/>
            <a:ext cx="1115432" cy="657077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noProof="0" dirty="0"/>
              <a:t>System prompt</a:t>
            </a:r>
          </a:p>
        </p:txBody>
      </p:sp>
      <p:sp>
        <p:nvSpPr>
          <p:cNvPr id="7" name="Rounded Rectangle 3">
            <a:extLst>
              <a:ext uri="{FF2B5EF4-FFF2-40B4-BE49-F238E27FC236}">
                <a16:creationId xmlns:a16="http://schemas.microsoft.com/office/drawing/2014/main" id="{5248663F-C53B-02A2-B701-B08F52D11F61}"/>
              </a:ext>
            </a:extLst>
          </p:cNvPr>
          <p:cNvSpPr/>
          <p:nvPr/>
        </p:nvSpPr>
        <p:spPr>
          <a:xfrm>
            <a:off x="3786624" y="1260658"/>
            <a:ext cx="1115432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noProof="0" dirty="0"/>
          </a:p>
        </p:txBody>
      </p:sp>
      <p:sp>
        <p:nvSpPr>
          <p:cNvPr id="11" name="Rounded Rectangle 3">
            <a:extLst>
              <a:ext uri="{FF2B5EF4-FFF2-40B4-BE49-F238E27FC236}">
                <a16:creationId xmlns:a16="http://schemas.microsoft.com/office/drawing/2014/main" id="{7488FFA0-85AA-2C92-FECC-3B9CDDF29DA6}"/>
              </a:ext>
            </a:extLst>
          </p:cNvPr>
          <p:cNvSpPr/>
          <p:nvPr/>
        </p:nvSpPr>
        <p:spPr>
          <a:xfrm>
            <a:off x="3786624" y="1727843"/>
            <a:ext cx="1115432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noProof="0" dirty="0"/>
          </a:p>
        </p:txBody>
      </p:sp>
      <p:sp>
        <p:nvSpPr>
          <p:cNvPr id="14" name="Rounded Rectangle 3">
            <a:extLst>
              <a:ext uri="{FF2B5EF4-FFF2-40B4-BE49-F238E27FC236}">
                <a16:creationId xmlns:a16="http://schemas.microsoft.com/office/drawing/2014/main" id="{CD239171-97AA-CB1A-C1EB-D03D60AA56DE}"/>
              </a:ext>
            </a:extLst>
          </p:cNvPr>
          <p:cNvSpPr/>
          <p:nvPr/>
        </p:nvSpPr>
        <p:spPr>
          <a:xfrm>
            <a:off x="3786624" y="2195028"/>
            <a:ext cx="1115432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noProof="0" dirty="0"/>
          </a:p>
        </p:txBody>
      </p:sp>
      <p:sp>
        <p:nvSpPr>
          <p:cNvPr id="15" name="Rounded Rectangle 3">
            <a:extLst>
              <a:ext uri="{FF2B5EF4-FFF2-40B4-BE49-F238E27FC236}">
                <a16:creationId xmlns:a16="http://schemas.microsoft.com/office/drawing/2014/main" id="{8D267192-6717-1DDC-88D3-A244E5769005}"/>
              </a:ext>
            </a:extLst>
          </p:cNvPr>
          <p:cNvSpPr/>
          <p:nvPr/>
        </p:nvSpPr>
        <p:spPr>
          <a:xfrm>
            <a:off x="3793104" y="2661514"/>
            <a:ext cx="1115432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noProof="0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E4E0E21-29DA-FBA2-2F01-01B0B0D0BF5F}"/>
              </a:ext>
            </a:extLst>
          </p:cNvPr>
          <p:cNvSpPr txBox="1"/>
          <p:nvPr/>
        </p:nvSpPr>
        <p:spPr>
          <a:xfrm>
            <a:off x="7131908" y="4530221"/>
            <a:ext cx="20898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AT" noProof="0" dirty="0"/>
              <a:t>Cloud- oder </a:t>
            </a:r>
          </a:p>
          <a:p>
            <a:pPr algn="ctr"/>
            <a:r>
              <a:rPr lang="de-AT" noProof="0" dirty="0"/>
              <a:t>lokale Bereitstellung</a:t>
            </a:r>
          </a:p>
        </p:txBody>
      </p:sp>
      <p:sp>
        <p:nvSpPr>
          <p:cNvPr id="12" name="Rounded Rectangle 3">
            <a:extLst>
              <a:ext uri="{FF2B5EF4-FFF2-40B4-BE49-F238E27FC236}">
                <a16:creationId xmlns:a16="http://schemas.microsoft.com/office/drawing/2014/main" id="{DACDF725-3C40-73C1-C13E-90FB2491E295}"/>
              </a:ext>
            </a:extLst>
          </p:cNvPr>
          <p:cNvSpPr/>
          <p:nvPr/>
        </p:nvSpPr>
        <p:spPr>
          <a:xfrm>
            <a:off x="1951027" y="2302578"/>
            <a:ext cx="1115432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600" noProof="0" dirty="0"/>
              <a:t>Nachricht</a:t>
            </a:r>
          </a:p>
        </p:txBody>
      </p:sp>
    </p:spTree>
    <p:extLst>
      <p:ext uri="{BB962C8B-B14F-4D97-AF65-F5344CB8AC3E}">
        <p14:creationId xmlns:p14="http://schemas.microsoft.com/office/powerpoint/2010/main" val="249384443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07EE36-4BE9-4B11-5E1A-15686104B0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C88E4ACC-CA40-12D0-F8AF-E7E548522156}"/>
              </a:ext>
            </a:extLst>
          </p:cNvPr>
          <p:cNvSpPr/>
          <p:nvPr/>
        </p:nvSpPr>
        <p:spPr>
          <a:xfrm>
            <a:off x="357308" y="2438400"/>
            <a:ext cx="1447844" cy="2011680"/>
          </a:xfrm>
          <a:prstGeom prst="roundRect">
            <a:avLst/>
          </a:prstGeom>
          <a:noFill/>
          <a:ln w="57150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r>
              <a:rPr lang="de-AT" b="0" noProof="0" dirty="0">
                <a:latin typeface="Calibri"/>
              </a:rPr>
              <a:t>WhatsApp</a:t>
            </a:r>
          </a:p>
          <a:p>
            <a:pPr algn="ctr"/>
            <a:r>
              <a:rPr lang="de-AT" b="0" noProof="0" dirty="0">
                <a:latin typeface="Calibri"/>
              </a:rPr>
              <a:t>Telegram</a:t>
            </a:r>
          </a:p>
          <a:p>
            <a:pPr algn="ctr"/>
            <a:r>
              <a:rPr lang="de-AT" b="0" noProof="0" dirty="0">
                <a:latin typeface="Calibri"/>
              </a:rPr>
              <a:t>Discord</a:t>
            </a:r>
          </a:p>
          <a:p>
            <a:pPr algn="ctr"/>
            <a:r>
              <a:rPr lang="de-AT" noProof="0" dirty="0">
                <a:latin typeface="Calibri"/>
              </a:rPr>
              <a:t>WeChat</a:t>
            </a:r>
          </a:p>
          <a:p>
            <a:pPr algn="ctr"/>
            <a:r>
              <a:rPr lang="de-AT" b="0" noProof="0" dirty="0">
                <a:latin typeface="Calibri"/>
              </a:rPr>
              <a:t>QQ</a:t>
            </a:r>
          </a:p>
          <a:p>
            <a:pPr algn="ctr"/>
            <a:r>
              <a:rPr lang="de-AT" b="0" noProof="0" dirty="0">
                <a:latin typeface="Calibri"/>
              </a:rPr>
              <a:t>Web UI</a:t>
            </a:r>
          </a:p>
          <a:p>
            <a:pPr algn="ctr"/>
            <a:r>
              <a:rPr lang="de-AT" noProof="0" dirty="0">
                <a:latin typeface="Calibri"/>
              </a:rPr>
              <a:t>…</a:t>
            </a:r>
            <a:endParaRPr lang="de-AT" b="0" noProof="0" dirty="0">
              <a:latin typeface="Calibri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7BCD2EAE-66EF-B364-B1F4-1DEB703C48AE}"/>
              </a:ext>
            </a:extLst>
          </p:cNvPr>
          <p:cNvSpPr/>
          <p:nvPr/>
        </p:nvSpPr>
        <p:spPr>
          <a:xfrm>
            <a:off x="2422154" y="2815459"/>
            <a:ext cx="1288612" cy="544698"/>
          </a:xfrm>
          <a:prstGeom prst="roundRect">
            <a:avLst/>
          </a:prstGeom>
          <a:noFill/>
          <a:ln w="57150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r>
              <a:rPr lang="de-AT" noProof="0" dirty="0"/>
              <a:t>OpenClaw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38B143FA-B877-1B9A-FF7C-C5AE79D8A9B3}"/>
              </a:ext>
            </a:extLst>
          </p:cNvPr>
          <p:cNvSpPr/>
          <p:nvPr/>
        </p:nvSpPr>
        <p:spPr>
          <a:xfrm>
            <a:off x="7748752" y="2438400"/>
            <a:ext cx="1037940" cy="2011680"/>
          </a:xfrm>
          <a:prstGeom prst="roundRect">
            <a:avLst/>
          </a:prstGeom>
          <a:noFill/>
          <a:ln w="57150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r>
              <a:rPr lang="de-AT" b="0" noProof="0" dirty="0">
                <a:latin typeface="Calibri"/>
              </a:rPr>
              <a:t>Claude</a:t>
            </a:r>
          </a:p>
          <a:p>
            <a:pPr algn="ctr"/>
            <a:r>
              <a:rPr lang="de-AT" b="0" noProof="0" dirty="0">
                <a:latin typeface="Calibri"/>
              </a:rPr>
              <a:t>GPT</a:t>
            </a:r>
          </a:p>
          <a:p>
            <a:pPr algn="ctr"/>
            <a:r>
              <a:rPr lang="de-AT" b="0" noProof="0" dirty="0">
                <a:latin typeface="Calibri"/>
              </a:rPr>
              <a:t>Gemini</a:t>
            </a:r>
          </a:p>
          <a:p>
            <a:pPr algn="ctr"/>
            <a:r>
              <a:rPr lang="de-AT" noProof="0" dirty="0">
                <a:latin typeface="Calibri"/>
              </a:rPr>
              <a:t>…</a:t>
            </a:r>
            <a:endParaRPr lang="de-AT" b="0" noProof="0" dirty="0">
              <a:latin typeface="Calibri"/>
            </a:endParaRPr>
          </a:p>
        </p:txBody>
      </p:sp>
      <p:pic>
        <p:nvPicPr>
          <p:cNvPr id="1026" name="Picture 2" descr="Man ">
            <a:extLst>
              <a:ext uri="{FF2B5EF4-FFF2-40B4-BE49-F238E27FC236}">
                <a16:creationId xmlns:a16="http://schemas.microsoft.com/office/drawing/2014/main" id="{E6F41EEA-98EC-7B09-9287-6A649D8341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892" y="1077685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Big data ">
            <a:extLst>
              <a:ext uri="{FF2B5EF4-FFF2-40B4-BE49-F238E27FC236}">
                <a16:creationId xmlns:a16="http://schemas.microsoft.com/office/drawing/2014/main" id="{0CBC9B67-529B-B0BF-166D-7A4144CD75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8122" y="1219200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" name="直接箭头连接符 1">
            <a:extLst>
              <a:ext uri="{FF2B5EF4-FFF2-40B4-BE49-F238E27FC236}">
                <a16:creationId xmlns:a16="http://schemas.microsoft.com/office/drawing/2014/main" id="{C1FB32CB-F9BD-6FB1-AAC7-7F8D88313B7D}"/>
              </a:ext>
            </a:extLst>
          </p:cNvPr>
          <p:cNvCxnSpPr/>
          <p:nvPr/>
        </p:nvCxnSpPr>
        <p:spPr>
          <a:xfrm>
            <a:off x="1882198" y="2963918"/>
            <a:ext cx="4572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03D61565-0ECC-0E10-7388-9503E5EB6007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3710766" y="3087808"/>
            <a:ext cx="394735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2" name="Rounded Rectangle 3">
            <a:extLst>
              <a:ext uri="{FF2B5EF4-FFF2-40B4-BE49-F238E27FC236}">
                <a16:creationId xmlns:a16="http://schemas.microsoft.com/office/drawing/2014/main" id="{96813077-1B74-4C2F-6EF1-68E9E785E553}"/>
              </a:ext>
            </a:extLst>
          </p:cNvPr>
          <p:cNvSpPr/>
          <p:nvPr/>
        </p:nvSpPr>
        <p:spPr>
          <a:xfrm>
            <a:off x="3786624" y="794154"/>
            <a:ext cx="1115432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noProof="0" dirty="0"/>
          </a:p>
        </p:txBody>
      </p:sp>
      <p:sp>
        <p:nvSpPr>
          <p:cNvPr id="25" name="Rounded Rectangle 3">
            <a:extLst>
              <a:ext uri="{FF2B5EF4-FFF2-40B4-BE49-F238E27FC236}">
                <a16:creationId xmlns:a16="http://schemas.microsoft.com/office/drawing/2014/main" id="{E0DD9E01-B4B0-7A27-3C33-1302E7CBC00A}"/>
              </a:ext>
            </a:extLst>
          </p:cNvPr>
          <p:cNvSpPr/>
          <p:nvPr/>
        </p:nvSpPr>
        <p:spPr>
          <a:xfrm>
            <a:off x="3786624" y="60245"/>
            <a:ext cx="1115432" cy="657077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noProof="0" dirty="0"/>
              <a:t>System prompt</a:t>
            </a:r>
          </a:p>
        </p:txBody>
      </p:sp>
      <p:sp>
        <p:nvSpPr>
          <p:cNvPr id="7" name="Rounded Rectangle 3">
            <a:extLst>
              <a:ext uri="{FF2B5EF4-FFF2-40B4-BE49-F238E27FC236}">
                <a16:creationId xmlns:a16="http://schemas.microsoft.com/office/drawing/2014/main" id="{67D1CD78-EEF5-768D-FC58-069D5385B3BB}"/>
              </a:ext>
            </a:extLst>
          </p:cNvPr>
          <p:cNvSpPr/>
          <p:nvPr/>
        </p:nvSpPr>
        <p:spPr>
          <a:xfrm>
            <a:off x="3786624" y="1260658"/>
            <a:ext cx="1115432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noProof="0" dirty="0"/>
          </a:p>
        </p:txBody>
      </p:sp>
      <p:sp>
        <p:nvSpPr>
          <p:cNvPr id="11" name="Rounded Rectangle 3">
            <a:extLst>
              <a:ext uri="{FF2B5EF4-FFF2-40B4-BE49-F238E27FC236}">
                <a16:creationId xmlns:a16="http://schemas.microsoft.com/office/drawing/2014/main" id="{47EFBC40-6C84-4F93-B271-D635EA5A1D67}"/>
              </a:ext>
            </a:extLst>
          </p:cNvPr>
          <p:cNvSpPr/>
          <p:nvPr/>
        </p:nvSpPr>
        <p:spPr>
          <a:xfrm>
            <a:off x="3786624" y="1727843"/>
            <a:ext cx="1115432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noProof="0" dirty="0"/>
          </a:p>
        </p:txBody>
      </p:sp>
      <p:sp>
        <p:nvSpPr>
          <p:cNvPr id="14" name="Rounded Rectangle 3">
            <a:extLst>
              <a:ext uri="{FF2B5EF4-FFF2-40B4-BE49-F238E27FC236}">
                <a16:creationId xmlns:a16="http://schemas.microsoft.com/office/drawing/2014/main" id="{374A3924-12B4-73F4-FB61-B9D49D355135}"/>
              </a:ext>
            </a:extLst>
          </p:cNvPr>
          <p:cNvSpPr/>
          <p:nvPr/>
        </p:nvSpPr>
        <p:spPr>
          <a:xfrm>
            <a:off x="3786624" y="2195028"/>
            <a:ext cx="1115432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noProof="0" dirty="0"/>
          </a:p>
        </p:txBody>
      </p:sp>
      <p:sp>
        <p:nvSpPr>
          <p:cNvPr id="15" name="Rounded Rectangle 3">
            <a:extLst>
              <a:ext uri="{FF2B5EF4-FFF2-40B4-BE49-F238E27FC236}">
                <a16:creationId xmlns:a16="http://schemas.microsoft.com/office/drawing/2014/main" id="{DCEB07AC-4F91-EB62-5441-2D5B71C46DF3}"/>
              </a:ext>
            </a:extLst>
          </p:cNvPr>
          <p:cNvSpPr/>
          <p:nvPr/>
        </p:nvSpPr>
        <p:spPr>
          <a:xfrm>
            <a:off x="3793104" y="2661514"/>
            <a:ext cx="1115432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noProof="0" dirty="0"/>
          </a:p>
        </p:txBody>
      </p:sp>
      <p:sp>
        <p:nvSpPr>
          <p:cNvPr id="9" name="左大括号 8">
            <a:extLst>
              <a:ext uri="{FF2B5EF4-FFF2-40B4-BE49-F238E27FC236}">
                <a16:creationId xmlns:a16="http://schemas.microsoft.com/office/drawing/2014/main" id="{8AA4F13D-55B2-EC52-C11C-3AB4D52A0C7C}"/>
              </a:ext>
            </a:extLst>
          </p:cNvPr>
          <p:cNvSpPr/>
          <p:nvPr/>
        </p:nvSpPr>
        <p:spPr>
          <a:xfrm rot="10800000">
            <a:off x="4977570" y="823624"/>
            <a:ext cx="128733" cy="1219179"/>
          </a:xfrm>
          <a:prstGeom prst="leftBrac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AT" noProof="0" dirty="0"/>
          </a:p>
        </p:txBody>
      </p:sp>
      <p:sp>
        <p:nvSpPr>
          <p:cNvPr id="12" name="Rounded Rectangle 3">
            <a:extLst>
              <a:ext uri="{FF2B5EF4-FFF2-40B4-BE49-F238E27FC236}">
                <a16:creationId xmlns:a16="http://schemas.microsoft.com/office/drawing/2014/main" id="{2218364A-F88B-C39C-A76F-159987A3A407}"/>
              </a:ext>
            </a:extLst>
          </p:cNvPr>
          <p:cNvSpPr/>
          <p:nvPr/>
        </p:nvSpPr>
        <p:spPr>
          <a:xfrm rot="467416">
            <a:off x="5767687" y="1981427"/>
            <a:ext cx="1115432" cy="389672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noProof="0" dirty="0"/>
          </a:p>
        </p:txBody>
      </p: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A71CEAA1-2DFF-C9AD-8DC4-2A71F2F33243}"/>
              </a:ext>
            </a:extLst>
          </p:cNvPr>
          <p:cNvCxnSpPr>
            <a:cxnSpLocks/>
            <a:endCxn id="1028" idx="1"/>
          </p:cNvCxnSpPr>
          <p:nvPr/>
        </p:nvCxnSpPr>
        <p:spPr>
          <a:xfrm>
            <a:off x="5196644" y="1430759"/>
            <a:ext cx="2461478" cy="39804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3BA573EB-9CA8-D71E-BA47-56FC1AF6E350}"/>
              </a:ext>
            </a:extLst>
          </p:cNvPr>
          <p:cNvCxnSpPr>
            <a:cxnSpLocks/>
          </p:cNvCxnSpPr>
          <p:nvPr/>
        </p:nvCxnSpPr>
        <p:spPr>
          <a:xfrm flipH="1" flipV="1">
            <a:off x="5181817" y="1629779"/>
            <a:ext cx="2476305" cy="39114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DA0AF821-416D-1287-FF6F-5E2E2659BC13}"/>
              </a:ext>
            </a:extLst>
          </p:cNvPr>
          <p:cNvSpPr txBox="1"/>
          <p:nvPr/>
        </p:nvSpPr>
        <p:spPr>
          <a:xfrm>
            <a:off x="7131908" y="4530221"/>
            <a:ext cx="20898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AT" noProof="0" dirty="0"/>
              <a:t>Cloud- oder </a:t>
            </a:r>
          </a:p>
          <a:p>
            <a:pPr algn="ctr"/>
            <a:r>
              <a:rPr lang="de-AT" noProof="0" dirty="0"/>
              <a:t>lokale Bereitstellung</a:t>
            </a:r>
          </a:p>
        </p:txBody>
      </p:sp>
      <p:sp>
        <p:nvSpPr>
          <p:cNvPr id="17" name="Rounded Rectangle 3">
            <a:extLst>
              <a:ext uri="{FF2B5EF4-FFF2-40B4-BE49-F238E27FC236}">
                <a16:creationId xmlns:a16="http://schemas.microsoft.com/office/drawing/2014/main" id="{4E8ED593-6E23-9AC9-8444-7BCC71943ECF}"/>
              </a:ext>
            </a:extLst>
          </p:cNvPr>
          <p:cNvSpPr/>
          <p:nvPr/>
        </p:nvSpPr>
        <p:spPr>
          <a:xfrm>
            <a:off x="1951027" y="2302578"/>
            <a:ext cx="1115432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600" noProof="0" dirty="0"/>
              <a:t>Nachricht</a:t>
            </a:r>
          </a:p>
        </p:txBody>
      </p:sp>
    </p:spTree>
    <p:extLst>
      <p:ext uri="{BB962C8B-B14F-4D97-AF65-F5344CB8AC3E}">
        <p14:creationId xmlns:p14="http://schemas.microsoft.com/office/powerpoint/2010/main" val="165059480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83C001-3DD7-5326-FDCC-F874750DC8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FF2172B9-6FF8-E5E8-B81E-1855B52A11BC}"/>
              </a:ext>
            </a:extLst>
          </p:cNvPr>
          <p:cNvSpPr/>
          <p:nvPr/>
        </p:nvSpPr>
        <p:spPr>
          <a:xfrm>
            <a:off x="357308" y="2438400"/>
            <a:ext cx="1447844" cy="2011680"/>
          </a:xfrm>
          <a:prstGeom prst="roundRect">
            <a:avLst/>
          </a:prstGeom>
          <a:noFill/>
          <a:ln w="57150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r>
              <a:rPr lang="de-AT" b="0" noProof="0" dirty="0">
                <a:latin typeface="Calibri"/>
              </a:rPr>
              <a:t>WhatsApp</a:t>
            </a:r>
          </a:p>
          <a:p>
            <a:pPr algn="ctr"/>
            <a:r>
              <a:rPr lang="de-AT" b="0" noProof="0" dirty="0">
                <a:latin typeface="Calibri"/>
              </a:rPr>
              <a:t>Telegram</a:t>
            </a:r>
          </a:p>
          <a:p>
            <a:pPr algn="ctr"/>
            <a:r>
              <a:rPr lang="de-AT" b="0" noProof="0" dirty="0">
                <a:latin typeface="Calibri"/>
              </a:rPr>
              <a:t>Discord</a:t>
            </a:r>
          </a:p>
          <a:p>
            <a:pPr algn="ctr"/>
            <a:r>
              <a:rPr lang="de-AT" noProof="0" dirty="0">
                <a:latin typeface="Calibri"/>
              </a:rPr>
              <a:t>WeChat</a:t>
            </a:r>
          </a:p>
          <a:p>
            <a:pPr algn="ctr"/>
            <a:r>
              <a:rPr lang="de-AT" b="0" noProof="0" dirty="0">
                <a:latin typeface="Calibri"/>
              </a:rPr>
              <a:t>QQ</a:t>
            </a:r>
          </a:p>
          <a:p>
            <a:pPr algn="ctr"/>
            <a:r>
              <a:rPr lang="de-AT" b="0" noProof="0" dirty="0">
                <a:latin typeface="Calibri"/>
              </a:rPr>
              <a:t>Web UI</a:t>
            </a:r>
          </a:p>
          <a:p>
            <a:pPr algn="ctr"/>
            <a:r>
              <a:rPr lang="de-AT" noProof="0" dirty="0">
                <a:latin typeface="Calibri"/>
              </a:rPr>
              <a:t>…</a:t>
            </a:r>
            <a:endParaRPr lang="de-AT" b="0" noProof="0" dirty="0">
              <a:latin typeface="Calibri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E749BFC7-BF84-84E0-4295-FF8B4B2BD6E9}"/>
              </a:ext>
            </a:extLst>
          </p:cNvPr>
          <p:cNvSpPr/>
          <p:nvPr/>
        </p:nvSpPr>
        <p:spPr>
          <a:xfrm>
            <a:off x="2422154" y="2815459"/>
            <a:ext cx="1288612" cy="544698"/>
          </a:xfrm>
          <a:prstGeom prst="roundRect">
            <a:avLst/>
          </a:prstGeom>
          <a:noFill/>
          <a:ln w="57150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r>
              <a:rPr lang="de-AT" noProof="0" dirty="0"/>
              <a:t>OpenClaw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AE7128B9-4015-5DE8-B92B-6D439594B812}"/>
              </a:ext>
            </a:extLst>
          </p:cNvPr>
          <p:cNvSpPr/>
          <p:nvPr/>
        </p:nvSpPr>
        <p:spPr>
          <a:xfrm>
            <a:off x="7748752" y="2438400"/>
            <a:ext cx="1037940" cy="2011680"/>
          </a:xfrm>
          <a:prstGeom prst="roundRect">
            <a:avLst/>
          </a:prstGeom>
          <a:noFill/>
          <a:ln w="57150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r>
              <a:rPr lang="de-AT" b="0" noProof="0" dirty="0">
                <a:latin typeface="Calibri"/>
              </a:rPr>
              <a:t>Claude</a:t>
            </a:r>
          </a:p>
          <a:p>
            <a:pPr algn="ctr"/>
            <a:r>
              <a:rPr lang="de-AT" b="0" noProof="0" dirty="0">
                <a:latin typeface="Calibri"/>
              </a:rPr>
              <a:t>GPT</a:t>
            </a:r>
          </a:p>
          <a:p>
            <a:pPr algn="ctr"/>
            <a:r>
              <a:rPr lang="de-AT" b="0" noProof="0" dirty="0">
                <a:latin typeface="Calibri"/>
              </a:rPr>
              <a:t>Gemini</a:t>
            </a:r>
          </a:p>
          <a:p>
            <a:pPr algn="ctr"/>
            <a:r>
              <a:rPr lang="de-AT" noProof="0" dirty="0">
                <a:latin typeface="Calibri"/>
              </a:rPr>
              <a:t>…</a:t>
            </a:r>
            <a:endParaRPr lang="de-AT" b="0" noProof="0" dirty="0">
              <a:latin typeface="Calibri"/>
            </a:endParaRPr>
          </a:p>
        </p:txBody>
      </p:sp>
      <p:pic>
        <p:nvPicPr>
          <p:cNvPr id="1026" name="Picture 2" descr="Man ">
            <a:extLst>
              <a:ext uri="{FF2B5EF4-FFF2-40B4-BE49-F238E27FC236}">
                <a16:creationId xmlns:a16="http://schemas.microsoft.com/office/drawing/2014/main" id="{679D31AD-F48C-39D9-CA57-7F3C8B8EC8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892" y="1077685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Big data ">
            <a:extLst>
              <a:ext uri="{FF2B5EF4-FFF2-40B4-BE49-F238E27FC236}">
                <a16:creationId xmlns:a16="http://schemas.microsoft.com/office/drawing/2014/main" id="{A1D80697-818F-3AB7-E111-C0B4540FEB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8122" y="1219200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" name="直接箭头连接符 1">
            <a:extLst>
              <a:ext uri="{FF2B5EF4-FFF2-40B4-BE49-F238E27FC236}">
                <a16:creationId xmlns:a16="http://schemas.microsoft.com/office/drawing/2014/main" id="{35C7F6C6-8CCA-3E8E-E4F6-017EB2E4F99C}"/>
              </a:ext>
            </a:extLst>
          </p:cNvPr>
          <p:cNvCxnSpPr/>
          <p:nvPr/>
        </p:nvCxnSpPr>
        <p:spPr>
          <a:xfrm>
            <a:off x="1882198" y="2963918"/>
            <a:ext cx="4572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91C06BAA-E627-8ADC-AA08-66E8AF60D783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3710766" y="3087808"/>
            <a:ext cx="394735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2" name="Rounded Rectangle 3">
            <a:extLst>
              <a:ext uri="{FF2B5EF4-FFF2-40B4-BE49-F238E27FC236}">
                <a16:creationId xmlns:a16="http://schemas.microsoft.com/office/drawing/2014/main" id="{114C2AB8-7725-8BBA-D96D-20D534C5DC7E}"/>
              </a:ext>
            </a:extLst>
          </p:cNvPr>
          <p:cNvSpPr/>
          <p:nvPr/>
        </p:nvSpPr>
        <p:spPr>
          <a:xfrm>
            <a:off x="3786624" y="763418"/>
            <a:ext cx="1115432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noProof="0" dirty="0"/>
          </a:p>
        </p:txBody>
      </p:sp>
      <p:sp>
        <p:nvSpPr>
          <p:cNvPr id="25" name="Rounded Rectangle 3">
            <a:extLst>
              <a:ext uri="{FF2B5EF4-FFF2-40B4-BE49-F238E27FC236}">
                <a16:creationId xmlns:a16="http://schemas.microsoft.com/office/drawing/2014/main" id="{4A634B11-9DB5-BC4F-F523-772233017EC2}"/>
              </a:ext>
            </a:extLst>
          </p:cNvPr>
          <p:cNvSpPr/>
          <p:nvPr/>
        </p:nvSpPr>
        <p:spPr>
          <a:xfrm>
            <a:off x="3786624" y="60245"/>
            <a:ext cx="1115432" cy="657077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noProof="0" dirty="0"/>
              <a:t>System prompt</a:t>
            </a:r>
          </a:p>
        </p:txBody>
      </p:sp>
      <p:sp>
        <p:nvSpPr>
          <p:cNvPr id="7" name="Rounded Rectangle 3">
            <a:extLst>
              <a:ext uri="{FF2B5EF4-FFF2-40B4-BE49-F238E27FC236}">
                <a16:creationId xmlns:a16="http://schemas.microsoft.com/office/drawing/2014/main" id="{C745B4D5-B8B6-3822-C921-E02DEF30ECCC}"/>
              </a:ext>
            </a:extLst>
          </p:cNvPr>
          <p:cNvSpPr/>
          <p:nvPr/>
        </p:nvSpPr>
        <p:spPr>
          <a:xfrm>
            <a:off x="3786624" y="1206869"/>
            <a:ext cx="1115432" cy="551709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altLang="zh-CN" dirty="0"/>
              <a:t>Tool-Ausgabe</a:t>
            </a:r>
            <a:endParaRPr lang="de-AT" noProof="0" dirty="0"/>
          </a:p>
        </p:txBody>
      </p:sp>
      <p:sp>
        <p:nvSpPr>
          <p:cNvPr id="11" name="Rounded Rectangle 3">
            <a:extLst>
              <a:ext uri="{FF2B5EF4-FFF2-40B4-BE49-F238E27FC236}">
                <a16:creationId xmlns:a16="http://schemas.microsoft.com/office/drawing/2014/main" id="{1DB0CE22-A09B-3416-D82F-0E38B7F7BF98}"/>
              </a:ext>
            </a:extLst>
          </p:cNvPr>
          <p:cNvSpPr/>
          <p:nvPr/>
        </p:nvSpPr>
        <p:spPr>
          <a:xfrm>
            <a:off x="3786624" y="1812367"/>
            <a:ext cx="1115432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noProof="0" dirty="0"/>
          </a:p>
        </p:txBody>
      </p:sp>
      <p:sp>
        <p:nvSpPr>
          <p:cNvPr id="14" name="Rounded Rectangle 3">
            <a:extLst>
              <a:ext uri="{FF2B5EF4-FFF2-40B4-BE49-F238E27FC236}">
                <a16:creationId xmlns:a16="http://schemas.microsoft.com/office/drawing/2014/main" id="{E2CBDE2D-9873-4A72-9533-3D32A3C4DCC4}"/>
              </a:ext>
            </a:extLst>
          </p:cNvPr>
          <p:cNvSpPr/>
          <p:nvPr/>
        </p:nvSpPr>
        <p:spPr>
          <a:xfrm>
            <a:off x="3786624" y="2241132"/>
            <a:ext cx="1115432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noProof="0" dirty="0"/>
          </a:p>
        </p:txBody>
      </p:sp>
      <p:sp>
        <p:nvSpPr>
          <p:cNvPr id="15" name="Rounded Rectangle 3">
            <a:extLst>
              <a:ext uri="{FF2B5EF4-FFF2-40B4-BE49-F238E27FC236}">
                <a16:creationId xmlns:a16="http://schemas.microsoft.com/office/drawing/2014/main" id="{6FF2B7EC-AE49-2104-032B-FD16E6A3BE80}"/>
              </a:ext>
            </a:extLst>
          </p:cNvPr>
          <p:cNvSpPr/>
          <p:nvPr/>
        </p:nvSpPr>
        <p:spPr>
          <a:xfrm>
            <a:off x="3793104" y="2661514"/>
            <a:ext cx="1115432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noProof="0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01799F8-F5A9-EBA5-AC49-E1261AD2DE51}"/>
              </a:ext>
            </a:extLst>
          </p:cNvPr>
          <p:cNvSpPr txBox="1"/>
          <p:nvPr/>
        </p:nvSpPr>
        <p:spPr>
          <a:xfrm>
            <a:off x="7131908" y="4530221"/>
            <a:ext cx="20898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AT" noProof="0" dirty="0"/>
              <a:t>Cloud- oder </a:t>
            </a:r>
          </a:p>
          <a:p>
            <a:pPr algn="ctr"/>
            <a:r>
              <a:rPr lang="de-AT" noProof="0" dirty="0"/>
              <a:t>lokale Bereitstellung</a:t>
            </a:r>
          </a:p>
        </p:txBody>
      </p:sp>
      <p:sp>
        <p:nvSpPr>
          <p:cNvPr id="12" name="Rounded Rectangle 3">
            <a:extLst>
              <a:ext uri="{FF2B5EF4-FFF2-40B4-BE49-F238E27FC236}">
                <a16:creationId xmlns:a16="http://schemas.microsoft.com/office/drawing/2014/main" id="{40FC8920-AD3F-EB46-6A24-556EBE69ADE4}"/>
              </a:ext>
            </a:extLst>
          </p:cNvPr>
          <p:cNvSpPr/>
          <p:nvPr/>
        </p:nvSpPr>
        <p:spPr>
          <a:xfrm>
            <a:off x="1951027" y="2302578"/>
            <a:ext cx="1115432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600" noProof="0" dirty="0"/>
              <a:t>Nachricht</a:t>
            </a:r>
          </a:p>
        </p:txBody>
      </p:sp>
    </p:spTree>
    <p:extLst>
      <p:ext uri="{BB962C8B-B14F-4D97-AF65-F5344CB8AC3E}">
        <p14:creationId xmlns:p14="http://schemas.microsoft.com/office/powerpoint/2010/main" val="313597659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0A0DE2-016F-F92A-394C-C71B22A0C4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B358927D-0F5C-0661-EB0F-D13701ABBA99}"/>
              </a:ext>
            </a:extLst>
          </p:cNvPr>
          <p:cNvSpPr/>
          <p:nvPr/>
        </p:nvSpPr>
        <p:spPr>
          <a:xfrm>
            <a:off x="357308" y="2438400"/>
            <a:ext cx="1447844" cy="2011680"/>
          </a:xfrm>
          <a:prstGeom prst="roundRect">
            <a:avLst/>
          </a:prstGeom>
          <a:noFill/>
          <a:ln w="57150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r>
              <a:rPr lang="de-AT" b="0" noProof="0" dirty="0">
                <a:latin typeface="Calibri"/>
              </a:rPr>
              <a:t>WhatsApp</a:t>
            </a:r>
          </a:p>
          <a:p>
            <a:pPr algn="ctr"/>
            <a:r>
              <a:rPr lang="de-AT" b="0" noProof="0" dirty="0">
                <a:latin typeface="Calibri"/>
              </a:rPr>
              <a:t>Telegram</a:t>
            </a:r>
          </a:p>
          <a:p>
            <a:pPr algn="ctr"/>
            <a:r>
              <a:rPr lang="de-AT" b="0" noProof="0" dirty="0">
                <a:latin typeface="Calibri"/>
              </a:rPr>
              <a:t>Discord</a:t>
            </a:r>
          </a:p>
          <a:p>
            <a:pPr algn="ctr"/>
            <a:r>
              <a:rPr lang="de-AT" noProof="0" dirty="0">
                <a:latin typeface="Calibri"/>
              </a:rPr>
              <a:t>WeChat</a:t>
            </a:r>
          </a:p>
          <a:p>
            <a:pPr algn="ctr"/>
            <a:r>
              <a:rPr lang="de-AT" b="0" noProof="0" dirty="0">
                <a:latin typeface="Calibri"/>
              </a:rPr>
              <a:t>QQ</a:t>
            </a:r>
          </a:p>
          <a:p>
            <a:pPr algn="ctr"/>
            <a:r>
              <a:rPr lang="de-AT" b="0" noProof="0" dirty="0">
                <a:latin typeface="Calibri"/>
              </a:rPr>
              <a:t>Web UI</a:t>
            </a:r>
          </a:p>
          <a:p>
            <a:pPr algn="ctr"/>
            <a:r>
              <a:rPr lang="de-AT" noProof="0" dirty="0">
                <a:latin typeface="Calibri"/>
              </a:rPr>
              <a:t>…</a:t>
            </a:r>
            <a:endParaRPr lang="de-AT" b="0" noProof="0" dirty="0">
              <a:latin typeface="Calibri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5B8493F9-0FC7-8BBC-E244-169C86560E17}"/>
              </a:ext>
            </a:extLst>
          </p:cNvPr>
          <p:cNvSpPr/>
          <p:nvPr/>
        </p:nvSpPr>
        <p:spPr>
          <a:xfrm>
            <a:off x="2422154" y="2815459"/>
            <a:ext cx="1288612" cy="544698"/>
          </a:xfrm>
          <a:prstGeom prst="roundRect">
            <a:avLst/>
          </a:prstGeom>
          <a:noFill/>
          <a:ln w="57150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r>
              <a:rPr lang="de-AT" noProof="0" dirty="0"/>
              <a:t>OpenClaw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C010610F-C2D7-31D7-F1A1-DF42BEE948E3}"/>
              </a:ext>
            </a:extLst>
          </p:cNvPr>
          <p:cNvSpPr/>
          <p:nvPr/>
        </p:nvSpPr>
        <p:spPr>
          <a:xfrm>
            <a:off x="7748752" y="2438400"/>
            <a:ext cx="1037940" cy="2011680"/>
          </a:xfrm>
          <a:prstGeom prst="roundRect">
            <a:avLst/>
          </a:prstGeom>
          <a:noFill/>
          <a:ln w="57150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r>
              <a:rPr lang="de-AT" b="0" noProof="0" dirty="0">
                <a:latin typeface="Calibri"/>
              </a:rPr>
              <a:t>Claude</a:t>
            </a:r>
          </a:p>
          <a:p>
            <a:pPr algn="ctr"/>
            <a:r>
              <a:rPr lang="de-AT" b="0" noProof="0" dirty="0">
                <a:latin typeface="Calibri"/>
              </a:rPr>
              <a:t>GPT</a:t>
            </a:r>
          </a:p>
          <a:p>
            <a:pPr algn="ctr"/>
            <a:r>
              <a:rPr lang="de-AT" b="0" noProof="0" dirty="0">
                <a:latin typeface="Calibri"/>
              </a:rPr>
              <a:t>Gemini</a:t>
            </a:r>
          </a:p>
          <a:p>
            <a:pPr algn="ctr"/>
            <a:r>
              <a:rPr lang="de-AT" noProof="0" dirty="0">
                <a:latin typeface="Calibri"/>
              </a:rPr>
              <a:t>…</a:t>
            </a:r>
            <a:endParaRPr lang="de-AT" b="0" noProof="0" dirty="0">
              <a:latin typeface="Calibri"/>
            </a:endParaRPr>
          </a:p>
        </p:txBody>
      </p:sp>
      <p:pic>
        <p:nvPicPr>
          <p:cNvPr id="1026" name="Picture 2" descr="Man ">
            <a:extLst>
              <a:ext uri="{FF2B5EF4-FFF2-40B4-BE49-F238E27FC236}">
                <a16:creationId xmlns:a16="http://schemas.microsoft.com/office/drawing/2014/main" id="{01C42873-3E02-654B-16E8-69D361CB45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892" y="1077685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Big data ">
            <a:extLst>
              <a:ext uri="{FF2B5EF4-FFF2-40B4-BE49-F238E27FC236}">
                <a16:creationId xmlns:a16="http://schemas.microsoft.com/office/drawing/2014/main" id="{30ADA51E-37D4-3BC2-D166-618AEAEC3E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8122" y="1219200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" name="直接箭头连接符 1">
            <a:extLst>
              <a:ext uri="{FF2B5EF4-FFF2-40B4-BE49-F238E27FC236}">
                <a16:creationId xmlns:a16="http://schemas.microsoft.com/office/drawing/2014/main" id="{0293AFAD-1FF1-27FA-E71F-0B5044142CB3}"/>
              </a:ext>
            </a:extLst>
          </p:cNvPr>
          <p:cNvCxnSpPr/>
          <p:nvPr/>
        </p:nvCxnSpPr>
        <p:spPr>
          <a:xfrm>
            <a:off x="1882198" y="2963918"/>
            <a:ext cx="4572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1232C4E8-C12A-9600-9B64-1044C8DB4BF5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3710766" y="3087808"/>
            <a:ext cx="394735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2" name="Rounded Rectangle 3">
            <a:extLst>
              <a:ext uri="{FF2B5EF4-FFF2-40B4-BE49-F238E27FC236}">
                <a16:creationId xmlns:a16="http://schemas.microsoft.com/office/drawing/2014/main" id="{465D6209-4BE1-5FFB-1543-6309D4690C14}"/>
              </a:ext>
            </a:extLst>
          </p:cNvPr>
          <p:cNvSpPr/>
          <p:nvPr/>
        </p:nvSpPr>
        <p:spPr>
          <a:xfrm>
            <a:off x="3786624" y="763418"/>
            <a:ext cx="1115432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noProof="0" dirty="0"/>
          </a:p>
        </p:txBody>
      </p:sp>
      <p:sp>
        <p:nvSpPr>
          <p:cNvPr id="25" name="Rounded Rectangle 3">
            <a:extLst>
              <a:ext uri="{FF2B5EF4-FFF2-40B4-BE49-F238E27FC236}">
                <a16:creationId xmlns:a16="http://schemas.microsoft.com/office/drawing/2014/main" id="{DF66652E-BCCE-1335-18C7-CC4D2DEE8CC3}"/>
              </a:ext>
            </a:extLst>
          </p:cNvPr>
          <p:cNvSpPr/>
          <p:nvPr/>
        </p:nvSpPr>
        <p:spPr>
          <a:xfrm>
            <a:off x="3786624" y="60245"/>
            <a:ext cx="1115432" cy="657077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noProof="0" dirty="0"/>
              <a:t>System prompt</a:t>
            </a:r>
          </a:p>
        </p:txBody>
      </p:sp>
      <p:sp>
        <p:nvSpPr>
          <p:cNvPr id="7" name="Rounded Rectangle 3">
            <a:extLst>
              <a:ext uri="{FF2B5EF4-FFF2-40B4-BE49-F238E27FC236}">
                <a16:creationId xmlns:a16="http://schemas.microsoft.com/office/drawing/2014/main" id="{B9E0ACBC-70A7-BC3C-95F6-888C38C319E5}"/>
              </a:ext>
            </a:extLst>
          </p:cNvPr>
          <p:cNvSpPr/>
          <p:nvPr/>
        </p:nvSpPr>
        <p:spPr>
          <a:xfrm>
            <a:off x="3786624" y="1206869"/>
            <a:ext cx="1115432" cy="551709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altLang="zh-CN" dirty="0"/>
              <a:t>Tool-Ausgabe</a:t>
            </a:r>
          </a:p>
        </p:txBody>
      </p:sp>
      <p:sp>
        <p:nvSpPr>
          <p:cNvPr id="11" name="Rounded Rectangle 3">
            <a:extLst>
              <a:ext uri="{FF2B5EF4-FFF2-40B4-BE49-F238E27FC236}">
                <a16:creationId xmlns:a16="http://schemas.microsoft.com/office/drawing/2014/main" id="{EF33ED36-402B-6530-9F31-FACF00154A53}"/>
              </a:ext>
            </a:extLst>
          </p:cNvPr>
          <p:cNvSpPr/>
          <p:nvPr/>
        </p:nvSpPr>
        <p:spPr>
          <a:xfrm>
            <a:off x="3786624" y="1812367"/>
            <a:ext cx="1115432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noProof="0" dirty="0"/>
          </a:p>
        </p:txBody>
      </p:sp>
      <p:sp>
        <p:nvSpPr>
          <p:cNvPr id="14" name="Rounded Rectangle 3">
            <a:extLst>
              <a:ext uri="{FF2B5EF4-FFF2-40B4-BE49-F238E27FC236}">
                <a16:creationId xmlns:a16="http://schemas.microsoft.com/office/drawing/2014/main" id="{A35C154D-2A41-978B-71A2-80B8E7CCD0D4}"/>
              </a:ext>
            </a:extLst>
          </p:cNvPr>
          <p:cNvSpPr/>
          <p:nvPr/>
        </p:nvSpPr>
        <p:spPr>
          <a:xfrm>
            <a:off x="3786624" y="2241132"/>
            <a:ext cx="1115432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noProof="0" dirty="0"/>
          </a:p>
        </p:txBody>
      </p:sp>
      <p:sp>
        <p:nvSpPr>
          <p:cNvPr id="15" name="Rounded Rectangle 3">
            <a:extLst>
              <a:ext uri="{FF2B5EF4-FFF2-40B4-BE49-F238E27FC236}">
                <a16:creationId xmlns:a16="http://schemas.microsoft.com/office/drawing/2014/main" id="{13DE0447-906F-4586-5768-A89F85001A4A}"/>
              </a:ext>
            </a:extLst>
          </p:cNvPr>
          <p:cNvSpPr/>
          <p:nvPr/>
        </p:nvSpPr>
        <p:spPr>
          <a:xfrm>
            <a:off x="3793104" y="2661514"/>
            <a:ext cx="1115432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noProof="0" dirty="0"/>
          </a:p>
        </p:txBody>
      </p:sp>
      <p:sp>
        <p:nvSpPr>
          <p:cNvPr id="13" name="Rounded Rectangle 3">
            <a:extLst>
              <a:ext uri="{FF2B5EF4-FFF2-40B4-BE49-F238E27FC236}">
                <a16:creationId xmlns:a16="http://schemas.microsoft.com/office/drawing/2014/main" id="{0B31BB78-2CF9-1550-4EBF-75EC5674779F}"/>
              </a:ext>
            </a:extLst>
          </p:cNvPr>
          <p:cNvSpPr/>
          <p:nvPr/>
        </p:nvSpPr>
        <p:spPr>
          <a:xfrm>
            <a:off x="3693212" y="1286521"/>
            <a:ext cx="1324462" cy="389672"/>
          </a:xfrm>
          <a:prstGeom prst="roundRect">
            <a:avLst/>
          </a:prstGeom>
          <a:pattFill prst="wdUpDiag">
            <a:fgClr>
              <a:schemeClr val="accent5"/>
            </a:fgClr>
            <a:bgClr>
              <a:schemeClr val="bg1"/>
            </a:bgClr>
          </a:patt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noProof="0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8138B5D-7979-7C78-076F-6472159A4540}"/>
              </a:ext>
            </a:extLst>
          </p:cNvPr>
          <p:cNvSpPr txBox="1"/>
          <p:nvPr/>
        </p:nvSpPr>
        <p:spPr>
          <a:xfrm>
            <a:off x="7131908" y="4530221"/>
            <a:ext cx="20898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AT" noProof="0" dirty="0"/>
              <a:t>Cloud- oder </a:t>
            </a:r>
          </a:p>
          <a:p>
            <a:pPr algn="ctr"/>
            <a:r>
              <a:rPr lang="de-AT" noProof="0" dirty="0"/>
              <a:t>lokale Bereitstellung</a:t>
            </a:r>
          </a:p>
        </p:txBody>
      </p:sp>
      <p:sp>
        <p:nvSpPr>
          <p:cNvPr id="12" name="Rounded Rectangle 3">
            <a:extLst>
              <a:ext uri="{FF2B5EF4-FFF2-40B4-BE49-F238E27FC236}">
                <a16:creationId xmlns:a16="http://schemas.microsoft.com/office/drawing/2014/main" id="{2B4A0C10-4F65-BE9A-2B44-583B2BB2648F}"/>
              </a:ext>
            </a:extLst>
          </p:cNvPr>
          <p:cNvSpPr/>
          <p:nvPr/>
        </p:nvSpPr>
        <p:spPr>
          <a:xfrm>
            <a:off x="1951027" y="2302578"/>
            <a:ext cx="1115432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600" noProof="0" dirty="0"/>
              <a:t>Nachricht</a:t>
            </a:r>
          </a:p>
        </p:txBody>
      </p:sp>
    </p:spTree>
    <p:extLst>
      <p:ext uri="{BB962C8B-B14F-4D97-AF65-F5344CB8AC3E}">
        <p14:creationId xmlns:p14="http://schemas.microsoft.com/office/powerpoint/2010/main" val="111020107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F4916F-E2F9-A558-8E3E-2583067FEB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0B37FEF0-C964-901C-CDC2-418B248FD479}"/>
              </a:ext>
            </a:extLst>
          </p:cNvPr>
          <p:cNvSpPr/>
          <p:nvPr/>
        </p:nvSpPr>
        <p:spPr>
          <a:xfrm>
            <a:off x="357308" y="2438400"/>
            <a:ext cx="1447844" cy="2011680"/>
          </a:xfrm>
          <a:prstGeom prst="roundRect">
            <a:avLst/>
          </a:prstGeom>
          <a:noFill/>
          <a:ln w="57150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r>
              <a:rPr lang="de-AT" b="0" noProof="0" dirty="0">
                <a:latin typeface="Calibri"/>
              </a:rPr>
              <a:t>WhatsApp</a:t>
            </a:r>
          </a:p>
          <a:p>
            <a:pPr algn="ctr"/>
            <a:r>
              <a:rPr lang="de-AT" b="0" noProof="0" dirty="0">
                <a:latin typeface="Calibri"/>
              </a:rPr>
              <a:t>Telegram</a:t>
            </a:r>
          </a:p>
          <a:p>
            <a:pPr algn="ctr"/>
            <a:r>
              <a:rPr lang="de-AT" b="0" noProof="0" dirty="0">
                <a:latin typeface="Calibri"/>
              </a:rPr>
              <a:t>Discord</a:t>
            </a:r>
          </a:p>
          <a:p>
            <a:pPr algn="ctr"/>
            <a:r>
              <a:rPr lang="de-AT" noProof="0" dirty="0">
                <a:latin typeface="Calibri"/>
              </a:rPr>
              <a:t>WeChat</a:t>
            </a:r>
          </a:p>
          <a:p>
            <a:pPr algn="ctr"/>
            <a:r>
              <a:rPr lang="de-AT" b="0" noProof="0" dirty="0">
                <a:latin typeface="Calibri"/>
              </a:rPr>
              <a:t>QQ</a:t>
            </a:r>
          </a:p>
          <a:p>
            <a:pPr algn="ctr"/>
            <a:r>
              <a:rPr lang="de-AT" b="0" noProof="0" dirty="0">
                <a:latin typeface="Calibri"/>
              </a:rPr>
              <a:t>Web UI</a:t>
            </a:r>
          </a:p>
          <a:p>
            <a:pPr algn="ctr"/>
            <a:r>
              <a:rPr lang="de-AT" noProof="0" dirty="0">
                <a:latin typeface="Calibri"/>
              </a:rPr>
              <a:t>…</a:t>
            </a:r>
            <a:endParaRPr lang="de-AT" b="0" noProof="0" dirty="0">
              <a:latin typeface="Calibri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E7260BF-4872-502E-4AC0-4C64C5AC2EAC}"/>
              </a:ext>
            </a:extLst>
          </p:cNvPr>
          <p:cNvSpPr/>
          <p:nvPr/>
        </p:nvSpPr>
        <p:spPr>
          <a:xfrm>
            <a:off x="2422154" y="2815459"/>
            <a:ext cx="1288612" cy="544698"/>
          </a:xfrm>
          <a:prstGeom prst="roundRect">
            <a:avLst/>
          </a:prstGeom>
          <a:noFill/>
          <a:ln w="57150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r>
              <a:rPr lang="de-AT" noProof="0" dirty="0"/>
              <a:t>OpenClaw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8EFAE58D-37C0-2787-2495-8405A9423353}"/>
              </a:ext>
            </a:extLst>
          </p:cNvPr>
          <p:cNvSpPr/>
          <p:nvPr/>
        </p:nvSpPr>
        <p:spPr>
          <a:xfrm>
            <a:off x="7748752" y="2438400"/>
            <a:ext cx="1037940" cy="2011680"/>
          </a:xfrm>
          <a:prstGeom prst="roundRect">
            <a:avLst/>
          </a:prstGeom>
          <a:noFill/>
          <a:ln w="57150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r>
              <a:rPr lang="de-AT" b="0" noProof="0" dirty="0">
                <a:latin typeface="Calibri"/>
              </a:rPr>
              <a:t>Claude</a:t>
            </a:r>
          </a:p>
          <a:p>
            <a:pPr algn="ctr"/>
            <a:r>
              <a:rPr lang="de-AT" b="0" noProof="0" dirty="0">
                <a:latin typeface="Calibri"/>
              </a:rPr>
              <a:t>GPT</a:t>
            </a:r>
          </a:p>
          <a:p>
            <a:pPr algn="ctr"/>
            <a:r>
              <a:rPr lang="de-AT" b="0" noProof="0" dirty="0">
                <a:latin typeface="Calibri"/>
              </a:rPr>
              <a:t>Gemini</a:t>
            </a:r>
          </a:p>
          <a:p>
            <a:pPr algn="ctr"/>
            <a:r>
              <a:rPr lang="de-AT" noProof="0" dirty="0">
                <a:latin typeface="Calibri"/>
              </a:rPr>
              <a:t>…</a:t>
            </a:r>
            <a:endParaRPr lang="de-AT" b="0" noProof="0" dirty="0">
              <a:latin typeface="Calibri"/>
            </a:endParaRPr>
          </a:p>
        </p:txBody>
      </p:sp>
      <p:pic>
        <p:nvPicPr>
          <p:cNvPr id="1026" name="Picture 2" descr="Man ">
            <a:extLst>
              <a:ext uri="{FF2B5EF4-FFF2-40B4-BE49-F238E27FC236}">
                <a16:creationId xmlns:a16="http://schemas.microsoft.com/office/drawing/2014/main" id="{6EE2DF44-3DD6-64BB-FBF9-0408C4A445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892" y="1077685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Big data ">
            <a:extLst>
              <a:ext uri="{FF2B5EF4-FFF2-40B4-BE49-F238E27FC236}">
                <a16:creationId xmlns:a16="http://schemas.microsoft.com/office/drawing/2014/main" id="{0D1C8F9C-A1EB-7A79-11DF-B538E3364B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8122" y="1219200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" name="直接箭头连接符 1">
            <a:extLst>
              <a:ext uri="{FF2B5EF4-FFF2-40B4-BE49-F238E27FC236}">
                <a16:creationId xmlns:a16="http://schemas.microsoft.com/office/drawing/2014/main" id="{98165ED8-17D9-BB1F-5D1F-B8DE4362EF04}"/>
              </a:ext>
            </a:extLst>
          </p:cNvPr>
          <p:cNvCxnSpPr/>
          <p:nvPr/>
        </p:nvCxnSpPr>
        <p:spPr>
          <a:xfrm>
            <a:off x="1882198" y="2963918"/>
            <a:ext cx="4572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133D0DF5-DC70-E648-A6BB-63A25C022589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3710766" y="3087808"/>
            <a:ext cx="394735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2" name="Rounded Rectangle 3">
            <a:extLst>
              <a:ext uri="{FF2B5EF4-FFF2-40B4-BE49-F238E27FC236}">
                <a16:creationId xmlns:a16="http://schemas.microsoft.com/office/drawing/2014/main" id="{FF9D9032-5EE9-EDB2-469C-B5838FCA933B}"/>
              </a:ext>
            </a:extLst>
          </p:cNvPr>
          <p:cNvSpPr/>
          <p:nvPr/>
        </p:nvSpPr>
        <p:spPr>
          <a:xfrm>
            <a:off x="3786624" y="763418"/>
            <a:ext cx="1115432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noProof="0" dirty="0"/>
          </a:p>
        </p:txBody>
      </p:sp>
      <p:sp>
        <p:nvSpPr>
          <p:cNvPr id="25" name="Rounded Rectangle 3">
            <a:extLst>
              <a:ext uri="{FF2B5EF4-FFF2-40B4-BE49-F238E27FC236}">
                <a16:creationId xmlns:a16="http://schemas.microsoft.com/office/drawing/2014/main" id="{2205D225-3F54-1C92-425F-63E7D5666229}"/>
              </a:ext>
            </a:extLst>
          </p:cNvPr>
          <p:cNvSpPr/>
          <p:nvPr/>
        </p:nvSpPr>
        <p:spPr>
          <a:xfrm>
            <a:off x="3786624" y="60245"/>
            <a:ext cx="1115432" cy="657077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noProof="0" dirty="0"/>
              <a:t>System prompt</a:t>
            </a:r>
          </a:p>
        </p:txBody>
      </p:sp>
      <p:sp>
        <p:nvSpPr>
          <p:cNvPr id="7" name="Rounded Rectangle 3">
            <a:extLst>
              <a:ext uri="{FF2B5EF4-FFF2-40B4-BE49-F238E27FC236}">
                <a16:creationId xmlns:a16="http://schemas.microsoft.com/office/drawing/2014/main" id="{BE83F21C-825C-356E-9F93-228107292518}"/>
              </a:ext>
            </a:extLst>
          </p:cNvPr>
          <p:cNvSpPr/>
          <p:nvPr/>
        </p:nvSpPr>
        <p:spPr>
          <a:xfrm>
            <a:off x="3786624" y="1206869"/>
            <a:ext cx="1115432" cy="551709"/>
          </a:xfrm>
          <a:prstGeom prst="roundRect">
            <a:avLst/>
          </a:prstGeom>
          <a:ln>
            <a:prstDash val="dash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AT" noProof="0" dirty="0"/>
          </a:p>
        </p:txBody>
      </p:sp>
      <p:sp>
        <p:nvSpPr>
          <p:cNvPr id="11" name="Rounded Rectangle 3">
            <a:extLst>
              <a:ext uri="{FF2B5EF4-FFF2-40B4-BE49-F238E27FC236}">
                <a16:creationId xmlns:a16="http://schemas.microsoft.com/office/drawing/2014/main" id="{46A31D2C-84C5-4027-59BE-DCDE726E7FD6}"/>
              </a:ext>
            </a:extLst>
          </p:cNvPr>
          <p:cNvSpPr/>
          <p:nvPr/>
        </p:nvSpPr>
        <p:spPr>
          <a:xfrm>
            <a:off x="3786624" y="1812367"/>
            <a:ext cx="1115432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noProof="0" dirty="0"/>
          </a:p>
        </p:txBody>
      </p:sp>
      <p:sp>
        <p:nvSpPr>
          <p:cNvPr id="14" name="Rounded Rectangle 3">
            <a:extLst>
              <a:ext uri="{FF2B5EF4-FFF2-40B4-BE49-F238E27FC236}">
                <a16:creationId xmlns:a16="http://schemas.microsoft.com/office/drawing/2014/main" id="{3A7247E9-0F13-0403-3141-736DA1D875EF}"/>
              </a:ext>
            </a:extLst>
          </p:cNvPr>
          <p:cNvSpPr/>
          <p:nvPr/>
        </p:nvSpPr>
        <p:spPr>
          <a:xfrm>
            <a:off x="3786624" y="2241132"/>
            <a:ext cx="1115432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noProof="0" dirty="0"/>
          </a:p>
        </p:txBody>
      </p:sp>
      <p:sp>
        <p:nvSpPr>
          <p:cNvPr id="15" name="Rounded Rectangle 3">
            <a:extLst>
              <a:ext uri="{FF2B5EF4-FFF2-40B4-BE49-F238E27FC236}">
                <a16:creationId xmlns:a16="http://schemas.microsoft.com/office/drawing/2014/main" id="{EC2CA7C3-9589-369B-977F-631F7570BECC}"/>
              </a:ext>
            </a:extLst>
          </p:cNvPr>
          <p:cNvSpPr/>
          <p:nvPr/>
        </p:nvSpPr>
        <p:spPr>
          <a:xfrm>
            <a:off x="3793104" y="2661514"/>
            <a:ext cx="1115432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noProof="0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C573414-A3D2-C368-A5A9-AC7EFAA8FBC6}"/>
              </a:ext>
            </a:extLst>
          </p:cNvPr>
          <p:cNvSpPr txBox="1"/>
          <p:nvPr/>
        </p:nvSpPr>
        <p:spPr>
          <a:xfrm>
            <a:off x="7131908" y="4530221"/>
            <a:ext cx="20898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AT" noProof="0" dirty="0"/>
              <a:t>Cloud- oder </a:t>
            </a:r>
          </a:p>
          <a:p>
            <a:pPr algn="ctr"/>
            <a:r>
              <a:rPr lang="de-AT" noProof="0" dirty="0"/>
              <a:t>lokale Bereitstellung</a:t>
            </a:r>
          </a:p>
        </p:txBody>
      </p:sp>
      <p:sp>
        <p:nvSpPr>
          <p:cNvPr id="12" name="Rounded Rectangle 3">
            <a:extLst>
              <a:ext uri="{FF2B5EF4-FFF2-40B4-BE49-F238E27FC236}">
                <a16:creationId xmlns:a16="http://schemas.microsoft.com/office/drawing/2014/main" id="{AEEEEAC7-523D-1195-9565-6CDCE06595DC}"/>
              </a:ext>
            </a:extLst>
          </p:cNvPr>
          <p:cNvSpPr/>
          <p:nvPr/>
        </p:nvSpPr>
        <p:spPr>
          <a:xfrm>
            <a:off x="1951027" y="2302578"/>
            <a:ext cx="1115432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600" noProof="0" dirty="0"/>
              <a:t>Nachricht</a:t>
            </a:r>
          </a:p>
        </p:txBody>
      </p:sp>
    </p:spTree>
    <p:extLst>
      <p:ext uri="{BB962C8B-B14F-4D97-AF65-F5344CB8AC3E}">
        <p14:creationId xmlns:p14="http://schemas.microsoft.com/office/powerpoint/2010/main" val="38666542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1461</Words>
  <Application>Microsoft Office PowerPoint</Application>
  <PresentationFormat>全屏显示(4:3)</PresentationFormat>
  <Paragraphs>865</Paragraphs>
  <Slides>46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46</vt:i4>
      </vt:variant>
    </vt:vector>
  </HeadingPairs>
  <TitlesOfParts>
    <vt:vector size="49" baseType="lpstr"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/>
  <cp:revision>1</cp:revision>
  <dcterms:created xsi:type="dcterms:W3CDTF">2026-03-31T22:19:29Z</dcterms:created>
  <dcterms:modified xsi:type="dcterms:W3CDTF">2026-03-31T22:19:36Z</dcterms:modified>
  <cp:category/>
</cp:coreProperties>
</file>